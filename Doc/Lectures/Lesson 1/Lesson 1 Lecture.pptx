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38"/>
  </p:notesMasterIdLst>
  <p:sldIdLst>
    <p:sldId id="256" r:id="rId5"/>
    <p:sldId id="279" r:id="rId6"/>
    <p:sldId id="280" r:id="rId7"/>
    <p:sldId id="281" r:id="rId8"/>
    <p:sldId id="268" r:id="rId9"/>
    <p:sldId id="257" r:id="rId10"/>
    <p:sldId id="266" r:id="rId11"/>
    <p:sldId id="259" r:id="rId12"/>
    <p:sldId id="258" r:id="rId13"/>
    <p:sldId id="265" r:id="rId14"/>
    <p:sldId id="264" r:id="rId15"/>
    <p:sldId id="263" r:id="rId16"/>
    <p:sldId id="282" r:id="rId17"/>
    <p:sldId id="290" r:id="rId18"/>
    <p:sldId id="261" r:id="rId19"/>
    <p:sldId id="267" r:id="rId20"/>
    <p:sldId id="272" r:id="rId21"/>
    <p:sldId id="271" r:id="rId22"/>
    <p:sldId id="273" r:id="rId23"/>
    <p:sldId id="291" r:id="rId24"/>
    <p:sldId id="292" r:id="rId25"/>
    <p:sldId id="278" r:id="rId26"/>
    <p:sldId id="270" r:id="rId27"/>
    <p:sldId id="262" r:id="rId28"/>
    <p:sldId id="294" r:id="rId29"/>
    <p:sldId id="293" r:id="rId30"/>
    <p:sldId id="285" r:id="rId31"/>
    <p:sldId id="286" r:id="rId32"/>
    <p:sldId id="287" r:id="rId33"/>
    <p:sldId id="275" r:id="rId34"/>
    <p:sldId id="288" r:id="rId35"/>
    <p:sldId id="289" r:id="rId36"/>
    <p:sldId id="26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35120-66EF-3E51-3DFF-46E09A860C4E}" v="41" dt="2026-03-18T15:23:05.995"/>
    <p1510:client id="{BD695A11-AFE9-6141-908E-E71743038F19}" v="1" dt="2026-03-19T01:47:30.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ley, Anna" userId="S::anna.croley@yale.edu::f259d4c0-84b3-4ca4-8d65-c5e47386acd8" providerId="AD" clId="Web-{1619E17A-C467-425B-FC2F-33CF51954DCA}"/>
    <pc:docChg chg="addSld delSld modSld sldOrd">
      <pc:chgData name="Croley, Anna" userId="S::anna.croley@yale.edu::f259d4c0-84b3-4ca4-8d65-c5e47386acd8" providerId="AD" clId="Web-{1619E17A-C467-425B-FC2F-33CF51954DCA}" dt="2026-02-25T13:56:29.525" v="331" actId="1076"/>
      <pc:docMkLst>
        <pc:docMk/>
      </pc:docMkLst>
      <pc:sldChg chg="modSp">
        <pc:chgData name="Croley, Anna" userId="S::anna.croley@yale.edu::f259d4c0-84b3-4ca4-8d65-c5e47386acd8" providerId="AD" clId="Web-{1619E17A-C467-425B-FC2F-33CF51954DCA}" dt="2026-02-25T13:36:17.080" v="74" actId="1076"/>
        <pc:sldMkLst>
          <pc:docMk/>
          <pc:sldMk cId="3157288232" sldId="275"/>
        </pc:sldMkLst>
        <pc:spChg chg="mod">
          <ac:chgData name="Croley, Anna" userId="S::anna.croley@yale.edu::f259d4c0-84b3-4ca4-8d65-c5e47386acd8" providerId="AD" clId="Web-{1619E17A-C467-425B-FC2F-33CF51954DCA}" dt="2026-02-25T13:36:17.080" v="74" actId="1076"/>
          <ac:spMkLst>
            <pc:docMk/>
            <pc:sldMk cId="3157288232" sldId="275"/>
            <ac:spMk id="2" creationId="{E84E2E8D-AFD7-91F9-5F92-0ACC79614411}"/>
          </ac:spMkLst>
        </pc:spChg>
        <pc:spChg chg="mod">
          <ac:chgData name="Croley, Anna" userId="S::anna.croley@yale.edu::f259d4c0-84b3-4ca4-8d65-c5e47386acd8" providerId="AD" clId="Web-{1619E17A-C467-425B-FC2F-33CF51954DCA}" dt="2026-02-25T13:36:12.580" v="73" actId="1076"/>
          <ac:spMkLst>
            <pc:docMk/>
            <pc:sldMk cId="3157288232" sldId="275"/>
            <ac:spMk id="3" creationId="{77BD949F-4428-7C27-80A2-F18D08354764}"/>
          </ac:spMkLst>
        </pc:spChg>
      </pc:sldChg>
      <pc:sldChg chg="modSp modNotes">
        <pc:chgData name="Croley, Anna" userId="S::anna.croley@yale.edu::f259d4c0-84b3-4ca4-8d65-c5e47386acd8" providerId="AD" clId="Web-{1619E17A-C467-425B-FC2F-33CF51954DCA}" dt="2026-02-25T13:41:09.761" v="125"/>
        <pc:sldMkLst>
          <pc:docMk/>
          <pc:sldMk cId="3320222366" sldId="278"/>
        </pc:sldMkLst>
        <pc:spChg chg="mod">
          <ac:chgData name="Croley, Anna" userId="S::anna.croley@yale.edu::f259d4c0-84b3-4ca4-8d65-c5e47386acd8" providerId="AD" clId="Web-{1619E17A-C467-425B-FC2F-33CF51954DCA}" dt="2026-02-25T13:40:41.211" v="113" actId="1076"/>
          <ac:spMkLst>
            <pc:docMk/>
            <pc:sldMk cId="3320222366" sldId="278"/>
            <ac:spMk id="3" creationId="{236A7B7D-8F7A-09D7-CC68-A5F5F6CF45AA}"/>
          </ac:spMkLst>
        </pc:spChg>
      </pc:sldChg>
      <pc:sldChg chg="modSp">
        <pc:chgData name="Croley, Anna" userId="S::anna.croley@yale.edu::f259d4c0-84b3-4ca4-8d65-c5e47386acd8" providerId="AD" clId="Web-{1619E17A-C467-425B-FC2F-33CF51954DCA}" dt="2026-02-25T13:56:29.525" v="331" actId="1076"/>
        <pc:sldMkLst>
          <pc:docMk/>
          <pc:sldMk cId="3612838072" sldId="285"/>
        </pc:sldMkLst>
        <pc:spChg chg="mod">
          <ac:chgData name="Croley, Anna" userId="S::anna.croley@yale.edu::f259d4c0-84b3-4ca4-8d65-c5e47386acd8" providerId="AD" clId="Web-{1619E17A-C467-425B-FC2F-33CF51954DCA}" dt="2026-02-25T13:56:25.337" v="330" actId="20577"/>
          <ac:spMkLst>
            <pc:docMk/>
            <pc:sldMk cId="3612838072" sldId="285"/>
            <ac:spMk id="2" creationId="{F430E354-1E2C-8848-EE31-1A7D1C987D1D}"/>
          </ac:spMkLst>
        </pc:spChg>
        <pc:spChg chg="mod">
          <ac:chgData name="Croley, Anna" userId="S::anna.croley@yale.edu::f259d4c0-84b3-4ca4-8d65-c5e47386acd8" providerId="AD" clId="Web-{1619E17A-C467-425B-FC2F-33CF51954DCA}" dt="2026-02-25T13:56:29.525" v="331" actId="1076"/>
          <ac:spMkLst>
            <pc:docMk/>
            <pc:sldMk cId="3612838072" sldId="285"/>
            <ac:spMk id="7" creationId="{AAA11A67-BA6A-7A06-D1FD-1A336BCA2F35}"/>
          </ac:spMkLst>
        </pc:spChg>
      </pc:sldChg>
      <pc:sldChg chg="modSp">
        <pc:chgData name="Croley, Anna" userId="S::anna.croley@yale.edu::f259d4c0-84b3-4ca4-8d65-c5e47386acd8" providerId="AD" clId="Web-{1619E17A-C467-425B-FC2F-33CF51954DCA}" dt="2026-02-25T13:42:11.844" v="148" actId="14100"/>
        <pc:sldMkLst>
          <pc:docMk/>
          <pc:sldMk cId="3059220400" sldId="286"/>
        </pc:sldMkLst>
        <pc:spChg chg="mod">
          <ac:chgData name="Croley, Anna" userId="S::anna.croley@yale.edu::f259d4c0-84b3-4ca4-8d65-c5e47386acd8" providerId="AD" clId="Web-{1619E17A-C467-425B-FC2F-33CF51954DCA}" dt="2026-02-25T13:42:11.844" v="148" actId="14100"/>
          <ac:spMkLst>
            <pc:docMk/>
            <pc:sldMk cId="3059220400" sldId="286"/>
            <ac:spMk id="2" creationId="{F726CC58-15AA-0368-AF64-A353FFCB1CD3}"/>
          </ac:spMkLst>
        </pc:spChg>
        <pc:spChg chg="mod">
          <ac:chgData name="Croley, Anna" userId="S::anna.croley@yale.edu::f259d4c0-84b3-4ca4-8d65-c5e47386acd8" providerId="AD" clId="Web-{1619E17A-C467-425B-FC2F-33CF51954DCA}" dt="2026-02-25T13:33:30.702" v="36" actId="20577"/>
          <ac:spMkLst>
            <pc:docMk/>
            <pc:sldMk cId="3059220400" sldId="286"/>
            <ac:spMk id="4" creationId="{FEE7931D-35BB-6644-9949-75F8359E38CE}"/>
          </ac:spMkLst>
        </pc:spChg>
      </pc:sldChg>
      <pc:sldChg chg="modSp">
        <pc:chgData name="Croley, Anna" userId="S::anna.croley@yale.edu::f259d4c0-84b3-4ca4-8d65-c5e47386acd8" providerId="AD" clId="Web-{1619E17A-C467-425B-FC2F-33CF51954DCA}" dt="2026-02-25T13:36:05.064" v="71" actId="20577"/>
        <pc:sldMkLst>
          <pc:docMk/>
          <pc:sldMk cId="39494888" sldId="287"/>
        </pc:sldMkLst>
        <pc:spChg chg="mod">
          <ac:chgData name="Croley, Anna" userId="S::anna.croley@yale.edu::f259d4c0-84b3-4ca4-8d65-c5e47386acd8" providerId="AD" clId="Web-{1619E17A-C467-425B-FC2F-33CF51954DCA}" dt="2026-02-25T13:31:37.606" v="10" actId="1076"/>
          <ac:spMkLst>
            <pc:docMk/>
            <pc:sldMk cId="39494888" sldId="287"/>
            <ac:spMk id="2" creationId="{0428F2E6-2952-D7C3-0FBD-0EBE158F9E73}"/>
          </ac:spMkLst>
        </pc:spChg>
        <pc:spChg chg="mod">
          <ac:chgData name="Croley, Anna" userId="S::anna.croley@yale.edu::f259d4c0-84b3-4ca4-8d65-c5e47386acd8" providerId="AD" clId="Web-{1619E17A-C467-425B-FC2F-33CF51954DCA}" dt="2026-02-25T13:36:05.064" v="71" actId="20577"/>
          <ac:spMkLst>
            <pc:docMk/>
            <pc:sldMk cId="39494888" sldId="287"/>
            <ac:spMk id="4" creationId="{3D347F2F-A3A4-286A-5FF6-0D39D38224BF}"/>
          </ac:spMkLst>
        </pc:spChg>
      </pc:sldChg>
      <pc:sldChg chg="modSp">
        <pc:chgData name="Croley, Anna" userId="S::anna.croley@yale.edu::f259d4c0-84b3-4ca4-8d65-c5e47386acd8" providerId="AD" clId="Web-{1619E17A-C467-425B-FC2F-33CF51954DCA}" dt="2026-02-25T13:36:24.080" v="76" actId="1076"/>
        <pc:sldMkLst>
          <pc:docMk/>
          <pc:sldMk cId="1101740262" sldId="288"/>
        </pc:sldMkLst>
        <pc:spChg chg="mod">
          <ac:chgData name="Croley, Anna" userId="S::anna.croley@yale.edu::f259d4c0-84b3-4ca4-8d65-c5e47386acd8" providerId="AD" clId="Web-{1619E17A-C467-425B-FC2F-33CF51954DCA}" dt="2026-02-25T13:36:20.580" v="75" actId="1076"/>
          <ac:spMkLst>
            <pc:docMk/>
            <pc:sldMk cId="1101740262" sldId="288"/>
            <ac:spMk id="2" creationId="{6B93158D-B2C1-7661-4621-B70012F986BC}"/>
          </ac:spMkLst>
        </pc:spChg>
        <pc:spChg chg="mod">
          <ac:chgData name="Croley, Anna" userId="S::anna.croley@yale.edu::f259d4c0-84b3-4ca4-8d65-c5e47386acd8" providerId="AD" clId="Web-{1619E17A-C467-425B-FC2F-33CF51954DCA}" dt="2026-02-25T13:36:24.080" v="76" actId="1076"/>
          <ac:spMkLst>
            <pc:docMk/>
            <pc:sldMk cId="1101740262" sldId="288"/>
            <ac:spMk id="3" creationId="{D7F6586F-1838-FE2A-AC83-8FE3E1EAFBC9}"/>
          </ac:spMkLst>
        </pc:spChg>
      </pc:sldChg>
      <pc:sldChg chg="modSp">
        <pc:chgData name="Croley, Anna" userId="S::anna.croley@yale.edu::f259d4c0-84b3-4ca4-8d65-c5e47386acd8" providerId="AD" clId="Web-{1619E17A-C467-425B-FC2F-33CF51954DCA}" dt="2026-02-25T13:36:29.393" v="78" actId="1076"/>
        <pc:sldMkLst>
          <pc:docMk/>
          <pc:sldMk cId="3520583488" sldId="289"/>
        </pc:sldMkLst>
        <pc:spChg chg="mod">
          <ac:chgData name="Croley, Anna" userId="S::anna.croley@yale.edu::f259d4c0-84b3-4ca4-8d65-c5e47386acd8" providerId="AD" clId="Web-{1619E17A-C467-425B-FC2F-33CF51954DCA}" dt="2026-02-25T13:36:26.174" v="77" actId="1076"/>
          <ac:spMkLst>
            <pc:docMk/>
            <pc:sldMk cId="3520583488" sldId="289"/>
            <ac:spMk id="2" creationId="{0131424E-EB08-A1F8-FF94-4883AAB30576}"/>
          </ac:spMkLst>
        </pc:spChg>
        <pc:spChg chg="mod">
          <ac:chgData name="Croley, Anna" userId="S::anna.croley@yale.edu::f259d4c0-84b3-4ca4-8d65-c5e47386acd8" providerId="AD" clId="Web-{1619E17A-C467-425B-FC2F-33CF51954DCA}" dt="2026-02-25T13:36:29.393" v="78" actId="1076"/>
          <ac:spMkLst>
            <pc:docMk/>
            <pc:sldMk cId="3520583488" sldId="289"/>
            <ac:spMk id="3" creationId="{849F8721-138D-A905-4536-5080C29F8603}"/>
          </ac:spMkLst>
        </pc:spChg>
      </pc:sldChg>
      <pc:sldChg chg="modNotes">
        <pc:chgData name="Croley, Anna" userId="S::anna.croley@yale.edu::f259d4c0-84b3-4ca4-8d65-c5e47386acd8" providerId="AD" clId="Web-{1619E17A-C467-425B-FC2F-33CF51954DCA}" dt="2026-02-25T13:41:55.202" v="147"/>
        <pc:sldMkLst>
          <pc:docMk/>
          <pc:sldMk cId="2097793185" sldId="292"/>
        </pc:sldMkLst>
      </pc:sldChg>
      <pc:sldChg chg="modSp">
        <pc:chgData name="Croley, Anna" userId="S::anna.croley@yale.edu::f259d4c0-84b3-4ca4-8d65-c5e47386acd8" providerId="AD" clId="Web-{1619E17A-C467-425B-FC2F-33CF51954DCA}" dt="2026-02-25T13:50:41.363" v="289" actId="20577"/>
        <pc:sldMkLst>
          <pc:docMk/>
          <pc:sldMk cId="2099170140" sldId="293"/>
        </pc:sldMkLst>
        <pc:spChg chg="mod">
          <ac:chgData name="Croley, Anna" userId="S::anna.croley@yale.edu::f259d4c0-84b3-4ca4-8d65-c5e47386acd8" providerId="AD" clId="Web-{1619E17A-C467-425B-FC2F-33CF51954DCA}" dt="2026-02-25T13:48:34.891" v="246" actId="20577"/>
          <ac:spMkLst>
            <pc:docMk/>
            <pc:sldMk cId="2099170140" sldId="293"/>
            <ac:spMk id="2" creationId="{0377524F-6BEF-6A22-D150-406D2A83F9F9}"/>
          </ac:spMkLst>
        </pc:spChg>
        <pc:spChg chg="mod">
          <ac:chgData name="Croley, Anna" userId="S::anna.croley@yale.edu::f259d4c0-84b3-4ca4-8d65-c5e47386acd8" providerId="AD" clId="Web-{1619E17A-C467-425B-FC2F-33CF51954DCA}" dt="2026-02-25T13:50:41.363" v="289" actId="20577"/>
          <ac:spMkLst>
            <pc:docMk/>
            <pc:sldMk cId="2099170140" sldId="293"/>
            <ac:spMk id="6" creationId="{009C36A8-4B2F-AB47-04E0-994DFFE759BA}"/>
          </ac:spMkLst>
        </pc:spChg>
      </pc:sldChg>
      <pc:sldChg chg="addSp delSp modSp add ord replId">
        <pc:chgData name="Croley, Anna" userId="S::anna.croley@yale.edu::f259d4c0-84b3-4ca4-8d65-c5e47386acd8" providerId="AD" clId="Web-{1619E17A-C467-425B-FC2F-33CF51954DCA}" dt="2026-02-25T13:46:51.295" v="205" actId="20577"/>
        <pc:sldMkLst>
          <pc:docMk/>
          <pc:sldMk cId="102511437" sldId="294"/>
        </pc:sldMkLst>
        <pc:spChg chg="add mod">
          <ac:chgData name="Croley, Anna" userId="S::anna.croley@yale.edu::f259d4c0-84b3-4ca4-8d65-c5e47386acd8" providerId="AD" clId="Web-{1619E17A-C467-425B-FC2F-33CF51954DCA}" dt="2026-02-25T13:46:51.295" v="205" actId="20577"/>
          <ac:spMkLst>
            <pc:docMk/>
            <pc:sldMk cId="102511437" sldId="294"/>
            <ac:spMk id="9" creationId="{A3B85EE5-42A2-F49B-CAF9-1DFA554E5CF2}"/>
          </ac:spMkLst>
        </pc:spChg>
        <pc:picChg chg="add mod">
          <ac:chgData name="Croley, Anna" userId="S::anna.croley@yale.edu::f259d4c0-84b3-4ca4-8d65-c5e47386acd8" providerId="AD" clId="Web-{1619E17A-C467-425B-FC2F-33CF51954DCA}" dt="2026-02-25T13:38:46.989" v="88" actId="1076"/>
          <ac:picMkLst>
            <pc:docMk/>
            <pc:sldMk cId="102511437" sldId="294"/>
            <ac:picMk id="5" creationId="{9244CAFE-FDB5-3D2B-4BD0-0B3F0CE127F8}"/>
          </ac:picMkLst>
        </pc:picChg>
      </pc:sldChg>
    </pc:docChg>
  </pc:docChgLst>
  <pc:docChgLst>
    <pc:chgData name="Croley, Anna" userId="f259d4c0-84b3-4ca4-8d65-c5e47386acd8" providerId="ADAL" clId="{7A1D7F02-3993-5D76-B2BA-E1ABD50F394C}"/>
    <pc:docChg chg="custSel modSld">
      <pc:chgData name="Croley, Anna" userId="f259d4c0-84b3-4ca4-8d65-c5e47386acd8" providerId="ADAL" clId="{7A1D7F02-3993-5D76-B2BA-E1ABD50F394C}" dt="2026-03-19T01:47:30.960" v="0" actId="27636"/>
      <pc:docMkLst>
        <pc:docMk/>
      </pc:docMkLst>
      <pc:sldChg chg="modSp mod">
        <pc:chgData name="Croley, Anna" userId="f259d4c0-84b3-4ca4-8d65-c5e47386acd8" providerId="ADAL" clId="{7A1D7F02-3993-5D76-B2BA-E1ABD50F394C}" dt="2026-03-19T01:47:30.960" v="0" actId="27636"/>
        <pc:sldMkLst>
          <pc:docMk/>
          <pc:sldMk cId="860808839" sldId="281"/>
        </pc:sldMkLst>
        <pc:spChg chg="mod">
          <ac:chgData name="Croley, Anna" userId="f259d4c0-84b3-4ca4-8d65-c5e47386acd8" providerId="ADAL" clId="{7A1D7F02-3993-5D76-B2BA-E1ABD50F394C}" dt="2026-03-19T01:47:30.960" v="0" actId="27636"/>
          <ac:spMkLst>
            <pc:docMk/>
            <pc:sldMk cId="860808839" sldId="281"/>
            <ac:spMk id="11" creationId="{403F231C-56C9-A973-9950-9FFED81DDD50}"/>
          </ac:spMkLst>
        </pc:spChg>
      </pc:sldChg>
    </pc:docChg>
  </pc:docChgLst>
  <pc:docChgLst>
    <pc:chgData name="Croley, Anna" userId="S::anna.croley@yale.edu::f259d4c0-84b3-4ca4-8d65-c5e47386acd8" providerId="AD" clId="Web-{60035120-66EF-3E51-3DFF-46E09A860C4E}"/>
    <pc:docChg chg="addSld delSld modSld">
      <pc:chgData name="Croley, Anna" userId="S::anna.croley@yale.edu::f259d4c0-84b3-4ca4-8d65-c5e47386acd8" providerId="AD" clId="Web-{60035120-66EF-3E51-3DFF-46E09A860C4E}" dt="2026-03-18T15:23:05.995" v="345"/>
      <pc:docMkLst>
        <pc:docMk/>
      </pc:docMkLst>
      <pc:sldChg chg="modSp">
        <pc:chgData name="Croley, Anna" userId="S::anna.croley@yale.edu::f259d4c0-84b3-4ca4-8d65-c5e47386acd8" providerId="AD" clId="Web-{60035120-66EF-3E51-3DFF-46E09A860C4E}" dt="2026-03-18T15:12:26.168" v="143" actId="20577"/>
        <pc:sldMkLst>
          <pc:docMk/>
          <pc:sldMk cId="1706290356" sldId="257"/>
        </pc:sldMkLst>
        <pc:spChg chg="mod">
          <ac:chgData name="Croley, Anna" userId="S::anna.croley@yale.edu::f259d4c0-84b3-4ca4-8d65-c5e47386acd8" providerId="AD" clId="Web-{60035120-66EF-3E51-3DFF-46E09A860C4E}" dt="2026-03-18T15:12:26.168" v="143" actId="20577"/>
          <ac:spMkLst>
            <pc:docMk/>
            <pc:sldMk cId="1706290356" sldId="257"/>
            <ac:spMk id="3" creationId="{94956427-3F1D-700F-4C23-3A8AF7596C71}"/>
          </ac:spMkLst>
        </pc:spChg>
      </pc:sldChg>
      <pc:sldChg chg="modNotes">
        <pc:chgData name="Croley, Anna" userId="S::anna.croley@yale.edu::f259d4c0-84b3-4ca4-8d65-c5e47386acd8" providerId="AD" clId="Web-{60035120-66EF-3E51-3DFF-46E09A860C4E}" dt="2026-03-18T15:15:03.937" v="185"/>
        <pc:sldMkLst>
          <pc:docMk/>
          <pc:sldMk cId="3092983999" sldId="258"/>
        </pc:sldMkLst>
      </pc:sldChg>
      <pc:sldChg chg="modSp modNotes">
        <pc:chgData name="Croley, Anna" userId="S::anna.croley@yale.edu::f259d4c0-84b3-4ca4-8d65-c5e47386acd8" providerId="AD" clId="Web-{60035120-66EF-3E51-3DFF-46E09A860C4E}" dt="2026-03-18T15:21:29.711" v="341"/>
        <pc:sldMkLst>
          <pc:docMk/>
          <pc:sldMk cId="2960640991" sldId="262"/>
        </pc:sldMkLst>
        <pc:spChg chg="mod">
          <ac:chgData name="Croley, Anna" userId="S::anna.croley@yale.edu::f259d4c0-84b3-4ca4-8d65-c5e47386acd8" providerId="AD" clId="Web-{60035120-66EF-3E51-3DFF-46E09A860C4E}" dt="2026-03-18T15:21:12.414" v="340" actId="14100"/>
          <ac:spMkLst>
            <pc:docMk/>
            <pc:sldMk cId="2960640991" sldId="262"/>
            <ac:spMk id="2" creationId="{5A6EA56F-07DE-6E83-E5F0-08550BA2BA8C}"/>
          </ac:spMkLst>
        </pc:spChg>
      </pc:sldChg>
      <pc:sldChg chg="modNotes">
        <pc:chgData name="Croley, Anna" userId="S::anna.croley@yale.edu::f259d4c0-84b3-4ca4-8d65-c5e47386acd8" providerId="AD" clId="Web-{60035120-66EF-3E51-3DFF-46E09A860C4E}" dt="2026-03-18T15:18:51.017" v="199"/>
        <pc:sldMkLst>
          <pc:docMk/>
          <pc:sldMk cId="55091757" sldId="264"/>
        </pc:sldMkLst>
      </pc:sldChg>
      <pc:sldChg chg="modNotes">
        <pc:chgData name="Croley, Anna" userId="S::anna.croley@yale.edu::f259d4c0-84b3-4ca4-8d65-c5e47386acd8" providerId="AD" clId="Web-{60035120-66EF-3E51-3DFF-46E09A860C4E}" dt="2026-03-18T15:18:29.235" v="190"/>
        <pc:sldMkLst>
          <pc:docMk/>
          <pc:sldMk cId="2716419519" sldId="265"/>
        </pc:sldMkLst>
      </pc:sldChg>
      <pc:sldChg chg="modSp modNotes">
        <pc:chgData name="Croley, Anna" userId="S::anna.croley@yale.edu::f259d4c0-84b3-4ca4-8d65-c5e47386acd8" providerId="AD" clId="Web-{60035120-66EF-3E51-3DFF-46E09A860C4E}" dt="2026-03-18T15:11:29.448" v="120"/>
        <pc:sldMkLst>
          <pc:docMk/>
          <pc:sldMk cId="1827447290" sldId="279"/>
        </pc:sldMkLst>
        <pc:spChg chg="mod">
          <ac:chgData name="Croley, Anna" userId="S::anna.croley@yale.edu::f259d4c0-84b3-4ca4-8d65-c5e47386acd8" providerId="AD" clId="Web-{60035120-66EF-3E51-3DFF-46E09A860C4E}" dt="2026-03-18T15:10:16.072" v="0" actId="20577"/>
          <ac:spMkLst>
            <pc:docMk/>
            <pc:sldMk cId="1827447290" sldId="279"/>
            <ac:spMk id="2" creationId="{68D9EDC4-B6D5-AEF8-CCE3-7E251792E43C}"/>
          </ac:spMkLst>
        </pc:spChg>
      </pc:sldChg>
      <pc:sldChg chg="modNotes">
        <pc:chgData name="Croley, Anna" userId="S::anna.croley@yale.edu::f259d4c0-84b3-4ca4-8d65-c5e47386acd8" providerId="AD" clId="Web-{60035120-66EF-3E51-3DFF-46E09A860C4E}" dt="2026-03-18T15:14:26.731" v="182"/>
        <pc:sldMkLst>
          <pc:docMk/>
          <pc:sldMk cId="22674739" sldId="282"/>
        </pc:sldMkLst>
      </pc:sldChg>
      <pc:sldChg chg="modSp">
        <pc:chgData name="Croley, Anna" userId="S::anna.croley@yale.edu::f259d4c0-84b3-4ca4-8d65-c5e47386acd8" providerId="AD" clId="Web-{60035120-66EF-3E51-3DFF-46E09A860C4E}" dt="2026-03-18T15:21:55.587" v="342" actId="1076"/>
        <pc:sldMkLst>
          <pc:docMk/>
          <pc:sldMk cId="39494888" sldId="287"/>
        </pc:sldMkLst>
        <pc:spChg chg="mod">
          <ac:chgData name="Croley, Anna" userId="S::anna.croley@yale.edu::f259d4c0-84b3-4ca4-8d65-c5e47386acd8" providerId="AD" clId="Web-{60035120-66EF-3E51-3DFF-46E09A860C4E}" dt="2026-03-18T15:21:55.587" v="342" actId="1076"/>
          <ac:spMkLst>
            <pc:docMk/>
            <pc:sldMk cId="39494888" sldId="287"/>
            <ac:spMk id="2" creationId="{0428F2E6-2952-D7C3-0FBD-0EBE158F9E73}"/>
          </ac:spMkLst>
        </pc:spChg>
      </pc:sldChg>
      <pc:sldChg chg="modSp modNotes">
        <pc:chgData name="Croley, Anna" userId="S::anna.croley@yale.edu::f259d4c0-84b3-4ca4-8d65-c5e47386acd8" providerId="AD" clId="Web-{60035120-66EF-3E51-3DFF-46E09A860C4E}" dt="2026-03-18T15:20:50.647" v="331"/>
        <pc:sldMkLst>
          <pc:docMk/>
          <pc:sldMk cId="1071544250" sldId="290"/>
        </pc:sldMkLst>
        <pc:spChg chg="mod">
          <ac:chgData name="Croley, Anna" userId="S::anna.croley@yale.edu::f259d4c0-84b3-4ca4-8d65-c5e47386acd8" providerId="AD" clId="Web-{60035120-66EF-3E51-3DFF-46E09A860C4E}" dt="2026-03-18T15:19:30.410" v="201" actId="20577"/>
          <ac:spMkLst>
            <pc:docMk/>
            <pc:sldMk cId="1071544250" sldId="290"/>
            <ac:spMk id="2" creationId="{CEA2984E-8D71-F029-ACB6-719306394BE8}"/>
          </ac:spMkLst>
        </pc:spChg>
      </pc:sldChg>
      <pc:sldChg chg="delSp add del replId">
        <pc:chgData name="Croley, Anna" userId="S::anna.croley@yale.edu::f259d4c0-84b3-4ca4-8d65-c5e47386acd8" providerId="AD" clId="Web-{60035120-66EF-3E51-3DFF-46E09A860C4E}" dt="2026-03-18T15:23:05.995" v="345"/>
        <pc:sldMkLst>
          <pc:docMk/>
          <pc:sldMk cId="3442429680" sldId="295"/>
        </pc:sldMkLst>
        <pc:spChg chg="del">
          <ac:chgData name="Croley, Anna" userId="S::anna.croley@yale.edu::f259d4c0-84b3-4ca4-8d65-c5e47386acd8" providerId="AD" clId="Web-{60035120-66EF-3E51-3DFF-46E09A860C4E}" dt="2026-03-18T15:22:15.791" v="344"/>
          <ac:spMkLst>
            <pc:docMk/>
            <pc:sldMk cId="3442429680" sldId="295"/>
            <ac:spMk id="2" creationId="{476E5897-10EA-AA34-49FD-C552CBC6C2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1BFF1-F0FA-41CF-A058-F6E225602FD6}" type="datetimeFigureOut">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86750-8165-4759-A5BD-50A664DCB717}" type="slidenum">
              <a:t>‹#›</a:t>
            </a:fld>
            <a:endParaRPr lang="en-US"/>
          </a:p>
        </p:txBody>
      </p:sp>
    </p:spTree>
    <p:extLst>
      <p:ext uri="{BB962C8B-B14F-4D97-AF65-F5344CB8AC3E}">
        <p14:creationId xmlns:p14="http://schemas.microsoft.com/office/powerpoint/2010/main" val="199343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Next slide provides example of a trade-off, and how sometimes how options are presented to us affects how we perceive their value.</a:t>
            </a:r>
          </a:p>
        </p:txBody>
      </p:sp>
      <p:sp>
        <p:nvSpPr>
          <p:cNvPr id="4" name="Slide Number Placeholder 3"/>
          <p:cNvSpPr>
            <a:spLocks noGrp="1"/>
          </p:cNvSpPr>
          <p:nvPr>
            <p:ph type="sldNum" sz="quarter" idx="5"/>
          </p:nvPr>
        </p:nvSpPr>
        <p:spPr/>
        <p:txBody>
          <a:bodyPr/>
          <a:lstStyle/>
          <a:p>
            <a:fld id="{4BB86750-8165-4759-A5BD-50A664DCB717}" type="slidenum">
              <a:rPr lang="en-US"/>
              <a:t>2</a:t>
            </a:fld>
            <a:endParaRPr lang="en-US"/>
          </a:p>
        </p:txBody>
      </p:sp>
    </p:spTree>
    <p:extLst>
      <p:ext uri="{BB962C8B-B14F-4D97-AF65-F5344CB8AC3E}">
        <p14:creationId xmlns:p14="http://schemas.microsoft.com/office/powerpoint/2010/main" val="270128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Sometimes, costs are easier to spot, and sometimes, they are easy to miss.</a:t>
            </a:r>
          </a:p>
          <a:p>
            <a:r>
              <a:rPr lang="en-US" b="1"/>
              <a:t>Who has fallen for this?</a:t>
            </a:r>
            <a:endParaRPr lang="en-US" b="1">
              <a:ea typeface="Calibri"/>
              <a:cs typeface="Calibri"/>
            </a:endParaRPr>
          </a:p>
        </p:txBody>
      </p:sp>
      <p:sp>
        <p:nvSpPr>
          <p:cNvPr id="4" name="Slide Number Placeholder 3"/>
          <p:cNvSpPr>
            <a:spLocks noGrp="1"/>
          </p:cNvSpPr>
          <p:nvPr>
            <p:ph type="sldNum" sz="quarter" idx="5"/>
          </p:nvPr>
        </p:nvSpPr>
        <p:spPr/>
        <p:txBody>
          <a:bodyPr/>
          <a:lstStyle/>
          <a:p>
            <a:fld id="{4BB86750-8165-4759-A5BD-50A664DCB717}" type="slidenum">
              <a:rPr lang="en-US"/>
              <a:t>3</a:t>
            </a:fld>
            <a:endParaRPr lang="en-US"/>
          </a:p>
        </p:txBody>
      </p:sp>
    </p:spTree>
    <p:extLst>
      <p:ext uri="{BB962C8B-B14F-4D97-AF65-F5344CB8AC3E}">
        <p14:creationId xmlns:p14="http://schemas.microsoft.com/office/powerpoint/2010/main" val="976257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Costs and benefits can come in many forms: money, time, happiness or joy, energy, effort, relationships with others or trust. </a:t>
            </a:r>
            <a:endParaRPr lang="en-US"/>
          </a:p>
          <a:p>
            <a:r>
              <a:rPr lang="en-US" b="1">
                <a:ea typeface="Calibri"/>
                <a:cs typeface="Calibri"/>
              </a:rPr>
              <a:t>These</a:t>
            </a:r>
            <a:r>
              <a:rPr lang="en-US" b="1"/>
              <a:t> are</a:t>
            </a:r>
            <a:r>
              <a:rPr lang="en-US" b="1">
                <a:ea typeface="Calibri"/>
                <a:cs typeface="Calibri"/>
              </a:rPr>
              <a:t> all the things you considered when planning your weekend. </a:t>
            </a:r>
            <a:r>
              <a:rPr lang="en-US">
                <a:ea typeface="Calibri"/>
                <a:cs typeface="Calibri"/>
              </a:rPr>
              <a:t>Today, we are going to discuss a specific type of cost that comes up a lot in decision making, and in thinking about the trade-offs between options when you are making a decision, and that is </a:t>
            </a:r>
            <a:r>
              <a:rPr lang="en-US" i="1">
                <a:ea typeface="Calibri"/>
                <a:cs typeface="Calibri"/>
              </a:rPr>
              <a:t>opportunity cost.</a:t>
            </a:r>
            <a:endParaRPr lang="en-US">
              <a:ea typeface="Calibri"/>
              <a:cs typeface="Calibri"/>
            </a:endParaRPr>
          </a:p>
        </p:txBody>
      </p:sp>
      <p:sp>
        <p:nvSpPr>
          <p:cNvPr id="4" name="Slide Number Placeholder 3"/>
          <p:cNvSpPr>
            <a:spLocks noGrp="1"/>
          </p:cNvSpPr>
          <p:nvPr>
            <p:ph type="sldNum" sz="quarter" idx="5"/>
          </p:nvPr>
        </p:nvSpPr>
        <p:spPr/>
        <p:txBody>
          <a:bodyPr/>
          <a:lstStyle/>
          <a:p>
            <a:fld id="{4BB86750-8165-4759-A5BD-50A664DCB717}" type="slidenum">
              <a:t>4</a:t>
            </a:fld>
            <a:endParaRPr lang="en-US"/>
          </a:p>
        </p:txBody>
      </p:sp>
    </p:spTree>
    <p:extLst>
      <p:ext uri="{BB962C8B-B14F-4D97-AF65-F5344CB8AC3E}">
        <p14:creationId xmlns:p14="http://schemas.microsoft.com/office/powerpoint/2010/main" val="978120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In other words, the value of the next best alternative</a:t>
            </a:r>
          </a:p>
        </p:txBody>
      </p:sp>
      <p:sp>
        <p:nvSpPr>
          <p:cNvPr id="4" name="Slide Number Placeholder 3"/>
          <p:cNvSpPr>
            <a:spLocks noGrp="1"/>
          </p:cNvSpPr>
          <p:nvPr>
            <p:ph type="sldNum" sz="quarter" idx="5"/>
          </p:nvPr>
        </p:nvSpPr>
        <p:spPr/>
        <p:txBody>
          <a:bodyPr/>
          <a:lstStyle/>
          <a:p>
            <a:fld id="{4BB86750-8165-4759-A5BD-50A664DCB717}" type="slidenum">
              <a:t>6</a:t>
            </a:fld>
            <a:endParaRPr lang="en-US"/>
          </a:p>
        </p:txBody>
      </p:sp>
    </p:spTree>
    <p:extLst>
      <p:ext uri="{BB962C8B-B14F-4D97-AF65-F5344CB8AC3E}">
        <p14:creationId xmlns:p14="http://schemas.microsoft.com/office/powerpoint/2010/main" val="3821896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Can allow students to try to answer if they are engaged. Otherwise, can throw out some examples. Recall, the opportunity cost is the next best option, so it will differ person-to-person. It could be buying a pair of shoes you really want. It could be buying a nice lunch and saving $85 (the remainder). It could be loaning it to your friend and getting $120 back next year.</a:t>
            </a:r>
          </a:p>
        </p:txBody>
      </p:sp>
      <p:sp>
        <p:nvSpPr>
          <p:cNvPr id="4" name="Slide Number Placeholder 3"/>
          <p:cNvSpPr>
            <a:spLocks noGrp="1"/>
          </p:cNvSpPr>
          <p:nvPr>
            <p:ph type="sldNum" sz="quarter" idx="5"/>
          </p:nvPr>
        </p:nvSpPr>
        <p:spPr/>
        <p:txBody>
          <a:bodyPr/>
          <a:lstStyle/>
          <a:p>
            <a:fld id="{4BB86750-8165-4759-A5BD-50A664DCB717}" type="slidenum">
              <a:t>7</a:t>
            </a:fld>
            <a:endParaRPr lang="en-US"/>
          </a:p>
        </p:txBody>
      </p:sp>
    </p:spTree>
    <p:extLst>
      <p:ext uri="{BB962C8B-B14F-4D97-AF65-F5344CB8AC3E}">
        <p14:creationId xmlns:p14="http://schemas.microsoft.com/office/powerpoint/2010/main" val="3980070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Because everyone values costs and benefits (time, money, love, happiness) in all forms differently.</a:t>
            </a:r>
          </a:p>
        </p:txBody>
      </p:sp>
      <p:sp>
        <p:nvSpPr>
          <p:cNvPr id="4" name="Slide Number Placeholder 3"/>
          <p:cNvSpPr>
            <a:spLocks noGrp="1"/>
          </p:cNvSpPr>
          <p:nvPr>
            <p:ph type="sldNum" sz="quarter" idx="5"/>
          </p:nvPr>
        </p:nvSpPr>
        <p:spPr/>
        <p:txBody>
          <a:bodyPr/>
          <a:lstStyle/>
          <a:p>
            <a:fld id="{4BB86750-8165-4759-A5BD-50A664DCB717}" type="slidenum">
              <a:t>8</a:t>
            </a:fld>
            <a:endParaRPr lang="en-US"/>
          </a:p>
        </p:txBody>
      </p:sp>
    </p:spTree>
    <p:extLst>
      <p:ext uri="{BB962C8B-B14F-4D97-AF65-F5344CB8AC3E}">
        <p14:creationId xmlns:p14="http://schemas.microsoft.com/office/powerpoint/2010/main" val="3548150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Basically $0, because he doesn't have to give anything up – he already has enough money to do whatever he wants. "</a:t>
            </a:r>
            <a:r>
              <a:rPr lang="en-US"/>
              <a:t>When you're worth over $200 billion, $100 is so vanishingly small relative to your wealth that whatever you give up by not spending it — a coffee, a book, a nice lunch — doesn't register. It's like you deciding not to pick up a penny off the sidewalk."</a:t>
            </a:r>
            <a:endParaRPr lang="en-US">
              <a:ea typeface="Calibri"/>
              <a:cs typeface="Calibri"/>
            </a:endParaRPr>
          </a:p>
        </p:txBody>
      </p:sp>
      <p:sp>
        <p:nvSpPr>
          <p:cNvPr id="4" name="Slide Number Placeholder 3"/>
          <p:cNvSpPr>
            <a:spLocks noGrp="1"/>
          </p:cNvSpPr>
          <p:nvPr>
            <p:ph type="sldNum" sz="quarter" idx="5"/>
          </p:nvPr>
        </p:nvSpPr>
        <p:spPr/>
        <p:txBody>
          <a:bodyPr/>
          <a:lstStyle/>
          <a:p>
            <a:fld id="{4BB86750-8165-4759-A5BD-50A664DCB717}" type="slidenum">
              <a:t>9</a:t>
            </a:fld>
            <a:endParaRPr lang="en-US"/>
          </a:p>
        </p:txBody>
      </p:sp>
    </p:spTree>
    <p:extLst>
      <p:ext uri="{BB962C8B-B14F-4D97-AF65-F5344CB8AC3E}">
        <p14:creationId xmlns:p14="http://schemas.microsoft.com/office/powerpoint/2010/main" val="2011602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Alexandria Ocasio-Cortez, the opportunity cost of saving $100 is real but modest. She earns a congressional salary of $174,000 a year — comfortable, but not "forget about it" money. That $100 saved might mean skipping a nice dinner out in DC, where things aren't cheap, or passing on a new outfit.</a:t>
            </a:r>
          </a:p>
          <a:p>
            <a:r>
              <a:rPr lang="en-US"/>
              <a:t>What makes her case interesting is that before Congress, she was bartending and struggling with student loans. Back then, saving $100 might have meant choosing between groceries and a metro pass. Now it's a manageable tradeoff, but still one she'd actually feel — unlike Bezos, where it's invisible.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BB86750-8165-4759-A5BD-50A664DCB717}" type="slidenum">
              <a:rPr lang="en-US"/>
              <a:t>10</a:t>
            </a:fld>
            <a:endParaRPr lang="en-US"/>
          </a:p>
        </p:txBody>
      </p:sp>
    </p:spTree>
    <p:extLst>
      <p:ext uri="{BB962C8B-B14F-4D97-AF65-F5344CB8AC3E}">
        <p14:creationId xmlns:p14="http://schemas.microsoft.com/office/powerpoint/2010/main" val="4099845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opportunity cost is the fun of ripping it apart and eating it.</a:t>
            </a:r>
          </a:p>
          <a:p>
            <a:r>
              <a:rPr lang="en-US"/>
              <a:t>The dog doesn't know or care that it's $100. It cares that it's a satisfying thing to chew. So the opportunity cost of not eating it is measured in chewing pleasure :)</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BB86750-8165-4759-A5BD-50A664DCB717}" type="slidenum">
              <a:rPr lang="en-US"/>
              <a:t>11</a:t>
            </a:fld>
            <a:endParaRPr lang="en-US"/>
          </a:p>
        </p:txBody>
      </p:sp>
    </p:spTree>
    <p:extLst>
      <p:ext uri="{BB962C8B-B14F-4D97-AF65-F5344CB8AC3E}">
        <p14:creationId xmlns:p14="http://schemas.microsoft.com/office/powerpoint/2010/main" val="2298665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choice makes sense when expected benefits are greater than expected costs, where expected cost should be measured by the opportunity cost."</a:t>
            </a:r>
          </a:p>
        </p:txBody>
      </p:sp>
      <p:sp>
        <p:nvSpPr>
          <p:cNvPr id="4" name="Slide Number Placeholder 3"/>
          <p:cNvSpPr>
            <a:spLocks noGrp="1"/>
          </p:cNvSpPr>
          <p:nvPr>
            <p:ph type="sldNum" sz="quarter" idx="5"/>
          </p:nvPr>
        </p:nvSpPr>
        <p:spPr/>
        <p:txBody>
          <a:bodyPr/>
          <a:lstStyle/>
          <a:p>
            <a:fld id="{4BB86750-8165-4759-A5BD-50A664DCB717}" type="slidenum">
              <a:rPr lang="en-US"/>
              <a:t>13</a:t>
            </a:fld>
            <a:endParaRPr lang="en-US"/>
          </a:p>
        </p:txBody>
      </p:sp>
    </p:spTree>
    <p:extLst>
      <p:ext uri="{BB962C8B-B14F-4D97-AF65-F5344CB8AC3E}">
        <p14:creationId xmlns:p14="http://schemas.microsoft.com/office/powerpoint/2010/main" val="2733829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Stop here to do worksheet on planning a great weekend. "</a:t>
            </a:r>
            <a:r>
              <a:rPr lang="en-US"/>
              <a:t>Now you’ll use the ideas we just covered to help you to make a realistic decision under constraints: planning your perfect weekend.”</a:t>
            </a:r>
          </a:p>
          <a:p>
            <a:r>
              <a:rPr lang="en-US">
                <a:ea typeface="Calibri"/>
                <a:cs typeface="Calibri"/>
              </a:rPr>
              <a:t>Break students into small groups to complete the worksheet. Then come back together and discuss.</a:t>
            </a:r>
          </a:p>
          <a:p>
            <a:endParaRPr lang="en-US">
              <a:ea typeface="Calibri"/>
              <a:cs typeface="Calibri"/>
            </a:endParaRPr>
          </a:p>
          <a:p>
            <a:r>
              <a:rPr lang="en-US">
                <a:ea typeface="Calibri"/>
                <a:cs typeface="Calibri"/>
              </a:rPr>
              <a:t>Note: worksheet will preview sunk cost concept before the lecture covers it official (that's intentional)</a:t>
            </a:r>
          </a:p>
        </p:txBody>
      </p:sp>
      <p:sp>
        <p:nvSpPr>
          <p:cNvPr id="4" name="Slide Number Placeholder 3"/>
          <p:cNvSpPr>
            <a:spLocks noGrp="1"/>
          </p:cNvSpPr>
          <p:nvPr>
            <p:ph type="sldNum" sz="quarter" idx="5"/>
          </p:nvPr>
        </p:nvSpPr>
        <p:spPr/>
        <p:txBody>
          <a:bodyPr/>
          <a:lstStyle/>
          <a:p>
            <a:fld id="{4BB86750-8165-4759-A5BD-50A664DCB717}" type="slidenum">
              <a:rPr lang="en-US"/>
              <a:t>14</a:t>
            </a:fld>
            <a:endParaRPr lang="en-US"/>
          </a:p>
        </p:txBody>
      </p:sp>
    </p:spTree>
    <p:extLst>
      <p:ext uri="{BB962C8B-B14F-4D97-AF65-F5344CB8AC3E}">
        <p14:creationId xmlns:p14="http://schemas.microsoft.com/office/powerpoint/2010/main" val="3642252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Image you bought Hertz stuck in February 2020. The pandemic just started, and people were renting cars to avoid flying. You thought it would be a good investment because you thought the share price was going to continue to go up.</a:t>
            </a:r>
          </a:p>
        </p:txBody>
      </p:sp>
      <p:sp>
        <p:nvSpPr>
          <p:cNvPr id="4" name="Slide Number Placeholder 3"/>
          <p:cNvSpPr>
            <a:spLocks noGrp="1"/>
          </p:cNvSpPr>
          <p:nvPr>
            <p:ph type="sldNum" sz="quarter" idx="5"/>
          </p:nvPr>
        </p:nvSpPr>
        <p:spPr/>
        <p:txBody>
          <a:bodyPr/>
          <a:lstStyle/>
          <a:p>
            <a:fld id="{4BB86750-8165-4759-A5BD-50A664DCB717}" type="slidenum">
              <a:rPr lang="en-US"/>
              <a:t>19</a:t>
            </a:fld>
            <a:endParaRPr lang="en-US"/>
          </a:p>
        </p:txBody>
      </p:sp>
    </p:spTree>
    <p:extLst>
      <p:ext uri="{BB962C8B-B14F-4D97-AF65-F5344CB8AC3E}">
        <p14:creationId xmlns:p14="http://schemas.microsoft.com/office/powerpoint/2010/main" val="2512025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773C8-F4EE-DCEE-1D5C-083625102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10EA3-7651-3E9B-54F2-9BFE95618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98396-3F26-ED06-19D7-CEE31F127CFD}"/>
              </a:ext>
            </a:extLst>
          </p:cNvPr>
          <p:cNvSpPr>
            <a:spLocks noGrp="1"/>
          </p:cNvSpPr>
          <p:nvPr>
            <p:ph type="body" idx="1"/>
          </p:nvPr>
        </p:nvSpPr>
        <p:spPr/>
        <p:txBody>
          <a:bodyPr/>
          <a:lstStyle/>
          <a:p>
            <a:r>
              <a:rPr lang="en-US">
                <a:ea typeface="Calibri"/>
                <a:cs typeface="Calibri"/>
              </a:rPr>
              <a:t>Then, in March 2020, Hertz stock price plummeted. There were stay-at-home orders and no one was travelling. What should you do next? Poll the class: who thinks it's going to go back up?</a:t>
            </a:r>
            <a:endParaRPr lang="en-US"/>
          </a:p>
          <a:p>
            <a:r>
              <a:rPr lang="en-US">
                <a:ea typeface="Calibri"/>
                <a:cs typeface="Calibri"/>
              </a:rPr>
              <a:t>Most people will consider the fact that they already invested so much (bought in so high) when they are deciding whether or not to sell the stock. But this is the sunk cost fallacy. You cannot recover the money you have already invested—you should only think about the future when deciding whether or not to sell. In other words, if you had extra money in May of 2020, would you buy more Hertz stock with it, because you think it's going to make a profit in the future? If the answer is no, then you should not continue to hold the stock now. </a:t>
            </a:r>
            <a:endParaRPr lang="en-US"/>
          </a:p>
        </p:txBody>
      </p:sp>
      <p:sp>
        <p:nvSpPr>
          <p:cNvPr id="4" name="Slide Number Placeholder 3">
            <a:extLst>
              <a:ext uri="{FF2B5EF4-FFF2-40B4-BE49-F238E27FC236}">
                <a16:creationId xmlns:a16="http://schemas.microsoft.com/office/drawing/2014/main" id="{58F23D92-F96A-A236-6BC1-A206B70CD83F}"/>
              </a:ext>
            </a:extLst>
          </p:cNvPr>
          <p:cNvSpPr>
            <a:spLocks noGrp="1"/>
          </p:cNvSpPr>
          <p:nvPr>
            <p:ph type="sldNum" sz="quarter" idx="5"/>
          </p:nvPr>
        </p:nvSpPr>
        <p:spPr/>
        <p:txBody>
          <a:bodyPr/>
          <a:lstStyle/>
          <a:p>
            <a:fld id="{4BB86750-8165-4759-A5BD-50A664DCB717}" type="slidenum">
              <a:rPr lang="en-US"/>
              <a:t>20</a:t>
            </a:fld>
            <a:endParaRPr lang="en-US"/>
          </a:p>
        </p:txBody>
      </p:sp>
    </p:spTree>
    <p:extLst>
      <p:ext uri="{BB962C8B-B14F-4D97-AF65-F5344CB8AC3E}">
        <p14:creationId xmlns:p14="http://schemas.microsoft.com/office/powerpoint/2010/main" val="186886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49065-6B18-1927-4CBB-6051C0186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02CA3-CE13-9D9C-51B5-5C5F3F721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5BB124-5646-4B7A-68D3-2BFEE9BEC212}"/>
              </a:ext>
            </a:extLst>
          </p:cNvPr>
          <p:cNvSpPr>
            <a:spLocks noGrp="1"/>
          </p:cNvSpPr>
          <p:nvPr>
            <p:ph type="body" idx="1"/>
          </p:nvPr>
        </p:nvSpPr>
        <p:spPr/>
        <p:txBody>
          <a:bodyPr/>
          <a:lstStyle/>
          <a:p>
            <a:r>
              <a:rPr lang="en-US">
                <a:ea typeface="Calibri"/>
                <a:cs typeface="Calibri"/>
              </a:rPr>
              <a:t>You cannot recover the money you have already invested—you should only think about the future when deciding whether or not to sell. In other words, if you had extra money in March of 2020, would you buy more Hertz stock with it, because you think it's going to make a profit in the future? If the answer is no, then you should not continue to hold the stock now. You should take your money that is left and invest it elsewhere…...In the end, Hertz filed for bankruptcy in May of 2020.</a:t>
            </a:r>
          </a:p>
        </p:txBody>
      </p:sp>
      <p:sp>
        <p:nvSpPr>
          <p:cNvPr id="4" name="Slide Number Placeholder 3">
            <a:extLst>
              <a:ext uri="{FF2B5EF4-FFF2-40B4-BE49-F238E27FC236}">
                <a16:creationId xmlns:a16="http://schemas.microsoft.com/office/drawing/2014/main" id="{DDDFCD82-F3BE-D3EB-66DC-D571F37CC7E2}"/>
              </a:ext>
            </a:extLst>
          </p:cNvPr>
          <p:cNvSpPr>
            <a:spLocks noGrp="1"/>
          </p:cNvSpPr>
          <p:nvPr>
            <p:ph type="sldNum" sz="quarter" idx="5"/>
          </p:nvPr>
        </p:nvSpPr>
        <p:spPr/>
        <p:txBody>
          <a:bodyPr/>
          <a:lstStyle/>
          <a:p>
            <a:fld id="{4BB86750-8165-4759-A5BD-50A664DCB717}" type="slidenum">
              <a:rPr lang="en-US"/>
              <a:t>21</a:t>
            </a:fld>
            <a:endParaRPr lang="en-US"/>
          </a:p>
        </p:txBody>
      </p:sp>
    </p:spTree>
    <p:extLst>
      <p:ext uri="{BB962C8B-B14F-4D97-AF65-F5344CB8AC3E}">
        <p14:creationId xmlns:p14="http://schemas.microsoft.com/office/powerpoint/2010/main" val="1010715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You can play this quiz/game at the link – IF YOU NEED TO FILL MORE TIME. Otherwise, SKIP IT.</a:t>
            </a:r>
          </a:p>
        </p:txBody>
      </p:sp>
      <p:sp>
        <p:nvSpPr>
          <p:cNvPr id="4" name="Slide Number Placeholder 3"/>
          <p:cNvSpPr>
            <a:spLocks noGrp="1"/>
          </p:cNvSpPr>
          <p:nvPr>
            <p:ph type="sldNum" sz="quarter" idx="5"/>
          </p:nvPr>
        </p:nvSpPr>
        <p:spPr/>
        <p:txBody>
          <a:bodyPr/>
          <a:lstStyle/>
          <a:p>
            <a:fld id="{4BB86750-8165-4759-A5BD-50A664DCB717}" type="slidenum">
              <a:rPr lang="en-US"/>
              <a:t>22</a:t>
            </a:fld>
            <a:endParaRPr lang="en-US"/>
          </a:p>
        </p:txBody>
      </p:sp>
    </p:spTree>
    <p:extLst>
      <p:ext uri="{BB962C8B-B14F-4D97-AF65-F5344CB8AC3E}">
        <p14:creationId xmlns:p14="http://schemas.microsoft.com/office/powerpoint/2010/main" val="4221446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Opportunity costs and sunk costs are economic concepts that can help us making better decisions in our own lives, and they can help us evaluate policy decisions. Next, we are going to use the two concepts to evaluate a recent local policy: phone-free school days.</a:t>
            </a:r>
          </a:p>
        </p:txBody>
      </p:sp>
      <p:sp>
        <p:nvSpPr>
          <p:cNvPr id="4" name="Slide Number Placeholder 3"/>
          <p:cNvSpPr>
            <a:spLocks noGrp="1"/>
          </p:cNvSpPr>
          <p:nvPr>
            <p:ph type="sldNum" sz="quarter" idx="5"/>
          </p:nvPr>
        </p:nvSpPr>
        <p:spPr/>
        <p:txBody>
          <a:bodyPr/>
          <a:lstStyle/>
          <a:p>
            <a:fld id="{4BB86750-8165-4759-A5BD-50A664DCB717}" type="slidenum">
              <a:t>23</a:t>
            </a:fld>
            <a:endParaRPr lang="en-US"/>
          </a:p>
        </p:txBody>
      </p:sp>
    </p:spTree>
    <p:extLst>
      <p:ext uri="{BB962C8B-B14F-4D97-AF65-F5344CB8AC3E}">
        <p14:creationId xmlns:p14="http://schemas.microsoft.com/office/powerpoint/2010/main" val="2744102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“Economists use the same tools to evaluate both personal and policy decisions.”</a:t>
            </a:r>
          </a:p>
        </p:txBody>
      </p:sp>
      <p:sp>
        <p:nvSpPr>
          <p:cNvPr id="4" name="Slide Number Placeholder 3"/>
          <p:cNvSpPr>
            <a:spLocks noGrp="1"/>
          </p:cNvSpPr>
          <p:nvPr>
            <p:ph type="sldNum" sz="quarter" idx="5"/>
          </p:nvPr>
        </p:nvSpPr>
        <p:spPr/>
        <p:txBody>
          <a:bodyPr/>
          <a:lstStyle/>
          <a:p>
            <a:fld id="{4BB86750-8165-4759-A5BD-50A664DCB717}" type="slidenum">
              <a:rPr lang="en-US"/>
              <a:t>24</a:t>
            </a:fld>
            <a:endParaRPr lang="en-US"/>
          </a:p>
        </p:txBody>
      </p:sp>
    </p:spTree>
    <p:extLst>
      <p:ext uri="{BB962C8B-B14F-4D97-AF65-F5344CB8AC3E}">
        <p14:creationId xmlns:p14="http://schemas.microsoft.com/office/powerpoint/2010/main" val="4244421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3/18/2026</a:t>
            </a:fld>
            <a:endParaRPr lang="en-US"/>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41206564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115488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053377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067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41918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849410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6545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p>
        </p:txBody>
      </p:sp>
    </p:spTree>
    <p:extLst>
      <p:ext uri="{BB962C8B-B14F-4D97-AF65-F5344CB8AC3E}">
        <p14:creationId xmlns:p14="http://schemas.microsoft.com/office/powerpoint/2010/main" val="3825728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p>
        </p:txBody>
      </p:sp>
    </p:spTree>
    <p:extLst>
      <p:ext uri="{BB962C8B-B14F-4D97-AF65-F5344CB8AC3E}">
        <p14:creationId xmlns:p14="http://schemas.microsoft.com/office/powerpoint/2010/main" val="3195015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986787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3/18/2026</a:t>
            </a:fld>
            <a:endParaRPr lang="en-US"/>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219375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3/18/2026</a:t>
            </a:fld>
            <a:endParaRPr lang="en-US"/>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13261982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hyperlink" Target="https://mru.org/courses/principles-economics-microeconomics/sunk-cost/interactive-practice"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Chttps:/www.tiktok.com/@cbssundaymorning/video/7557729291417505079"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D271B9-9BA2-4AF0-AE69-43E7D26B5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58603" y="1164702"/>
            <a:ext cx="10351007" cy="3359529"/>
          </a:xfrm>
        </p:spPr>
        <p:txBody>
          <a:bodyPr>
            <a:normAutofit/>
          </a:bodyPr>
          <a:lstStyle/>
          <a:p>
            <a:pPr>
              <a:lnSpc>
                <a:spcPct val="150000"/>
              </a:lnSpc>
            </a:pPr>
            <a:r>
              <a:rPr lang="en-US" sz="5400" i="0"/>
              <a:t>Economic Decision-Making and Everyday Choices</a:t>
            </a:r>
            <a:endParaRPr lang="en-US" sz="5400"/>
          </a:p>
        </p:txBody>
      </p:sp>
      <p:sp>
        <p:nvSpPr>
          <p:cNvPr id="3" name="Subtitle 2"/>
          <p:cNvSpPr>
            <a:spLocks noGrp="1"/>
          </p:cNvSpPr>
          <p:nvPr>
            <p:ph type="subTitle" idx="1"/>
          </p:nvPr>
        </p:nvSpPr>
        <p:spPr>
          <a:xfrm>
            <a:off x="1078992" y="5431808"/>
            <a:ext cx="10351006" cy="491319"/>
          </a:xfrm>
        </p:spPr>
        <p:txBody>
          <a:bodyPr>
            <a:normAutofit/>
          </a:bodyPr>
          <a:lstStyle/>
          <a:p>
            <a:endParaRPr lang="en-US"/>
          </a:p>
        </p:txBody>
      </p:sp>
      <p:sp>
        <p:nvSpPr>
          <p:cNvPr id="11" name="Freeform 6">
            <a:extLst>
              <a:ext uri="{FF2B5EF4-FFF2-40B4-BE49-F238E27FC236}">
                <a16:creationId xmlns:a16="http://schemas.microsoft.com/office/drawing/2014/main" id="{4C81B9CA-1414-4F8E-878C-2D9B6603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5ABED72-8812-DC96-CAD5-0B511061B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9EDC4-B6D5-AEF8-CCE3-7E251792E43C}"/>
              </a:ext>
            </a:extLst>
          </p:cNvPr>
          <p:cNvSpPr>
            <a:spLocks noGrp="1"/>
          </p:cNvSpPr>
          <p:nvPr>
            <p:ph type="title"/>
          </p:nvPr>
        </p:nvSpPr>
        <p:spPr>
          <a:xfrm>
            <a:off x="1181115" y="834248"/>
            <a:ext cx="10306326" cy="4754880"/>
          </a:xfrm>
        </p:spPr>
        <p:txBody>
          <a:bodyPr>
            <a:normAutofit/>
          </a:bodyPr>
          <a:lstStyle/>
          <a:p>
            <a:r>
              <a:rPr lang="en-US" sz="4800" i="0">
                <a:solidFill>
                  <a:schemeClr val="bg1"/>
                </a:solidFill>
              </a:rPr>
              <a:t>A key area of economics is about studying</a:t>
            </a:r>
            <a:r>
              <a:rPr lang="en-US" sz="5400">
                <a:solidFill>
                  <a:schemeClr val="bg1"/>
                </a:solidFill>
              </a:rPr>
              <a:t> trade-offs </a:t>
            </a:r>
            <a:br>
              <a:rPr lang="en-US" sz="5400"/>
            </a:br>
            <a:br>
              <a:rPr lang="en-US" sz="5400"/>
            </a:br>
            <a:br>
              <a:rPr lang="en-US" sz="5400"/>
            </a:br>
            <a:r>
              <a:rPr lang="en-US" sz="4800" i="0">
                <a:solidFill>
                  <a:schemeClr val="bg1"/>
                </a:solidFill>
              </a:rPr>
              <a:t>what do you </a:t>
            </a:r>
            <a:r>
              <a:rPr lang="en-US" sz="5400">
                <a:solidFill>
                  <a:schemeClr val="bg1"/>
                </a:solidFill>
              </a:rPr>
              <a:t>gain</a:t>
            </a:r>
            <a:r>
              <a:rPr lang="en-US" sz="5400" i="0">
                <a:solidFill>
                  <a:schemeClr val="bg1"/>
                </a:solidFill>
              </a:rPr>
              <a:t> </a:t>
            </a:r>
            <a:r>
              <a:rPr lang="en-US" sz="4800" i="0">
                <a:solidFill>
                  <a:schemeClr val="bg1"/>
                </a:solidFill>
              </a:rPr>
              <a:t>and what do you </a:t>
            </a:r>
            <a:r>
              <a:rPr lang="en-US" sz="5400">
                <a:solidFill>
                  <a:schemeClr val="bg1"/>
                </a:solidFill>
              </a:rPr>
              <a:t>give up</a:t>
            </a:r>
            <a:r>
              <a:rPr lang="en-US" sz="4800" i="0">
                <a:solidFill>
                  <a:schemeClr val="bg1"/>
                </a:solidFill>
              </a:rPr>
              <a:t> with each decision</a:t>
            </a:r>
          </a:p>
        </p:txBody>
      </p:sp>
    </p:spTree>
    <p:extLst>
      <p:ext uri="{BB962C8B-B14F-4D97-AF65-F5344CB8AC3E}">
        <p14:creationId xmlns:p14="http://schemas.microsoft.com/office/powerpoint/2010/main" val="182744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1178186-E3AA-DA68-7386-CA7B2C1EC4BB}"/>
            </a:ext>
          </a:extLst>
        </p:cNvPr>
        <p:cNvGrpSpPr/>
        <p:nvPr/>
      </p:nvGrpSpPr>
      <p:grpSpPr>
        <a:xfrm>
          <a:off x="0" y="0"/>
          <a:ext cx="0" cy="0"/>
          <a:chOff x="0" y="0"/>
          <a:chExt cx="0" cy="0"/>
        </a:xfrm>
      </p:grpSpPr>
      <p:pic>
        <p:nvPicPr>
          <p:cNvPr id="4" name="Picture 3" descr="A person in a red coat&#10;&#10;AI-generated content may be incorrect.">
            <a:extLst>
              <a:ext uri="{FF2B5EF4-FFF2-40B4-BE49-F238E27FC236}">
                <a16:creationId xmlns:a16="http://schemas.microsoft.com/office/drawing/2014/main" id="{32B88B8B-B40C-CC50-8193-3F531EA6BDDD}"/>
              </a:ext>
            </a:extLst>
          </p:cNvPr>
          <p:cNvPicPr>
            <a:picLocks noChangeAspect="1"/>
          </p:cNvPicPr>
          <p:nvPr/>
        </p:nvPicPr>
        <p:blipFill>
          <a:blip r:embed="rId3"/>
          <a:stretch>
            <a:fillRect/>
          </a:stretch>
        </p:blipFill>
        <p:spPr>
          <a:xfrm>
            <a:off x="2878362" y="242455"/>
            <a:ext cx="6273639" cy="6176819"/>
          </a:xfrm>
          <a:prstGeom prst="rect">
            <a:avLst/>
          </a:prstGeom>
        </p:spPr>
      </p:pic>
    </p:spTree>
    <p:extLst>
      <p:ext uri="{BB962C8B-B14F-4D97-AF65-F5344CB8AC3E}">
        <p14:creationId xmlns:p14="http://schemas.microsoft.com/office/powerpoint/2010/main" val="173583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1B578975-9F64-1B5C-954A-030BDF1A9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8A96C-0395-C660-0D7A-A12AA5E40BF1}"/>
              </a:ext>
            </a:extLst>
          </p:cNvPr>
          <p:cNvSpPr>
            <a:spLocks noGrp="1"/>
          </p:cNvSpPr>
          <p:nvPr>
            <p:ph type="title"/>
          </p:nvPr>
        </p:nvSpPr>
        <p:spPr>
          <a:xfrm>
            <a:off x="1273478" y="372430"/>
            <a:ext cx="10329418" cy="1672244"/>
          </a:xfrm>
        </p:spPr>
        <p:txBody>
          <a:bodyPr>
            <a:normAutofit/>
          </a:bodyPr>
          <a:lstStyle/>
          <a:p>
            <a:r>
              <a:rPr lang="en-US" sz="5400" i="0">
                <a:solidFill>
                  <a:schemeClr val="bg1"/>
                </a:solidFill>
              </a:rPr>
              <a:t>Every decision comes with costs and benefits</a:t>
            </a:r>
          </a:p>
        </p:txBody>
      </p:sp>
      <p:sp>
        <p:nvSpPr>
          <p:cNvPr id="11" name="Title 1">
            <a:extLst>
              <a:ext uri="{FF2B5EF4-FFF2-40B4-BE49-F238E27FC236}">
                <a16:creationId xmlns:a16="http://schemas.microsoft.com/office/drawing/2014/main" id="{403F231C-56C9-A973-9950-9FFED81DDD50}"/>
              </a:ext>
            </a:extLst>
          </p:cNvPr>
          <p:cNvSpPr txBox="1">
            <a:spLocks/>
          </p:cNvSpPr>
          <p:nvPr/>
        </p:nvSpPr>
        <p:spPr>
          <a:xfrm>
            <a:off x="2303333" y="3425213"/>
            <a:ext cx="8459053" cy="1681315"/>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sz="8800" i="0">
                <a:solidFill>
                  <a:schemeClr val="bg1"/>
                </a:solidFill>
              </a:rPr>
              <a:t>💸     ⏱️     😊     😮‍💨 </a:t>
            </a:r>
          </a:p>
        </p:txBody>
      </p:sp>
    </p:spTree>
    <p:extLst>
      <p:ext uri="{BB962C8B-B14F-4D97-AF65-F5344CB8AC3E}">
        <p14:creationId xmlns:p14="http://schemas.microsoft.com/office/powerpoint/2010/main" val="860808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395B970-D77B-6F83-DF01-D754ED8F2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9D1A3-B611-C298-4090-02CCC6662AD6}"/>
              </a:ext>
            </a:extLst>
          </p:cNvPr>
          <p:cNvSpPr>
            <a:spLocks noGrp="1"/>
          </p:cNvSpPr>
          <p:nvPr>
            <p:ph type="title"/>
          </p:nvPr>
        </p:nvSpPr>
        <p:spPr>
          <a:xfrm>
            <a:off x="3409387" y="372430"/>
            <a:ext cx="8193509" cy="4754880"/>
          </a:xfrm>
        </p:spPr>
        <p:txBody>
          <a:bodyPr>
            <a:normAutofit/>
          </a:bodyPr>
          <a:lstStyle/>
          <a:p>
            <a:r>
              <a:rPr lang="en-US" sz="5400">
                <a:solidFill>
                  <a:schemeClr val="bg1"/>
                </a:solidFill>
              </a:rPr>
              <a:t>Opportunity Cost</a:t>
            </a:r>
          </a:p>
        </p:txBody>
      </p:sp>
      <p:pic>
        <p:nvPicPr>
          <p:cNvPr id="4" name="Picture 3" descr="A person looking at a cheeseburger&#10;&#10;AI-generated content may be incorrect.">
            <a:extLst>
              <a:ext uri="{FF2B5EF4-FFF2-40B4-BE49-F238E27FC236}">
                <a16:creationId xmlns:a16="http://schemas.microsoft.com/office/drawing/2014/main" id="{63675332-9517-7908-ADEA-34B2EB652226}"/>
              </a:ext>
            </a:extLst>
          </p:cNvPr>
          <p:cNvPicPr>
            <a:picLocks noChangeAspect="1"/>
          </p:cNvPicPr>
          <p:nvPr/>
        </p:nvPicPr>
        <p:blipFill>
          <a:blip r:embed="rId2"/>
          <a:stretch>
            <a:fillRect/>
          </a:stretch>
        </p:blipFill>
        <p:spPr>
          <a:xfrm>
            <a:off x="2203174" y="1903965"/>
            <a:ext cx="7520609" cy="4275897"/>
          </a:xfrm>
          <a:prstGeom prst="rect">
            <a:avLst/>
          </a:prstGeom>
        </p:spPr>
      </p:pic>
    </p:spTree>
    <p:extLst>
      <p:ext uri="{BB962C8B-B14F-4D97-AF65-F5344CB8AC3E}">
        <p14:creationId xmlns:p14="http://schemas.microsoft.com/office/powerpoint/2010/main" val="1684784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EE19-8E5B-3CBD-C3CA-3068F2BEE1CA}"/>
              </a:ext>
            </a:extLst>
          </p:cNvPr>
          <p:cNvSpPr>
            <a:spLocks noGrp="1"/>
          </p:cNvSpPr>
          <p:nvPr>
            <p:ph type="title"/>
          </p:nvPr>
        </p:nvSpPr>
        <p:spPr>
          <a:xfrm>
            <a:off x="3044952" y="736865"/>
            <a:ext cx="9375162" cy="4754880"/>
          </a:xfrm>
        </p:spPr>
        <p:txBody>
          <a:bodyPr>
            <a:normAutofit/>
          </a:bodyPr>
          <a:lstStyle/>
          <a:p>
            <a:r>
              <a:rPr lang="en-US" sz="5400">
                <a:solidFill>
                  <a:schemeClr val="bg1"/>
                </a:solidFill>
              </a:rPr>
              <a:t>Opportunity Cost</a:t>
            </a:r>
          </a:p>
        </p:txBody>
      </p:sp>
      <p:sp>
        <p:nvSpPr>
          <p:cNvPr id="3" name="Content Placeholder 2">
            <a:extLst>
              <a:ext uri="{FF2B5EF4-FFF2-40B4-BE49-F238E27FC236}">
                <a16:creationId xmlns:a16="http://schemas.microsoft.com/office/drawing/2014/main" id="{94956427-3F1D-700F-4C23-3A8AF7596C71}"/>
              </a:ext>
            </a:extLst>
          </p:cNvPr>
          <p:cNvSpPr>
            <a:spLocks noGrp="1"/>
          </p:cNvSpPr>
          <p:nvPr>
            <p:ph idx="1"/>
          </p:nvPr>
        </p:nvSpPr>
        <p:spPr>
          <a:xfrm>
            <a:off x="1253170" y="2868256"/>
            <a:ext cx="9889698" cy="4754880"/>
          </a:xfrm>
        </p:spPr>
        <p:txBody>
          <a:bodyPr vert="horz" lIns="91440" tIns="45720" rIns="91440" bIns="45720" rtlCol="0" anchor="t">
            <a:normAutofit/>
          </a:bodyPr>
          <a:lstStyle/>
          <a:p>
            <a:pPr marL="0" indent="0">
              <a:buNone/>
            </a:pPr>
            <a:r>
              <a:rPr lang="en-US" sz="4000">
                <a:solidFill>
                  <a:schemeClr val="bg1"/>
                </a:solidFill>
                <a:latin typeface="Sitka Banner"/>
              </a:rPr>
              <a:t>It's what you give up</a:t>
            </a:r>
            <a:endParaRPr lang="en-US" sz="4000">
              <a:solidFill>
                <a:schemeClr val="bg1"/>
              </a:solidFill>
            </a:endParaRPr>
          </a:p>
          <a:p>
            <a:pPr marL="0" indent="0">
              <a:buNone/>
            </a:pPr>
            <a:endParaRPr lang="en-US" sz="4000">
              <a:solidFill>
                <a:schemeClr val="bg1"/>
              </a:solidFill>
              <a:latin typeface="Sitka Banner"/>
            </a:endParaRPr>
          </a:p>
          <a:p>
            <a:pPr marL="0" indent="0">
              <a:buNone/>
            </a:pPr>
            <a:r>
              <a:rPr lang="en-US" sz="4000">
                <a:solidFill>
                  <a:schemeClr val="bg1"/>
                </a:solidFill>
                <a:latin typeface="Sitka Banner"/>
              </a:rPr>
              <a:t>The value of the next best option (the one you did NOT choose) when a decision is made </a:t>
            </a:r>
            <a:endParaRPr lang="en-US" sz="4000">
              <a:solidFill>
                <a:schemeClr val="bg1"/>
              </a:solidFill>
            </a:endParaRPr>
          </a:p>
          <a:p>
            <a:pPr marL="0" indent="0">
              <a:buNone/>
            </a:pPr>
            <a:endParaRPr lang="en-US" sz="4000">
              <a:solidFill>
                <a:schemeClr val="bg1"/>
              </a:solidFill>
              <a:latin typeface="Sitka Banner"/>
            </a:endParaRPr>
          </a:p>
          <a:p>
            <a:pPr marL="0" indent="0">
              <a:buNone/>
            </a:pPr>
            <a:endParaRPr lang="en-US" sz="4000">
              <a:solidFill>
                <a:schemeClr val="bg1"/>
              </a:solidFill>
              <a:latin typeface="Sitka Banner"/>
            </a:endParaRPr>
          </a:p>
        </p:txBody>
      </p:sp>
    </p:spTree>
    <p:extLst>
      <p:ext uri="{BB962C8B-B14F-4D97-AF65-F5344CB8AC3E}">
        <p14:creationId xmlns:p14="http://schemas.microsoft.com/office/powerpoint/2010/main" val="1706290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D605A6F-E699-1184-D608-BED967449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7E0B2-83ED-2D4B-926F-4FAEFA40BCF8}"/>
              </a:ext>
            </a:extLst>
          </p:cNvPr>
          <p:cNvSpPr>
            <a:spLocks noGrp="1"/>
          </p:cNvSpPr>
          <p:nvPr>
            <p:ph type="title"/>
          </p:nvPr>
        </p:nvSpPr>
        <p:spPr>
          <a:xfrm>
            <a:off x="1311126" y="979822"/>
            <a:ext cx="9253683" cy="4754880"/>
          </a:xfrm>
        </p:spPr>
        <p:txBody>
          <a:bodyPr>
            <a:normAutofit/>
          </a:bodyPr>
          <a:lstStyle/>
          <a:p>
            <a:r>
              <a:rPr lang="en-US" sz="5400">
                <a:solidFill>
                  <a:schemeClr val="bg1"/>
                </a:solidFill>
              </a:rPr>
              <a:t>If you are given $100 today, what is the opportunity cost of saving it?</a:t>
            </a:r>
          </a:p>
        </p:txBody>
      </p:sp>
    </p:spTree>
    <p:extLst>
      <p:ext uri="{BB962C8B-B14F-4D97-AF65-F5344CB8AC3E}">
        <p14:creationId xmlns:p14="http://schemas.microsoft.com/office/powerpoint/2010/main" val="1971023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8DB1F57-39D1-36D0-1FFB-7B85918AB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6C1C2-0A29-FBE5-7E78-1883D68D4AFC}"/>
              </a:ext>
            </a:extLst>
          </p:cNvPr>
          <p:cNvSpPr>
            <a:spLocks noGrp="1"/>
          </p:cNvSpPr>
          <p:nvPr>
            <p:ph type="title"/>
          </p:nvPr>
        </p:nvSpPr>
        <p:spPr>
          <a:xfrm>
            <a:off x="743077" y="901827"/>
            <a:ext cx="3977012" cy="4754880"/>
          </a:xfrm>
        </p:spPr>
        <p:txBody>
          <a:bodyPr/>
          <a:lstStyle/>
          <a:p>
            <a:r>
              <a:rPr lang="en-US">
                <a:solidFill>
                  <a:schemeClr val="bg1"/>
                </a:solidFill>
              </a:rPr>
              <a:t>Everyone has a different opportunity cost </a:t>
            </a:r>
          </a:p>
        </p:txBody>
      </p:sp>
      <p:sp>
        <p:nvSpPr>
          <p:cNvPr id="5" name="Title 1">
            <a:extLst>
              <a:ext uri="{FF2B5EF4-FFF2-40B4-BE49-F238E27FC236}">
                <a16:creationId xmlns:a16="http://schemas.microsoft.com/office/drawing/2014/main" id="{72D28A93-81FC-9BDB-2A11-F278A1A79379}"/>
              </a:ext>
            </a:extLst>
          </p:cNvPr>
          <p:cNvSpPr txBox="1">
            <a:spLocks/>
          </p:cNvSpPr>
          <p:nvPr/>
        </p:nvSpPr>
        <p:spPr>
          <a:xfrm>
            <a:off x="5891083" y="353401"/>
            <a:ext cx="8459053" cy="53087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endParaRPr lang="en-US" sz="8800" i="0">
              <a:solidFill>
                <a:schemeClr val="bg1"/>
              </a:solidFill>
            </a:endParaRPr>
          </a:p>
          <a:p>
            <a:r>
              <a:rPr lang="en-US" sz="5400">
                <a:solidFill>
                  <a:schemeClr val="bg1"/>
                </a:solidFill>
              </a:rPr>
              <a:t> </a:t>
            </a:r>
            <a:r>
              <a:rPr lang="en-US" sz="5400" i="0">
                <a:solidFill>
                  <a:schemeClr val="bg1"/>
                </a:solidFill>
              </a:rPr>
              <a:t>they may value </a:t>
            </a:r>
          </a:p>
          <a:p>
            <a:endParaRPr lang="en-US" sz="5400" i="0">
              <a:solidFill>
                <a:schemeClr val="bg1"/>
              </a:solidFill>
            </a:endParaRPr>
          </a:p>
          <a:p>
            <a:r>
              <a:rPr lang="en-US" sz="5400" i="0">
                <a:solidFill>
                  <a:schemeClr val="bg1"/>
                </a:solidFill>
              </a:rPr>
              <a:t>💸     ⏱️     😊     😮‍💨 </a:t>
            </a:r>
          </a:p>
          <a:p>
            <a:endParaRPr lang="en-US" sz="5400" i="0">
              <a:solidFill>
                <a:schemeClr val="bg1"/>
              </a:solidFill>
            </a:endParaRPr>
          </a:p>
          <a:p>
            <a:r>
              <a:rPr lang="en-US" sz="5400" i="0">
                <a:solidFill>
                  <a:schemeClr val="bg1"/>
                </a:solidFill>
              </a:rPr>
              <a:t>differently</a:t>
            </a:r>
            <a:endParaRPr lang="en-US" i="0">
              <a:solidFill>
                <a:schemeClr val="bg1"/>
              </a:solidFill>
            </a:endParaRPr>
          </a:p>
          <a:p>
            <a:endParaRPr lang="en-US" sz="8800" i="0">
              <a:solidFill>
                <a:schemeClr val="bg1"/>
              </a:solidFill>
            </a:endParaRPr>
          </a:p>
        </p:txBody>
      </p:sp>
    </p:spTree>
    <p:extLst>
      <p:ext uri="{BB962C8B-B14F-4D97-AF65-F5344CB8AC3E}">
        <p14:creationId xmlns:p14="http://schemas.microsoft.com/office/powerpoint/2010/main" val="527188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2F615D61-8037-571E-C9C0-2921C536D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777D6-31CE-34DB-A777-1B43E7B6C624}"/>
              </a:ext>
            </a:extLst>
          </p:cNvPr>
          <p:cNvSpPr>
            <a:spLocks noGrp="1"/>
          </p:cNvSpPr>
          <p:nvPr>
            <p:ph type="title"/>
          </p:nvPr>
        </p:nvSpPr>
        <p:spPr>
          <a:xfrm>
            <a:off x="758952" y="758952"/>
            <a:ext cx="4316245" cy="4754880"/>
          </a:xfrm>
        </p:spPr>
        <p:txBody>
          <a:bodyPr>
            <a:normAutofit/>
          </a:bodyPr>
          <a:lstStyle/>
          <a:p>
            <a:r>
              <a:rPr lang="en-US">
                <a:solidFill>
                  <a:schemeClr val="bg1"/>
                </a:solidFill>
              </a:rPr>
              <a:t>What is the opportunity cost of saving $100...</a:t>
            </a:r>
          </a:p>
        </p:txBody>
      </p:sp>
      <p:pic>
        <p:nvPicPr>
          <p:cNvPr id="6" name="Content Placeholder 5" descr="A person in a suit and tie&#10;&#10;AI-generated content may be incorrect.">
            <a:extLst>
              <a:ext uri="{FF2B5EF4-FFF2-40B4-BE49-F238E27FC236}">
                <a16:creationId xmlns:a16="http://schemas.microsoft.com/office/drawing/2014/main" id="{058A5511-DE8F-E043-5E20-A5C00CDF4414}"/>
              </a:ext>
            </a:extLst>
          </p:cNvPr>
          <p:cNvPicPr>
            <a:picLocks noGrp="1" noChangeAspect="1"/>
          </p:cNvPicPr>
          <p:nvPr>
            <p:ph idx="1"/>
          </p:nvPr>
        </p:nvPicPr>
        <p:blipFill>
          <a:blip r:embed="rId3"/>
          <a:stretch>
            <a:fillRect/>
          </a:stretch>
        </p:blipFill>
        <p:spPr>
          <a:xfrm>
            <a:off x="5697105" y="2370579"/>
            <a:ext cx="5711548" cy="3752987"/>
          </a:xfrm>
          <a:prstGeom prst="rect">
            <a:avLst/>
          </a:prstGeom>
        </p:spPr>
      </p:pic>
      <p:sp>
        <p:nvSpPr>
          <p:cNvPr id="5" name="Title 1">
            <a:extLst>
              <a:ext uri="{FF2B5EF4-FFF2-40B4-BE49-F238E27FC236}">
                <a16:creationId xmlns:a16="http://schemas.microsoft.com/office/drawing/2014/main" id="{C9477AB0-F307-5863-1033-695BA56DB16B}"/>
              </a:ext>
            </a:extLst>
          </p:cNvPr>
          <p:cNvSpPr txBox="1">
            <a:spLocks/>
          </p:cNvSpPr>
          <p:nvPr/>
        </p:nvSpPr>
        <p:spPr>
          <a:xfrm>
            <a:off x="7114996" y="650900"/>
            <a:ext cx="3831336" cy="47548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a:solidFill>
                  <a:schemeClr val="bg1"/>
                </a:solidFill>
              </a:rPr>
              <a:t>for him?</a:t>
            </a:r>
          </a:p>
        </p:txBody>
      </p:sp>
    </p:spTree>
    <p:extLst>
      <p:ext uri="{BB962C8B-B14F-4D97-AF65-F5344CB8AC3E}">
        <p14:creationId xmlns:p14="http://schemas.microsoft.com/office/powerpoint/2010/main" val="3092983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65916B0-F7D8-87BC-DD72-CB8E306F1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5B7DB-502E-765A-6F0C-7D92858049F2}"/>
              </a:ext>
            </a:extLst>
          </p:cNvPr>
          <p:cNvSpPr>
            <a:spLocks noGrp="1"/>
          </p:cNvSpPr>
          <p:nvPr>
            <p:ph type="title"/>
          </p:nvPr>
        </p:nvSpPr>
        <p:spPr>
          <a:xfrm>
            <a:off x="758952" y="747407"/>
            <a:ext cx="4281608" cy="4754880"/>
          </a:xfrm>
        </p:spPr>
        <p:txBody>
          <a:bodyPr>
            <a:normAutofit/>
          </a:bodyPr>
          <a:lstStyle/>
          <a:p>
            <a:r>
              <a:rPr lang="en-US">
                <a:solidFill>
                  <a:schemeClr val="bg1"/>
                </a:solidFill>
              </a:rPr>
              <a:t>What is the opportunity cost of saving $100...</a:t>
            </a:r>
          </a:p>
        </p:txBody>
      </p:sp>
      <p:pic>
        <p:nvPicPr>
          <p:cNvPr id="4" name="Content Placeholder 3" descr="A person sitting at a desk&#10;&#10;AI-generated content may be incorrect.">
            <a:extLst>
              <a:ext uri="{FF2B5EF4-FFF2-40B4-BE49-F238E27FC236}">
                <a16:creationId xmlns:a16="http://schemas.microsoft.com/office/drawing/2014/main" id="{9B42F2CE-E0F5-36EE-5209-ED828DD4EB4B}"/>
              </a:ext>
            </a:extLst>
          </p:cNvPr>
          <p:cNvPicPr>
            <a:picLocks noGrp="1" noChangeAspect="1"/>
          </p:cNvPicPr>
          <p:nvPr>
            <p:ph idx="1"/>
          </p:nvPr>
        </p:nvPicPr>
        <p:blipFill>
          <a:blip r:embed="rId3"/>
          <a:srcRect l="8333" t="-462" b="6941"/>
          <a:stretch>
            <a:fillRect/>
          </a:stretch>
        </p:blipFill>
        <p:spPr>
          <a:xfrm>
            <a:off x="6097432" y="2290752"/>
            <a:ext cx="5183191" cy="3574716"/>
          </a:xfrm>
          <a:prstGeom prst="rect">
            <a:avLst/>
          </a:prstGeom>
        </p:spPr>
      </p:pic>
      <p:sp>
        <p:nvSpPr>
          <p:cNvPr id="5" name="Title 1">
            <a:extLst>
              <a:ext uri="{FF2B5EF4-FFF2-40B4-BE49-F238E27FC236}">
                <a16:creationId xmlns:a16="http://schemas.microsoft.com/office/drawing/2014/main" id="{828E87FA-AA0C-335D-331B-DF3A9109D37E}"/>
              </a:ext>
            </a:extLst>
          </p:cNvPr>
          <p:cNvSpPr txBox="1">
            <a:spLocks/>
          </p:cNvSpPr>
          <p:nvPr/>
        </p:nvSpPr>
        <p:spPr>
          <a:xfrm>
            <a:off x="5852212" y="751202"/>
            <a:ext cx="3831336" cy="47548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a:solidFill>
                  <a:schemeClr val="bg1"/>
                </a:solidFill>
              </a:rPr>
              <a:t>for her?</a:t>
            </a:r>
          </a:p>
        </p:txBody>
      </p:sp>
    </p:spTree>
    <p:extLst>
      <p:ext uri="{BB962C8B-B14F-4D97-AF65-F5344CB8AC3E}">
        <p14:creationId xmlns:p14="http://schemas.microsoft.com/office/powerpoint/2010/main" val="271641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57635A9-E068-2482-73AD-8449269F1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D3226-C866-03AC-3BF5-AC814C457909}"/>
              </a:ext>
            </a:extLst>
          </p:cNvPr>
          <p:cNvSpPr>
            <a:spLocks noGrp="1"/>
          </p:cNvSpPr>
          <p:nvPr>
            <p:ph type="title"/>
          </p:nvPr>
        </p:nvSpPr>
        <p:spPr>
          <a:xfrm>
            <a:off x="758952" y="758952"/>
            <a:ext cx="4743426" cy="4754880"/>
          </a:xfrm>
        </p:spPr>
        <p:txBody>
          <a:bodyPr>
            <a:normAutofit/>
          </a:bodyPr>
          <a:lstStyle/>
          <a:p>
            <a:r>
              <a:rPr lang="en-US">
                <a:solidFill>
                  <a:schemeClr val="bg1"/>
                </a:solidFill>
              </a:rPr>
              <a:t>What is the opportunity cost of saving $100...</a:t>
            </a:r>
          </a:p>
        </p:txBody>
      </p:sp>
      <p:pic>
        <p:nvPicPr>
          <p:cNvPr id="4" name="Content Placeholder 3" descr="A dog with money in its mouth&#10;&#10;AI-generated content may be incorrect.">
            <a:extLst>
              <a:ext uri="{FF2B5EF4-FFF2-40B4-BE49-F238E27FC236}">
                <a16:creationId xmlns:a16="http://schemas.microsoft.com/office/drawing/2014/main" id="{B3383F8D-F975-3C97-635A-39D866E0920B}"/>
              </a:ext>
            </a:extLst>
          </p:cNvPr>
          <p:cNvPicPr>
            <a:picLocks noGrp="1" noChangeAspect="1"/>
          </p:cNvPicPr>
          <p:nvPr>
            <p:ph idx="1"/>
          </p:nvPr>
        </p:nvPicPr>
        <p:blipFill>
          <a:blip r:embed="rId3"/>
          <a:stretch>
            <a:fillRect/>
          </a:stretch>
        </p:blipFill>
        <p:spPr>
          <a:xfrm>
            <a:off x="7373763" y="1605572"/>
            <a:ext cx="3248024" cy="5066471"/>
          </a:xfrm>
          <a:prstGeom prst="rect">
            <a:avLst/>
          </a:prstGeom>
        </p:spPr>
      </p:pic>
      <p:sp>
        <p:nvSpPr>
          <p:cNvPr id="5" name="Title 1">
            <a:extLst>
              <a:ext uri="{FF2B5EF4-FFF2-40B4-BE49-F238E27FC236}">
                <a16:creationId xmlns:a16="http://schemas.microsoft.com/office/drawing/2014/main" id="{359BD8BD-3238-5008-6C70-981CEE4B63AF}"/>
              </a:ext>
            </a:extLst>
          </p:cNvPr>
          <p:cNvSpPr txBox="1">
            <a:spLocks/>
          </p:cNvSpPr>
          <p:nvPr/>
        </p:nvSpPr>
        <p:spPr>
          <a:xfrm>
            <a:off x="7084566" y="362264"/>
            <a:ext cx="3831336" cy="47548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a:solidFill>
                  <a:schemeClr val="bg1"/>
                </a:solidFill>
              </a:rPr>
              <a:t>for him?</a:t>
            </a:r>
          </a:p>
        </p:txBody>
      </p:sp>
    </p:spTree>
    <p:extLst>
      <p:ext uri="{BB962C8B-B14F-4D97-AF65-F5344CB8AC3E}">
        <p14:creationId xmlns:p14="http://schemas.microsoft.com/office/powerpoint/2010/main" val="5509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5C8161C-5E4D-5193-F258-7D2134B48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1D744-D1AA-EB0C-3599-FAFA7777F6A1}"/>
              </a:ext>
            </a:extLst>
          </p:cNvPr>
          <p:cNvSpPr>
            <a:spLocks noGrp="1"/>
          </p:cNvSpPr>
          <p:nvPr>
            <p:ph type="title"/>
          </p:nvPr>
        </p:nvSpPr>
        <p:spPr>
          <a:xfrm>
            <a:off x="758952" y="758952"/>
            <a:ext cx="10200012" cy="4754880"/>
          </a:xfrm>
        </p:spPr>
        <p:txBody>
          <a:bodyPr>
            <a:normAutofit/>
          </a:bodyPr>
          <a:lstStyle/>
          <a:p>
            <a:r>
              <a:rPr lang="en-US" sz="4400">
                <a:solidFill>
                  <a:schemeClr val="bg1"/>
                </a:solidFill>
              </a:rPr>
              <a:t>Everyone has a different opportunity cost </a:t>
            </a:r>
          </a:p>
        </p:txBody>
      </p:sp>
      <p:sp>
        <p:nvSpPr>
          <p:cNvPr id="5" name="Title 1">
            <a:extLst>
              <a:ext uri="{FF2B5EF4-FFF2-40B4-BE49-F238E27FC236}">
                <a16:creationId xmlns:a16="http://schemas.microsoft.com/office/drawing/2014/main" id="{7DC0D92E-DDAB-5C05-E5BA-BD27E426F559}"/>
              </a:ext>
            </a:extLst>
          </p:cNvPr>
          <p:cNvSpPr txBox="1">
            <a:spLocks/>
          </p:cNvSpPr>
          <p:nvPr/>
        </p:nvSpPr>
        <p:spPr>
          <a:xfrm>
            <a:off x="1061043" y="3825162"/>
            <a:ext cx="10803262" cy="47548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sz="4400">
                <a:solidFill>
                  <a:schemeClr val="bg1"/>
                </a:solidFill>
              </a:rPr>
              <a:t>It is why different people make different choices </a:t>
            </a:r>
          </a:p>
        </p:txBody>
      </p:sp>
    </p:spTree>
    <p:extLst>
      <p:ext uri="{BB962C8B-B14F-4D97-AF65-F5344CB8AC3E}">
        <p14:creationId xmlns:p14="http://schemas.microsoft.com/office/powerpoint/2010/main" val="1645732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B344D24-DB93-4E11-D25B-0C5B5FF42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F5DC7-BD98-33C9-CF33-92C6AFDF370A}"/>
              </a:ext>
            </a:extLst>
          </p:cNvPr>
          <p:cNvSpPr>
            <a:spLocks noGrp="1"/>
          </p:cNvSpPr>
          <p:nvPr>
            <p:ph type="title"/>
          </p:nvPr>
        </p:nvSpPr>
        <p:spPr>
          <a:xfrm>
            <a:off x="790702" y="1981327"/>
            <a:ext cx="10820580" cy="2421255"/>
          </a:xfrm>
        </p:spPr>
        <p:txBody>
          <a:bodyPr/>
          <a:lstStyle/>
          <a:p>
            <a:r>
              <a:rPr lang="en-US" sz="4800" i="0">
                <a:solidFill>
                  <a:schemeClr val="bg1"/>
                </a:solidFill>
              </a:rPr>
              <a:t>A </a:t>
            </a:r>
            <a:r>
              <a:rPr lang="en-US" sz="4800">
                <a:solidFill>
                  <a:schemeClr val="bg1"/>
                </a:solidFill>
              </a:rPr>
              <a:t>"good"</a:t>
            </a:r>
            <a:r>
              <a:rPr lang="en-US" sz="4800" i="0">
                <a:solidFill>
                  <a:schemeClr val="bg1"/>
                </a:solidFill>
              </a:rPr>
              <a:t> choice is one where the benefits are greater than the opportunity cost</a:t>
            </a:r>
          </a:p>
        </p:txBody>
      </p:sp>
    </p:spTree>
    <p:extLst>
      <p:ext uri="{BB962C8B-B14F-4D97-AF65-F5344CB8AC3E}">
        <p14:creationId xmlns:p14="http://schemas.microsoft.com/office/powerpoint/2010/main" val="22674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34A754B-F55A-C4B3-8430-2657F9E45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2984E-8D71-F029-ACB6-719306394BE8}"/>
              </a:ext>
            </a:extLst>
          </p:cNvPr>
          <p:cNvSpPr>
            <a:spLocks noGrp="1"/>
          </p:cNvSpPr>
          <p:nvPr>
            <p:ph type="title"/>
          </p:nvPr>
        </p:nvSpPr>
        <p:spPr>
          <a:xfrm>
            <a:off x="790702" y="1981327"/>
            <a:ext cx="10820580" cy="2421255"/>
          </a:xfrm>
        </p:spPr>
        <p:txBody>
          <a:bodyPr/>
          <a:lstStyle/>
          <a:p>
            <a:r>
              <a:rPr lang="en-US" sz="4800" i="0">
                <a:solidFill>
                  <a:schemeClr val="bg1"/>
                </a:solidFill>
              </a:rPr>
              <a:t>Weekend Planning Activity</a:t>
            </a:r>
            <a:br>
              <a:rPr lang="en-US" sz="4800" i="0">
                <a:solidFill>
                  <a:schemeClr val="bg1"/>
                </a:solidFill>
              </a:rPr>
            </a:br>
            <a:br>
              <a:rPr lang="en-US" sz="4800" i="0"/>
            </a:br>
            <a:endParaRPr lang="en-US" sz="4800" i="0">
              <a:solidFill>
                <a:schemeClr val="bg1"/>
              </a:solidFill>
            </a:endParaRPr>
          </a:p>
        </p:txBody>
      </p:sp>
    </p:spTree>
    <p:extLst>
      <p:ext uri="{BB962C8B-B14F-4D97-AF65-F5344CB8AC3E}">
        <p14:creationId xmlns:p14="http://schemas.microsoft.com/office/powerpoint/2010/main" val="1071544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758DB8F-6651-D8E3-1937-0AEDA5C8B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E1BCB-1E3C-AE7D-AD40-390C4966921C}"/>
              </a:ext>
            </a:extLst>
          </p:cNvPr>
          <p:cNvSpPr>
            <a:spLocks noGrp="1"/>
          </p:cNvSpPr>
          <p:nvPr>
            <p:ph type="title"/>
          </p:nvPr>
        </p:nvSpPr>
        <p:spPr/>
        <p:txBody>
          <a:bodyPr/>
          <a:lstStyle/>
          <a:p>
            <a:r>
              <a:rPr lang="en-US">
                <a:solidFill>
                  <a:schemeClr val="bg1"/>
                </a:solidFill>
              </a:rPr>
              <a:t>Sunk Cost</a:t>
            </a:r>
          </a:p>
        </p:txBody>
      </p:sp>
      <p:pic>
        <p:nvPicPr>
          <p:cNvPr id="3" name="Picture 2" descr="A boat in the water&#10;&#10;AI-generated content may be incorrect.">
            <a:extLst>
              <a:ext uri="{FF2B5EF4-FFF2-40B4-BE49-F238E27FC236}">
                <a16:creationId xmlns:a16="http://schemas.microsoft.com/office/drawing/2014/main" id="{01615473-B599-F848-B158-AEBBC050AB17}"/>
              </a:ext>
            </a:extLst>
          </p:cNvPr>
          <p:cNvPicPr>
            <a:picLocks noChangeAspect="1"/>
          </p:cNvPicPr>
          <p:nvPr/>
        </p:nvPicPr>
        <p:blipFill>
          <a:blip r:embed="rId2"/>
          <a:stretch>
            <a:fillRect/>
          </a:stretch>
        </p:blipFill>
        <p:spPr>
          <a:xfrm>
            <a:off x="4497532" y="1716809"/>
            <a:ext cx="6776027" cy="4521200"/>
          </a:xfrm>
          <a:prstGeom prst="rect">
            <a:avLst/>
          </a:prstGeom>
        </p:spPr>
      </p:pic>
    </p:spTree>
    <p:extLst>
      <p:ext uri="{BB962C8B-B14F-4D97-AF65-F5344CB8AC3E}">
        <p14:creationId xmlns:p14="http://schemas.microsoft.com/office/powerpoint/2010/main" val="1523976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207E273-27E6-AD6F-323C-15A4F6EB7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B6D7F-80A1-5BDE-C3B2-525EACFCDCB9}"/>
              </a:ext>
            </a:extLst>
          </p:cNvPr>
          <p:cNvSpPr>
            <a:spLocks noGrp="1"/>
          </p:cNvSpPr>
          <p:nvPr>
            <p:ph type="title"/>
          </p:nvPr>
        </p:nvSpPr>
        <p:spPr/>
        <p:txBody>
          <a:bodyPr/>
          <a:lstStyle/>
          <a:p>
            <a:r>
              <a:rPr lang="en-US">
                <a:solidFill>
                  <a:schemeClr val="bg1"/>
                </a:solidFill>
              </a:rPr>
              <a:t>Sunk Cost</a:t>
            </a:r>
          </a:p>
        </p:txBody>
      </p:sp>
      <p:sp>
        <p:nvSpPr>
          <p:cNvPr id="5" name="Content Placeholder 2">
            <a:extLst>
              <a:ext uri="{FF2B5EF4-FFF2-40B4-BE49-F238E27FC236}">
                <a16:creationId xmlns:a16="http://schemas.microsoft.com/office/drawing/2014/main" id="{C9C3D955-E0BC-542C-E472-8AAA06846251}"/>
              </a:ext>
            </a:extLst>
          </p:cNvPr>
          <p:cNvSpPr txBox="1">
            <a:spLocks/>
          </p:cNvSpPr>
          <p:nvPr/>
        </p:nvSpPr>
        <p:spPr>
          <a:xfrm>
            <a:off x="5368798" y="1514602"/>
            <a:ext cx="6245352" cy="5040630"/>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a:solidFill>
                  <a:schemeClr val="bg1"/>
                </a:solidFill>
                <a:latin typeface="Sitka Banner"/>
              </a:rPr>
              <a:t>A cost you cannot recover</a:t>
            </a:r>
          </a:p>
          <a:p>
            <a:pPr marL="0" indent="0">
              <a:buFont typeface="Arial" panose="020B0604020202020204" pitchFamily="34" charset="0"/>
              <a:buNone/>
            </a:pPr>
            <a:endParaRPr lang="en-US" sz="4000">
              <a:solidFill>
                <a:schemeClr val="bg1"/>
              </a:solidFill>
              <a:latin typeface="Sitka Banner"/>
            </a:endParaRPr>
          </a:p>
          <a:p>
            <a:pPr marL="0" indent="0">
              <a:buNone/>
            </a:pPr>
            <a:r>
              <a:rPr lang="en-US" sz="4000">
                <a:solidFill>
                  <a:schemeClr val="bg1"/>
                </a:solidFill>
                <a:latin typeface="Sitka Banner"/>
              </a:rPr>
              <a:t>Money, time, or effort already spent</a:t>
            </a:r>
          </a:p>
        </p:txBody>
      </p:sp>
    </p:spTree>
    <p:extLst>
      <p:ext uri="{BB962C8B-B14F-4D97-AF65-F5344CB8AC3E}">
        <p14:creationId xmlns:p14="http://schemas.microsoft.com/office/powerpoint/2010/main" val="57061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58F5555-D6E0-EB60-4951-2FCD618B2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3D790-2053-AF7A-37D9-E2D974EA6185}"/>
              </a:ext>
            </a:extLst>
          </p:cNvPr>
          <p:cNvSpPr>
            <a:spLocks noGrp="1"/>
          </p:cNvSpPr>
          <p:nvPr>
            <p:ph type="title"/>
          </p:nvPr>
        </p:nvSpPr>
        <p:spPr/>
        <p:txBody>
          <a:bodyPr/>
          <a:lstStyle/>
          <a:p>
            <a:r>
              <a:rPr lang="en-US">
                <a:solidFill>
                  <a:schemeClr val="bg1"/>
                </a:solidFill>
              </a:rPr>
              <a:t>Sunk cost fallacy </a:t>
            </a:r>
          </a:p>
        </p:txBody>
      </p:sp>
      <p:sp>
        <p:nvSpPr>
          <p:cNvPr id="5" name="Content Placeholder 2">
            <a:extLst>
              <a:ext uri="{FF2B5EF4-FFF2-40B4-BE49-F238E27FC236}">
                <a16:creationId xmlns:a16="http://schemas.microsoft.com/office/drawing/2014/main" id="{E562C1A1-10FC-DD84-83B2-0296133FA5D2}"/>
              </a:ext>
            </a:extLst>
          </p:cNvPr>
          <p:cNvSpPr txBox="1">
            <a:spLocks/>
          </p:cNvSpPr>
          <p:nvPr/>
        </p:nvSpPr>
        <p:spPr>
          <a:xfrm>
            <a:off x="5337048" y="911352"/>
            <a:ext cx="6245352" cy="4754880"/>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solidFill>
                  <a:schemeClr val="bg1"/>
                </a:solidFill>
                <a:latin typeface="Sitka Banner"/>
              </a:rPr>
              <a:t>Considering sunk costs when making decisions about the future</a:t>
            </a:r>
          </a:p>
          <a:p>
            <a:pPr marL="0" indent="0">
              <a:buFont typeface="Arial" panose="020B0604020202020204" pitchFamily="34" charset="0"/>
              <a:buNone/>
            </a:pPr>
            <a:endParaRPr lang="en-US" sz="3200">
              <a:solidFill>
                <a:schemeClr val="bg1"/>
              </a:solidFill>
              <a:latin typeface="Sitka Banner"/>
            </a:endParaRPr>
          </a:p>
          <a:p>
            <a:pPr marL="0" indent="0">
              <a:buNone/>
            </a:pPr>
            <a:r>
              <a:rPr lang="en-US" sz="3200">
                <a:solidFill>
                  <a:schemeClr val="bg1"/>
                </a:solidFill>
                <a:latin typeface="Sitka Banner"/>
              </a:rPr>
              <a:t>To stay on a path because you've already invested in it, even if it's not the best decision looking forward</a:t>
            </a:r>
          </a:p>
        </p:txBody>
      </p:sp>
    </p:spTree>
    <p:extLst>
      <p:ext uri="{BB962C8B-B14F-4D97-AF65-F5344CB8AC3E}">
        <p14:creationId xmlns:p14="http://schemas.microsoft.com/office/powerpoint/2010/main" val="3357792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0767E9F-864C-8E4D-BB94-3FB181CDF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3F68E-C42A-2BEE-742C-F36D654D4713}"/>
              </a:ext>
            </a:extLst>
          </p:cNvPr>
          <p:cNvSpPr>
            <a:spLocks noGrp="1"/>
          </p:cNvSpPr>
          <p:nvPr>
            <p:ph type="title"/>
          </p:nvPr>
        </p:nvSpPr>
        <p:spPr/>
        <p:txBody>
          <a:bodyPr/>
          <a:lstStyle/>
          <a:p>
            <a:r>
              <a:rPr lang="en-US">
                <a:solidFill>
                  <a:schemeClr val="bg1"/>
                </a:solidFill>
              </a:rPr>
              <a:t>sunk cost</a:t>
            </a:r>
            <a:br>
              <a:rPr lang="en-US"/>
            </a:br>
            <a:r>
              <a:rPr lang="en-US">
                <a:solidFill>
                  <a:schemeClr val="bg1"/>
                </a:solidFill>
              </a:rPr>
              <a:t>fallacy</a:t>
            </a:r>
            <a:br>
              <a:rPr lang="en-US"/>
            </a:br>
            <a:endParaRPr lang="en-US">
              <a:solidFill>
                <a:schemeClr val="bg1"/>
              </a:solidFill>
            </a:endParaRPr>
          </a:p>
        </p:txBody>
      </p:sp>
      <p:pic>
        <p:nvPicPr>
          <p:cNvPr id="4" name="Content Placeholder 3" descr="A group of people standing in a line&#10;&#10;AI-generated content may be incorrect.">
            <a:extLst>
              <a:ext uri="{FF2B5EF4-FFF2-40B4-BE49-F238E27FC236}">
                <a16:creationId xmlns:a16="http://schemas.microsoft.com/office/drawing/2014/main" id="{BF9E9CFE-228D-336C-A21B-F4227BF34282}"/>
              </a:ext>
            </a:extLst>
          </p:cNvPr>
          <p:cNvPicPr>
            <a:picLocks noGrp="1" noChangeAspect="1"/>
          </p:cNvPicPr>
          <p:nvPr>
            <p:ph idx="1"/>
          </p:nvPr>
        </p:nvPicPr>
        <p:blipFill>
          <a:blip r:embed="rId2"/>
          <a:srcRect l="-1323" t="360" r="807" b="339"/>
          <a:stretch>
            <a:fillRect/>
          </a:stretch>
        </p:blipFill>
        <p:spPr>
          <a:xfrm>
            <a:off x="6093443" y="2496857"/>
            <a:ext cx="4622740" cy="3359272"/>
          </a:xfrm>
          <a:prstGeom prst="rect">
            <a:avLst/>
          </a:prstGeom>
        </p:spPr>
      </p:pic>
      <p:sp>
        <p:nvSpPr>
          <p:cNvPr id="5" name="Content Placeholder 2">
            <a:extLst>
              <a:ext uri="{FF2B5EF4-FFF2-40B4-BE49-F238E27FC236}">
                <a16:creationId xmlns:a16="http://schemas.microsoft.com/office/drawing/2014/main" id="{E7894ADD-BBF9-AE62-7416-F4E8B084923A}"/>
              </a:ext>
            </a:extLst>
          </p:cNvPr>
          <p:cNvSpPr txBox="1">
            <a:spLocks/>
          </p:cNvSpPr>
          <p:nvPr/>
        </p:nvSpPr>
        <p:spPr>
          <a:xfrm>
            <a:off x="5772477" y="900466"/>
            <a:ext cx="6245352" cy="4754880"/>
          </a:xfrm>
          <a:prstGeom prst="rect">
            <a:avLst/>
          </a:prstGeom>
        </p:spPr>
        <p:txBody>
          <a:bodyPr vert="horz" lIns="91440" tIns="45720" rIns="91440" bIns="45720" rtlCol="0" anchor="t">
            <a:normAutofit/>
          </a:bodyPr>
          <a:lst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solidFill>
                  <a:schemeClr val="bg1"/>
                </a:solidFill>
                <a:latin typeface="Sitka Banner"/>
              </a:rPr>
              <a:t>staying in line because "we've already waited 20 minutes"</a:t>
            </a:r>
          </a:p>
          <a:p>
            <a:pPr marL="0" indent="0">
              <a:buFont typeface="Arial" panose="020B0604020202020204" pitchFamily="34" charset="0"/>
              <a:buNone/>
            </a:pPr>
            <a:endParaRPr lang="en-US" sz="3200">
              <a:solidFill>
                <a:schemeClr val="bg1"/>
              </a:solidFill>
              <a:latin typeface="Sitka Banner"/>
            </a:endParaRPr>
          </a:p>
          <a:p>
            <a:pPr marL="0" indent="0">
              <a:buNone/>
            </a:pPr>
            <a:endParaRPr lang="en-US" sz="3200">
              <a:solidFill>
                <a:schemeClr val="bg1"/>
              </a:solidFill>
              <a:latin typeface="Sitka Banner"/>
            </a:endParaRPr>
          </a:p>
        </p:txBody>
      </p:sp>
    </p:spTree>
    <p:extLst>
      <p:ext uri="{BB962C8B-B14F-4D97-AF65-F5344CB8AC3E}">
        <p14:creationId xmlns:p14="http://schemas.microsoft.com/office/powerpoint/2010/main" val="81267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0909280-AD94-C413-6DE1-0E489EF48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B7635-BF00-1E5B-1C9E-240923836102}"/>
              </a:ext>
            </a:extLst>
          </p:cNvPr>
          <p:cNvSpPr>
            <a:spLocks noGrp="1"/>
          </p:cNvSpPr>
          <p:nvPr>
            <p:ph type="title"/>
          </p:nvPr>
        </p:nvSpPr>
        <p:spPr/>
        <p:txBody>
          <a:bodyPr/>
          <a:lstStyle/>
          <a:p>
            <a:r>
              <a:rPr lang="en-US">
                <a:solidFill>
                  <a:schemeClr val="bg1"/>
                </a:solidFill>
              </a:rPr>
              <a:t>sunk cost</a:t>
            </a:r>
            <a:br>
              <a:rPr lang="en-US"/>
            </a:br>
            <a:r>
              <a:rPr lang="en-US">
                <a:solidFill>
                  <a:schemeClr val="bg1"/>
                </a:solidFill>
              </a:rPr>
              <a:t>fallacy</a:t>
            </a:r>
            <a:br>
              <a:rPr lang="en-US"/>
            </a:br>
            <a:endParaRPr lang="en-US">
              <a:solidFill>
                <a:schemeClr val="bg1"/>
              </a:solidFill>
            </a:endParaRPr>
          </a:p>
        </p:txBody>
      </p:sp>
      <p:pic>
        <p:nvPicPr>
          <p:cNvPr id="3" name="Picture 2" descr="A graph of a stock market&#10;&#10;AI-generated content may be incorrect.">
            <a:extLst>
              <a:ext uri="{FF2B5EF4-FFF2-40B4-BE49-F238E27FC236}">
                <a16:creationId xmlns:a16="http://schemas.microsoft.com/office/drawing/2014/main" id="{ABA22751-0484-4994-DEEB-6843A8B86C6E}"/>
              </a:ext>
            </a:extLst>
          </p:cNvPr>
          <p:cNvPicPr>
            <a:picLocks noChangeAspect="1"/>
          </p:cNvPicPr>
          <p:nvPr/>
        </p:nvPicPr>
        <p:blipFill>
          <a:blip r:embed="rId3"/>
          <a:srcRect r="55042" b="-280"/>
          <a:stretch>
            <a:fillRect/>
          </a:stretch>
        </p:blipFill>
        <p:spPr>
          <a:xfrm>
            <a:off x="5670550" y="598488"/>
            <a:ext cx="2548632" cy="5692776"/>
          </a:xfrm>
          <a:prstGeom prst="rect">
            <a:avLst/>
          </a:prstGeom>
        </p:spPr>
      </p:pic>
    </p:spTree>
    <p:extLst>
      <p:ext uri="{BB962C8B-B14F-4D97-AF65-F5344CB8AC3E}">
        <p14:creationId xmlns:p14="http://schemas.microsoft.com/office/powerpoint/2010/main" val="464410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F2BEEC23-BCE6-0D6B-0018-0272D6EEA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23270-7AA7-752E-F9D1-C6BD4BC79A37}"/>
              </a:ext>
            </a:extLst>
          </p:cNvPr>
          <p:cNvSpPr>
            <a:spLocks noGrp="1"/>
          </p:cNvSpPr>
          <p:nvPr>
            <p:ph type="title"/>
          </p:nvPr>
        </p:nvSpPr>
        <p:spPr/>
        <p:txBody>
          <a:bodyPr/>
          <a:lstStyle/>
          <a:p>
            <a:r>
              <a:rPr lang="en-US">
                <a:solidFill>
                  <a:schemeClr val="bg1"/>
                </a:solidFill>
              </a:rPr>
              <a:t>sunk cost</a:t>
            </a:r>
            <a:br>
              <a:rPr lang="en-US"/>
            </a:br>
            <a:r>
              <a:rPr lang="en-US">
                <a:solidFill>
                  <a:schemeClr val="bg1"/>
                </a:solidFill>
              </a:rPr>
              <a:t>fallacy</a:t>
            </a:r>
            <a:br>
              <a:rPr lang="en-US"/>
            </a:br>
            <a:endParaRPr lang="en-US">
              <a:solidFill>
                <a:schemeClr val="bg1"/>
              </a:solidFill>
            </a:endParaRPr>
          </a:p>
        </p:txBody>
      </p:sp>
      <p:pic>
        <p:nvPicPr>
          <p:cNvPr id="3" name="Picture 2" descr="A graph of a stock market&#10;&#10;AI-generated content may be incorrect.">
            <a:extLst>
              <a:ext uri="{FF2B5EF4-FFF2-40B4-BE49-F238E27FC236}">
                <a16:creationId xmlns:a16="http://schemas.microsoft.com/office/drawing/2014/main" id="{6FE16A3B-1FCF-A9B7-624C-C0EC1F6CACAF}"/>
              </a:ext>
            </a:extLst>
          </p:cNvPr>
          <p:cNvPicPr>
            <a:picLocks noChangeAspect="1"/>
          </p:cNvPicPr>
          <p:nvPr/>
        </p:nvPicPr>
        <p:blipFill>
          <a:blip r:embed="rId3"/>
          <a:srcRect r="33053" b="-280"/>
          <a:stretch>
            <a:fillRect/>
          </a:stretch>
        </p:blipFill>
        <p:spPr>
          <a:xfrm>
            <a:off x="5670550" y="598488"/>
            <a:ext cx="3795189" cy="5692776"/>
          </a:xfrm>
          <a:prstGeom prst="rect">
            <a:avLst/>
          </a:prstGeom>
        </p:spPr>
      </p:pic>
    </p:spTree>
    <p:extLst>
      <p:ext uri="{BB962C8B-B14F-4D97-AF65-F5344CB8AC3E}">
        <p14:creationId xmlns:p14="http://schemas.microsoft.com/office/powerpoint/2010/main" val="830196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13AFA34-91EB-FF4F-A50A-A35FA0C22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E89BC-9843-6A49-63B9-211C24FA81A4}"/>
              </a:ext>
            </a:extLst>
          </p:cNvPr>
          <p:cNvSpPr>
            <a:spLocks noGrp="1"/>
          </p:cNvSpPr>
          <p:nvPr>
            <p:ph type="title"/>
          </p:nvPr>
        </p:nvSpPr>
        <p:spPr/>
        <p:txBody>
          <a:bodyPr/>
          <a:lstStyle/>
          <a:p>
            <a:r>
              <a:rPr lang="en-US">
                <a:solidFill>
                  <a:schemeClr val="bg1"/>
                </a:solidFill>
              </a:rPr>
              <a:t>sunk cost</a:t>
            </a:r>
            <a:br>
              <a:rPr lang="en-US"/>
            </a:br>
            <a:r>
              <a:rPr lang="en-US">
                <a:solidFill>
                  <a:schemeClr val="bg1"/>
                </a:solidFill>
              </a:rPr>
              <a:t>fallacy</a:t>
            </a:r>
            <a:br>
              <a:rPr lang="en-US"/>
            </a:br>
            <a:endParaRPr lang="en-US">
              <a:solidFill>
                <a:schemeClr val="bg1"/>
              </a:solidFill>
            </a:endParaRPr>
          </a:p>
        </p:txBody>
      </p:sp>
      <p:pic>
        <p:nvPicPr>
          <p:cNvPr id="3" name="Picture 2" descr="A graph of a stock market&#10;&#10;AI-generated content may be incorrect.">
            <a:extLst>
              <a:ext uri="{FF2B5EF4-FFF2-40B4-BE49-F238E27FC236}">
                <a16:creationId xmlns:a16="http://schemas.microsoft.com/office/drawing/2014/main" id="{96C9883D-EC15-5827-5664-B8B4CC9D3D23}"/>
              </a:ext>
            </a:extLst>
          </p:cNvPr>
          <p:cNvPicPr>
            <a:picLocks noChangeAspect="1"/>
          </p:cNvPicPr>
          <p:nvPr/>
        </p:nvPicPr>
        <p:blipFill>
          <a:blip r:embed="rId3"/>
          <a:stretch>
            <a:fillRect/>
          </a:stretch>
        </p:blipFill>
        <p:spPr>
          <a:xfrm>
            <a:off x="5845175" y="590550"/>
            <a:ext cx="5668963" cy="5676900"/>
          </a:xfrm>
          <a:prstGeom prst="rect">
            <a:avLst/>
          </a:prstGeom>
        </p:spPr>
      </p:pic>
      <p:pic>
        <p:nvPicPr>
          <p:cNvPr id="4" name="Picture 3" descr="A close-up of a line&#10;&#10;AI-generated content may be incorrect.">
            <a:extLst>
              <a:ext uri="{FF2B5EF4-FFF2-40B4-BE49-F238E27FC236}">
                <a16:creationId xmlns:a16="http://schemas.microsoft.com/office/drawing/2014/main" id="{7E587370-2818-1092-B923-0F4BA84D917F}"/>
              </a:ext>
            </a:extLst>
          </p:cNvPr>
          <p:cNvPicPr>
            <a:picLocks noChangeAspect="1"/>
          </p:cNvPicPr>
          <p:nvPr/>
        </p:nvPicPr>
        <p:blipFill>
          <a:blip r:embed="rId4"/>
          <a:stretch>
            <a:fillRect/>
          </a:stretch>
        </p:blipFill>
        <p:spPr>
          <a:xfrm>
            <a:off x="123825" y="3009900"/>
            <a:ext cx="5546726" cy="3576638"/>
          </a:xfrm>
          <a:prstGeom prst="rect">
            <a:avLst/>
          </a:prstGeom>
        </p:spPr>
      </p:pic>
    </p:spTree>
    <p:extLst>
      <p:ext uri="{BB962C8B-B14F-4D97-AF65-F5344CB8AC3E}">
        <p14:creationId xmlns:p14="http://schemas.microsoft.com/office/powerpoint/2010/main" val="2097793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E19E10A-3CBA-A50C-3603-43BAC3E76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E5A76-4E12-A614-188C-2B7281FC3FFD}"/>
              </a:ext>
            </a:extLst>
          </p:cNvPr>
          <p:cNvSpPr>
            <a:spLocks noGrp="1"/>
          </p:cNvSpPr>
          <p:nvPr>
            <p:ph type="title"/>
          </p:nvPr>
        </p:nvSpPr>
        <p:spPr>
          <a:xfrm>
            <a:off x="1874532" y="1187577"/>
            <a:ext cx="9350063" cy="1060335"/>
          </a:xfrm>
        </p:spPr>
        <p:txBody>
          <a:bodyPr/>
          <a:lstStyle/>
          <a:p>
            <a:r>
              <a:rPr lang="en-US">
                <a:solidFill>
                  <a:schemeClr val="bg1"/>
                </a:solidFill>
              </a:rPr>
              <a:t>Sunk cost quiz </a:t>
            </a:r>
          </a:p>
        </p:txBody>
      </p:sp>
      <p:sp>
        <p:nvSpPr>
          <p:cNvPr id="3" name="Content Placeholder 2">
            <a:extLst>
              <a:ext uri="{FF2B5EF4-FFF2-40B4-BE49-F238E27FC236}">
                <a16:creationId xmlns:a16="http://schemas.microsoft.com/office/drawing/2014/main" id="{236A7B7D-8F7A-09D7-CC68-A5F5F6CF45AA}"/>
              </a:ext>
            </a:extLst>
          </p:cNvPr>
          <p:cNvSpPr>
            <a:spLocks noGrp="1"/>
          </p:cNvSpPr>
          <p:nvPr>
            <p:ph idx="1"/>
          </p:nvPr>
        </p:nvSpPr>
        <p:spPr>
          <a:xfrm>
            <a:off x="2427970" y="3134362"/>
            <a:ext cx="6245352" cy="1233517"/>
          </a:xfrm>
        </p:spPr>
        <p:txBody>
          <a:bodyPr vert="horz" lIns="91440" tIns="45720" rIns="91440" bIns="45720" rtlCol="0" anchor="t">
            <a:normAutofit/>
          </a:bodyPr>
          <a:lstStyle/>
          <a:p>
            <a:r>
              <a:rPr lang="en-US">
                <a:solidFill>
                  <a:schemeClr val="bg1"/>
                </a:solidFill>
                <a:ea typeface="+mn-lt"/>
                <a:cs typeface="+mn-lt"/>
                <a:hlinkClick r:id="rId3">
                  <a:extLst>
                    <a:ext uri="{A12FA001-AC4F-418D-AE19-62706E023703}">
                      <ahyp:hlinkClr xmlns:ahyp="http://schemas.microsoft.com/office/drawing/2018/hyperlinkcolor" val="tx"/>
                    </a:ext>
                  </a:extLst>
                </a:hlinkClick>
              </a:rPr>
              <a:t>https://mru.org/courses/principles-economics-microeconomics/sunk-cost/interactive-practice</a:t>
            </a:r>
            <a:endParaRPr lang="en-US">
              <a:solidFill>
                <a:schemeClr val="bg1"/>
              </a:solidFill>
            </a:endParaRPr>
          </a:p>
        </p:txBody>
      </p:sp>
    </p:spTree>
    <p:extLst>
      <p:ext uri="{BB962C8B-B14F-4D97-AF65-F5344CB8AC3E}">
        <p14:creationId xmlns:p14="http://schemas.microsoft.com/office/powerpoint/2010/main" val="3320222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B2D8D38-4028-5663-267E-88F802D1D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0276E-D34F-5A2B-5D02-433673A3C404}"/>
              </a:ext>
            </a:extLst>
          </p:cNvPr>
          <p:cNvSpPr>
            <a:spLocks noGrp="1"/>
          </p:cNvSpPr>
          <p:nvPr>
            <p:ph type="title"/>
          </p:nvPr>
        </p:nvSpPr>
        <p:spPr>
          <a:xfrm>
            <a:off x="758952" y="758952"/>
            <a:ext cx="8611154" cy="4754880"/>
          </a:xfrm>
        </p:spPr>
        <p:txBody>
          <a:bodyPr/>
          <a:lstStyle/>
          <a:p>
            <a:r>
              <a:rPr lang="en-US">
                <a:solidFill>
                  <a:schemeClr val="bg1"/>
                </a:solidFill>
              </a:rPr>
              <a:t>Why do we care?</a:t>
            </a:r>
          </a:p>
        </p:txBody>
      </p:sp>
      <p:pic>
        <p:nvPicPr>
          <p:cNvPr id="4" name="Picture 3" descr="A person sticking her tongue out&#10;&#10;AI-generated content may be incorrect.">
            <a:extLst>
              <a:ext uri="{FF2B5EF4-FFF2-40B4-BE49-F238E27FC236}">
                <a16:creationId xmlns:a16="http://schemas.microsoft.com/office/drawing/2014/main" id="{72F41F16-91E1-F272-E2E3-6C431A7C449E}"/>
              </a:ext>
            </a:extLst>
          </p:cNvPr>
          <p:cNvPicPr>
            <a:picLocks noChangeAspect="1"/>
          </p:cNvPicPr>
          <p:nvPr/>
        </p:nvPicPr>
        <p:blipFill>
          <a:blip r:embed="rId3"/>
          <a:stretch>
            <a:fillRect/>
          </a:stretch>
        </p:blipFill>
        <p:spPr>
          <a:xfrm>
            <a:off x="4421909" y="2246214"/>
            <a:ext cx="7250546" cy="3635570"/>
          </a:xfrm>
          <a:prstGeom prst="rect">
            <a:avLst/>
          </a:prstGeom>
        </p:spPr>
      </p:pic>
    </p:spTree>
    <p:extLst>
      <p:ext uri="{BB962C8B-B14F-4D97-AF65-F5344CB8AC3E}">
        <p14:creationId xmlns:p14="http://schemas.microsoft.com/office/powerpoint/2010/main" val="4086020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F84F061-7CDD-A761-BBB9-61089433F25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8E1CA2-85D3-8404-83B4-7097D5C0B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6EA56F-07DE-6E83-E5F0-08550BA2BA8C}"/>
              </a:ext>
            </a:extLst>
          </p:cNvPr>
          <p:cNvSpPr>
            <a:spLocks noGrp="1"/>
          </p:cNvSpPr>
          <p:nvPr>
            <p:ph type="ctrTitle"/>
          </p:nvPr>
        </p:nvSpPr>
        <p:spPr>
          <a:xfrm>
            <a:off x="1118916" y="1164702"/>
            <a:ext cx="10890756" cy="3359529"/>
          </a:xfrm>
        </p:spPr>
        <p:txBody>
          <a:bodyPr>
            <a:normAutofit fontScale="90000"/>
          </a:bodyPr>
          <a:lstStyle/>
          <a:p>
            <a:pPr>
              <a:lnSpc>
                <a:spcPct val="150000"/>
              </a:lnSpc>
            </a:pPr>
            <a:r>
              <a:rPr lang="en-US" sz="5400" i="0"/>
              <a:t>Economic analysis: </a:t>
            </a:r>
            <a:br>
              <a:rPr lang="en-US" sz="5400" i="0"/>
            </a:br>
            <a:r>
              <a:rPr lang="en-US" sz="5400" i="0"/>
              <a:t>Is "phone-free school days" a good policy?</a:t>
            </a:r>
            <a:endParaRPr lang="en-US" sz="5400"/>
          </a:p>
        </p:txBody>
      </p:sp>
      <p:sp>
        <p:nvSpPr>
          <p:cNvPr id="3" name="Subtitle 2">
            <a:extLst>
              <a:ext uri="{FF2B5EF4-FFF2-40B4-BE49-F238E27FC236}">
                <a16:creationId xmlns:a16="http://schemas.microsoft.com/office/drawing/2014/main" id="{3D79498D-0636-F009-62D2-98E245CC987A}"/>
              </a:ext>
            </a:extLst>
          </p:cNvPr>
          <p:cNvSpPr>
            <a:spLocks noGrp="1"/>
          </p:cNvSpPr>
          <p:nvPr>
            <p:ph type="subTitle" idx="1"/>
          </p:nvPr>
        </p:nvSpPr>
        <p:spPr>
          <a:xfrm>
            <a:off x="1078992" y="5431808"/>
            <a:ext cx="10351006" cy="491319"/>
          </a:xfrm>
        </p:spPr>
        <p:txBody>
          <a:bodyPr>
            <a:normAutofit/>
          </a:bodyPr>
          <a:lstStyle/>
          <a:p>
            <a:endParaRPr lang="en-US"/>
          </a:p>
        </p:txBody>
      </p:sp>
      <p:sp>
        <p:nvSpPr>
          <p:cNvPr id="11" name="Freeform 6">
            <a:extLst>
              <a:ext uri="{FF2B5EF4-FFF2-40B4-BE49-F238E27FC236}">
                <a16:creationId xmlns:a16="http://schemas.microsoft.com/office/drawing/2014/main" id="{477C895C-E17A-D712-5873-A6B077774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60640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FDC3BA0C-88C3-10FB-742A-B5BD1CA18D0A}"/>
            </a:ext>
          </a:extLst>
        </p:cNvPr>
        <p:cNvGrpSpPr/>
        <p:nvPr/>
      </p:nvGrpSpPr>
      <p:grpSpPr>
        <a:xfrm>
          <a:off x="0" y="0"/>
          <a:ext cx="0" cy="0"/>
          <a:chOff x="0" y="0"/>
          <a:chExt cx="0" cy="0"/>
        </a:xfrm>
      </p:grpSpPr>
      <p:pic>
        <p:nvPicPr>
          <p:cNvPr id="5" name="Picture 4" descr="A screenshot of a cellphone&#10;&#10;AI-generated content may be incorrect.">
            <a:extLst>
              <a:ext uri="{FF2B5EF4-FFF2-40B4-BE49-F238E27FC236}">
                <a16:creationId xmlns:a16="http://schemas.microsoft.com/office/drawing/2014/main" id="{9244CAFE-FDB5-3D2B-4BD0-0B3F0CE127F8}"/>
              </a:ext>
            </a:extLst>
          </p:cNvPr>
          <p:cNvPicPr>
            <a:picLocks noChangeAspect="1"/>
          </p:cNvPicPr>
          <p:nvPr/>
        </p:nvPicPr>
        <p:blipFill>
          <a:blip r:embed="rId2"/>
          <a:stretch>
            <a:fillRect/>
          </a:stretch>
        </p:blipFill>
        <p:spPr>
          <a:xfrm>
            <a:off x="5058121" y="3672"/>
            <a:ext cx="7025723" cy="6858000"/>
          </a:xfrm>
          <a:prstGeom prst="rect">
            <a:avLst/>
          </a:prstGeom>
        </p:spPr>
      </p:pic>
      <p:sp>
        <p:nvSpPr>
          <p:cNvPr id="9" name="Title 1">
            <a:extLst>
              <a:ext uri="{FF2B5EF4-FFF2-40B4-BE49-F238E27FC236}">
                <a16:creationId xmlns:a16="http://schemas.microsoft.com/office/drawing/2014/main" id="{A3B85EE5-42A2-F49B-CAF9-1DFA554E5CF2}"/>
              </a:ext>
            </a:extLst>
          </p:cNvPr>
          <p:cNvSpPr txBox="1">
            <a:spLocks/>
          </p:cNvSpPr>
          <p:nvPr/>
        </p:nvSpPr>
        <p:spPr>
          <a:xfrm>
            <a:off x="259298" y="555539"/>
            <a:ext cx="4433303" cy="547185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a:lstStyle>
          <a:p>
            <a:r>
              <a:rPr lang="en-US" sz="4000" u="sng">
                <a:solidFill>
                  <a:schemeClr val="bg1"/>
                </a:solidFill>
              </a:rPr>
              <a:t>Policy debate</a:t>
            </a:r>
            <a:endParaRPr lang="en-US" sz="4000">
              <a:solidFill>
                <a:schemeClr val="bg1"/>
              </a:solidFill>
            </a:endParaRPr>
          </a:p>
          <a:p>
            <a:br>
              <a:rPr lang="en-US" sz="4000">
                <a:solidFill>
                  <a:schemeClr val="bg1"/>
                </a:solidFill>
              </a:rPr>
            </a:br>
            <a:r>
              <a:rPr lang="en-US" sz="4400" i="0">
                <a:solidFill>
                  <a:schemeClr val="bg1"/>
                </a:solidFill>
              </a:rPr>
              <a:t>Should we pass a bell-to-bell phone ban law?</a:t>
            </a:r>
          </a:p>
        </p:txBody>
      </p:sp>
    </p:spTree>
    <p:extLst>
      <p:ext uri="{BB962C8B-B14F-4D97-AF65-F5344CB8AC3E}">
        <p14:creationId xmlns:p14="http://schemas.microsoft.com/office/powerpoint/2010/main" val="102511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F8B3373-386E-4523-088E-F736595A32A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76CBF0-B436-4FAA-B7CE-44558AB33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7524F-6BEF-6A22-D150-406D2A83F9F9}"/>
              </a:ext>
            </a:extLst>
          </p:cNvPr>
          <p:cNvSpPr>
            <a:spLocks noGrp="1"/>
          </p:cNvSpPr>
          <p:nvPr>
            <p:ph type="ctrTitle"/>
          </p:nvPr>
        </p:nvSpPr>
        <p:spPr>
          <a:xfrm>
            <a:off x="296902" y="350511"/>
            <a:ext cx="11490445" cy="960464"/>
          </a:xfrm>
        </p:spPr>
        <p:txBody>
          <a:bodyPr>
            <a:normAutofit/>
          </a:bodyPr>
          <a:lstStyle/>
          <a:p>
            <a:pPr>
              <a:lnSpc>
                <a:spcPct val="150000"/>
              </a:lnSpc>
            </a:pPr>
            <a:r>
              <a:rPr lang="en-US" sz="3600" b="1">
                <a:solidFill>
                  <a:schemeClr val="accent2">
                    <a:lumMod val="60000"/>
                    <a:lumOff val="40000"/>
                  </a:schemeClr>
                </a:solidFill>
              </a:rPr>
              <a:t>"...And turn off the damn smartphone.”   - Gov.</a:t>
            </a:r>
            <a:r>
              <a:rPr lang="zh-CN" altLang="en-US" sz="3600" b="1">
                <a:solidFill>
                  <a:schemeClr val="accent2">
                    <a:lumMod val="60000"/>
                    <a:lumOff val="40000"/>
                  </a:schemeClr>
                </a:solidFill>
              </a:rPr>
              <a:t> </a:t>
            </a:r>
            <a:r>
              <a:rPr lang="en-US" sz="3600" b="1">
                <a:solidFill>
                  <a:schemeClr val="accent2">
                    <a:lumMod val="60000"/>
                    <a:lumOff val="40000"/>
                  </a:schemeClr>
                </a:solidFill>
              </a:rPr>
              <a:t>Lamont</a:t>
            </a:r>
            <a:endParaRPr lang="zh-CN" altLang="en-US" sz="3600">
              <a:solidFill>
                <a:schemeClr val="accent2">
                  <a:lumMod val="60000"/>
                  <a:lumOff val="40000"/>
                </a:schemeClr>
              </a:solidFill>
            </a:endParaRPr>
          </a:p>
        </p:txBody>
      </p:sp>
      <p:sp>
        <p:nvSpPr>
          <p:cNvPr id="11" name="Freeform 6">
            <a:extLst>
              <a:ext uri="{FF2B5EF4-FFF2-40B4-BE49-F238E27FC236}">
                <a16:creationId xmlns:a16="http://schemas.microsoft.com/office/drawing/2014/main" id="{FA402014-A085-5814-4070-20FEB99B4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6" name="文本框 5">
            <a:extLst>
              <a:ext uri="{FF2B5EF4-FFF2-40B4-BE49-F238E27FC236}">
                <a16:creationId xmlns:a16="http://schemas.microsoft.com/office/drawing/2014/main" id="{009C36A8-4B2F-AB47-04E0-994DFFE759BA}"/>
              </a:ext>
            </a:extLst>
          </p:cNvPr>
          <p:cNvSpPr txBox="1"/>
          <p:nvPr/>
        </p:nvSpPr>
        <p:spPr>
          <a:xfrm>
            <a:off x="403568" y="1537752"/>
            <a:ext cx="11580826" cy="60631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ltLang="zh-CN" sz="2400" u="sng">
                <a:latin typeface="Sitka Banner"/>
                <a:ea typeface="+mn-lt"/>
                <a:cs typeface="+mn-lt"/>
              </a:rPr>
              <a:t>In Connecticut</a:t>
            </a:r>
            <a:endParaRPr lang="zh-CN" sz="2400" u="sng"/>
          </a:p>
          <a:p>
            <a:pPr marL="285750">
              <a:lnSpc>
                <a:spcPct val="150000"/>
              </a:lnSpc>
            </a:pPr>
            <a:r>
              <a:rPr lang="zh-CN" sz="2000" b="1">
                <a:latin typeface="Sitka Banner"/>
                <a:ea typeface="+mn-lt"/>
                <a:cs typeface="+mn-lt"/>
              </a:rPr>
              <a:t>2024</a:t>
            </a:r>
            <a:r>
              <a:rPr lang="zh-CN" sz="2000">
                <a:latin typeface="Sitka Banner"/>
                <a:ea typeface="+mn-lt"/>
                <a:cs typeface="+mn-lt"/>
              </a:rPr>
              <a:t> </a:t>
            </a:r>
            <a:r>
              <a:rPr lang="en-US" altLang="zh-CN" sz="2000">
                <a:latin typeface="Sitka Banner"/>
                <a:ea typeface="+mn-lt"/>
                <a:cs typeface="+mn-lt"/>
              </a:rPr>
              <a:t>-</a:t>
            </a:r>
            <a:r>
              <a:rPr lang="zh-CN" altLang="en-US" sz="2000">
                <a:latin typeface="Sitka Banner"/>
                <a:ea typeface="+mn-lt"/>
                <a:cs typeface="+mn-lt"/>
              </a:rPr>
              <a:t> </a:t>
            </a:r>
            <a:r>
              <a:rPr lang="zh-CN" sz="2000">
                <a:latin typeface="Sitka Banner"/>
                <a:ea typeface="+mn-lt"/>
                <a:cs typeface="+mn-lt"/>
              </a:rPr>
              <a:t>CT’s State Board of Education recommend</a:t>
            </a:r>
            <a:r>
              <a:rPr lang="en-US" altLang="zh-CN" sz="2000">
                <a:latin typeface="Sitka Banner"/>
                <a:ea typeface="+mn-lt"/>
                <a:cs typeface="+mn-lt"/>
              </a:rPr>
              <a:t>s</a:t>
            </a:r>
            <a:r>
              <a:rPr lang="zh-CN" sz="2000">
                <a:latin typeface="Sitka Banner"/>
                <a:ea typeface="+mn-lt"/>
                <a:cs typeface="+mn-lt"/>
              </a:rPr>
              <a:t> heavy restrictions for elementary/middle, with more flexibility for high school. </a:t>
            </a:r>
            <a:endParaRPr lang="zh-CN" sz="2000">
              <a:latin typeface="Sitka Banner"/>
            </a:endParaRPr>
          </a:p>
          <a:p>
            <a:pPr marL="285750">
              <a:lnSpc>
                <a:spcPct val="150000"/>
              </a:lnSpc>
            </a:pPr>
            <a:r>
              <a:rPr lang="zh-CN" sz="2000" b="1">
                <a:latin typeface="Sitka Banner"/>
                <a:ea typeface="+mn-lt"/>
                <a:cs typeface="+mn-lt"/>
              </a:rPr>
              <a:t>2025 </a:t>
            </a:r>
            <a:r>
              <a:rPr lang="zh-CN" altLang="en-US" sz="2000">
                <a:latin typeface="Sitka Banner"/>
                <a:ea typeface="+mn-lt"/>
                <a:cs typeface="+mn-lt"/>
              </a:rPr>
              <a:t> </a:t>
            </a:r>
            <a:r>
              <a:rPr lang="en-US" altLang="zh-CN" sz="2000">
                <a:latin typeface="Sitka Banner"/>
                <a:ea typeface="+mn-lt"/>
                <a:cs typeface="+mn-lt"/>
              </a:rPr>
              <a:t>-</a:t>
            </a:r>
            <a:r>
              <a:rPr lang="zh-CN" altLang="en-US" sz="2000">
                <a:latin typeface="Sitka Banner"/>
                <a:ea typeface="+mn-lt"/>
                <a:cs typeface="+mn-lt"/>
              </a:rPr>
              <a:t>  </a:t>
            </a:r>
            <a:r>
              <a:rPr lang="zh-CN" sz="2000">
                <a:latin typeface="Sitka Banner"/>
                <a:ea typeface="+mn-lt"/>
                <a:cs typeface="+mn-lt"/>
              </a:rPr>
              <a:t> multiple bills introduced </a:t>
            </a:r>
            <a:r>
              <a:rPr lang="en-US" altLang="zh-CN" sz="2000">
                <a:latin typeface="Sitka Banner"/>
                <a:ea typeface="+mn-lt"/>
                <a:cs typeface="+mn-lt"/>
              </a:rPr>
              <a:t>in</a:t>
            </a:r>
            <a:r>
              <a:rPr lang="zh-CN" altLang="en-US" sz="2000">
                <a:latin typeface="Sitka Banner"/>
                <a:ea typeface="+mn-lt"/>
                <a:cs typeface="+mn-lt"/>
              </a:rPr>
              <a:t> </a:t>
            </a:r>
            <a:r>
              <a:rPr lang="en-US" altLang="zh-CN" sz="2000">
                <a:latin typeface="Sitka Banner"/>
                <a:ea typeface="+mn-lt"/>
                <a:cs typeface="+mn-lt"/>
              </a:rPr>
              <a:t>the</a:t>
            </a:r>
            <a:r>
              <a:rPr lang="zh-CN" altLang="en-US" sz="2000">
                <a:latin typeface="Sitka Banner"/>
                <a:ea typeface="+mn-lt"/>
                <a:cs typeface="+mn-lt"/>
              </a:rPr>
              <a:t> </a:t>
            </a:r>
            <a:r>
              <a:rPr lang="en-US" altLang="zh-CN" sz="2000">
                <a:latin typeface="Sitka Banner"/>
                <a:ea typeface="+mn-lt"/>
                <a:cs typeface="+mn-lt"/>
              </a:rPr>
              <a:t>CT</a:t>
            </a:r>
            <a:r>
              <a:rPr lang="zh-CN" altLang="en-US" sz="2000">
                <a:latin typeface="Sitka Banner"/>
                <a:ea typeface="+mn-lt"/>
                <a:cs typeface="+mn-lt"/>
              </a:rPr>
              <a:t> </a:t>
            </a:r>
            <a:r>
              <a:rPr lang="en-US" altLang="zh-CN" sz="2000">
                <a:latin typeface="Sitka Banner"/>
                <a:ea typeface="+mn-lt"/>
                <a:cs typeface="+mn-lt"/>
              </a:rPr>
              <a:t>legislature </a:t>
            </a:r>
            <a:r>
              <a:rPr lang="zh-CN" sz="2000">
                <a:latin typeface="Sitka Banner"/>
                <a:ea typeface="+mn-lt"/>
                <a:cs typeface="+mn-lt"/>
              </a:rPr>
              <a:t>a</a:t>
            </a:r>
            <a:r>
              <a:rPr lang="en-US" altLang="zh-CN" sz="2000">
                <a:latin typeface="Sitka Banner"/>
                <a:ea typeface="+mn-lt"/>
                <a:cs typeface="+mn-lt"/>
              </a:rPr>
              <a:t>b</a:t>
            </a:r>
            <a:r>
              <a:rPr lang="zh-CN" sz="2000">
                <a:latin typeface="Sitka Banner"/>
                <a:ea typeface="+mn-lt"/>
                <a:cs typeface="+mn-lt"/>
              </a:rPr>
              <a:t>ou</a:t>
            </a:r>
            <a:r>
              <a:rPr lang="en-US" altLang="zh-CN" sz="2000">
                <a:latin typeface="Sitka Banner"/>
                <a:ea typeface="+mn-lt"/>
                <a:cs typeface="+mn-lt"/>
              </a:rPr>
              <a:t>t </a:t>
            </a:r>
            <a:r>
              <a:rPr lang="zh-CN" sz="2000">
                <a:latin typeface="Sitka Banner"/>
                <a:ea typeface="+mn-lt"/>
                <a:cs typeface="+mn-lt"/>
              </a:rPr>
              <a:t>limiting</a:t>
            </a:r>
            <a:r>
              <a:rPr lang="zh-CN" altLang="en-US" sz="2000">
                <a:latin typeface="Sitka Banner"/>
                <a:ea typeface="+mn-lt"/>
                <a:cs typeface="+mn-lt"/>
              </a:rPr>
              <a:t> </a:t>
            </a:r>
            <a:r>
              <a:rPr lang="zh-CN" sz="2000">
                <a:latin typeface="Sitka Banner"/>
                <a:ea typeface="+mn-lt"/>
                <a:cs typeface="+mn-lt"/>
              </a:rPr>
              <a:t> phone use in schools.</a:t>
            </a:r>
            <a:endParaRPr lang="zh-CN" sz="2000">
              <a:latin typeface="Sitka Banner"/>
            </a:endParaRPr>
          </a:p>
          <a:p>
            <a:pPr marL="285750">
              <a:lnSpc>
                <a:spcPct val="150000"/>
              </a:lnSpc>
            </a:pPr>
            <a:r>
              <a:rPr lang="zh-CN" sz="2000" b="1">
                <a:latin typeface="Sitka Banner"/>
                <a:ea typeface="+mn-lt"/>
                <a:cs typeface="+mn-lt"/>
              </a:rPr>
              <a:t>2026</a:t>
            </a:r>
            <a:r>
              <a:rPr lang="zh-CN" sz="2000">
                <a:latin typeface="Sitka Banner"/>
                <a:ea typeface="+mn-lt"/>
                <a:cs typeface="+mn-lt"/>
              </a:rPr>
              <a:t> </a:t>
            </a:r>
            <a:r>
              <a:rPr lang="zh-CN" altLang="en-US" sz="2000">
                <a:latin typeface="Sitka Banner"/>
                <a:ea typeface="+mn-lt"/>
                <a:cs typeface="+mn-lt"/>
              </a:rPr>
              <a:t> </a:t>
            </a:r>
            <a:r>
              <a:rPr lang="en-US" altLang="zh-CN" sz="2000">
                <a:latin typeface="Sitka Banner"/>
                <a:ea typeface="+mn-lt"/>
                <a:cs typeface="+mn-lt"/>
              </a:rPr>
              <a:t>-</a:t>
            </a:r>
            <a:r>
              <a:rPr lang="zh-CN" altLang="en-US" sz="2000">
                <a:latin typeface="Sitka Banner"/>
                <a:ea typeface="+mn-lt"/>
                <a:cs typeface="+mn-lt"/>
              </a:rPr>
              <a:t> </a:t>
            </a:r>
            <a:r>
              <a:rPr lang="zh-CN" sz="2000">
                <a:latin typeface="Sitka Banner"/>
                <a:ea typeface="+mn-lt"/>
                <a:cs typeface="+mn-lt"/>
              </a:rPr>
              <a:t>Gov. Lamont publicly backed a “bell-to-bell” no-phone approach and lawmakers discussed a statewide ban again at the start of the 2026 session</a:t>
            </a:r>
            <a:endParaRPr lang="zh-CN" sz="2000">
              <a:latin typeface="Sitka Banner"/>
            </a:endParaRPr>
          </a:p>
          <a:p>
            <a:pPr marL="285750">
              <a:lnSpc>
                <a:spcPct val="150000"/>
              </a:lnSpc>
            </a:pPr>
            <a:endParaRPr lang="zh-CN" altLang="en-US" sz="2000">
              <a:latin typeface="Sitka Banner"/>
              <a:ea typeface="+mn-lt"/>
              <a:cs typeface="+mn-lt"/>
            </a:endParaRPr>
          </a:p>
          <a:p>
            <a:pPr>
              <a:lnSpc>
                <a:spcPct val="150000"/>
              </a:lnSpc>
            </a:pPr>
            <a:r>
              <a:rPr lang="en-US" altLang="zh-CN" sz="2400" u="sng">
                <a:latin typeface="Sitka Banner"/>
                <a:ea typeface="+mn-lt"/>
                <a:cs typeface="+mn-lt"/>
              </a:rPr>
              <a:t>In New</a:t>
            </a:r>
            <a:r>
              <a:rPr lang="zh-CN" sz="2400" u="sng">
                <a:latin typeface="Sitka Banner"/>
                <a:ea typeface="+mn-lt"/>
                <a:cs typeface="+mn-lt"/>
              </a:rPr>
              <a:t> </a:t>
            </a:r>
            <a:r>
              <a:rPr lang="en-US" altLang="zh-CN" sz="2400" u="sng">
                <a:latin typeface="Sitka Banner"/>
                <a:ea typeface="+mn-lt"/>
                <a:cs typeface="+mn-lt"/>
              </a:rPr>
              <a:t>Haven</a:t>
            </a:r>
            <a:endParaRPr lang="zh-CN" sz="2400" u="sng">
              <a:latin typeface="Sitka Banner"/>
            </a:endParaRPr>
          </a:p>
          <a:p>
            <a:pPr marL="285750">
              <a:lnSpc>
                <a:spcPct val="150000"/>
              </a:lnSpc>
            </a:pPr>
            <a:r>
              <a:rPr lang="en-US" altLang="zh-CN" sz="2000" b="1">
                <a:latin typeface="Sitka Banner"/>
                <a:ea typeface="+mn-lt"/>
                <a:cs typeface="+mn-lt"/>
              </a:rPr>
              <a:t>Jan</a:t>
            </a:r>
            <a:r>
              <a:rPr lang="zh-CN" sz="2000" b="1">
                <a:latin typeface="Sitka Banner"/>
                <a:ea typeface="+mn-lt"/>
                <a:cs typeface="+mn-lt"/>
              </a:rPr>
              <a:t> </a:t>
            </a:r>
            <a:r>
              <a:rPr lang="en-US" altLang="zh-CN" sz="2000" b="1">
                <a:latin typeface="Sitka Banner"/>
                <a:ea typeface="+mn-lt"/>
                <a:cs typeface="+mn-lt"/>
              </a:rPr>
              <a:t>2025</a:t>
            </a:r>
            <a:r>
              <a:rPr lang="en-US" altLang="zh-CN" sz="2000">
                <a:latin typeface="Sitka Banner"/>
                <a:ea typeface="+mn-lt"/>
                <a:cs typeface="+mn-lt"/>
              </a:rPr>
              <a:t> - New</a:t>
            </a:r>
            <a:r>
              <a:rPr lang="zh-CN" sz="2000">
                <a:latin typeface="Sitka Banner"/>
                <a:ea typeface="+mn-lt"/>
                <a:cs typeface="+mn-lt"/>
              </a:rPr>
              <a:t> </a:t>
            </a:r>
            <a:r>
              <a:rPr lang="en-US" altLang="zh-CN" sz="2000">
                <a:latin typeface="Sitka Banner"/>
                <a:ea typeface="+mn-lt"/>
                <a:cs typeface="+mn-lt"/>
              </a:rPr>
              <a:t>Haven</a:t>
            </a:r>
            <a:r>
              <a:rPr lang="zh-CN" sz="2000">
                <a:latin typeface="Sitka Banner"/>
                <a:ea typeface="+mn-lt"/>
                <a:cs typeface="+mn-lt"/>
              </a:rPr>
              <a:t> </a:t>
            </a:r>
            <a:r>
              <a:rPr lang="en-US" altLang="zh-CN" sz="2000">
                <a:latin typeface="Sitka Banner"/>
                <a:ea typeface="+mn-lt"/>
                <a:cs typeface="+mn-lt"/>
              </a:rPr>
              <a:t>Public</a:t>
            </a:r>
            <a:r>
              <a:rPr lang="zh-CN" sz="2000">
                <a:latin typeface="Sitka Banner"/>
                <a:ea typeface="+mn-lt"/>
                <a:cs typeface="+mn-lt"/>
              </a:rPr>
              <a:t> </a:t>
            </a:r>
            <a:r>
              <a:rPr lang="en-US" altLang="zh-CN" sz="2000">
                <a:latin typeface="Sitka Banner"/>
                <a:ea typeface="+mn-lt"/>
                <a:cs typeface="+mn-lt"/>
              </a:rPr>
              <a:t>Schools</a:t>
            </a:r>
            <a:r>
              <a:rPr lang="zh-CN" sz="2000">
                <a:latin typeface="Sitka Banner"/>
                <a:ea typeface="+mn-lt"/>
                <a:cs typeface="+mn-lt"/>
              </a:rPr>
              <a:t> </a:t>
            </a:r>
            <a:r>
              <a:rPr lang="en-US" altLang="zh-CN" sz="2000">
                <a:latin typeface="Sitka Banner"/>
                <a:ea typeface="+mn-lt"/>
                <a:cs typeface="+mn-lt"/>
              </a:rPr>
              <a:t>planned</a:t>
            </a:r>
            <a:r>
              <a:rPr lang="zh-CN" sz="2000">
                <a:latin typeface="Sitka Banner"/>
                <a:ea typeface="+mn-lt"/>
                <a:cs typeface="+mn-lt"/>
              </a:rPr>
              <a:t> </a:t>
            </a:r>
            <a:r>
              <a:rPr lang="en-US" altLang="zh-CN" sz="2000">
                <a:latin typeface="Sitka Banner"/>
                <a:ea typeface="+mn-lt"/>
                <a:cs typeface="+mn-lt"/>
              </a:rPr>
              <a:t>a</a:t>
            </a:r>
            <a:r>
              <a:rPr lang="zh-CN" sz="2000">
                <a:latin typeface="Sitka Banner"/>
                <a:ea typeface="+mn-lt"/>
                <a:cs typeface="+mn-lt"/>
              </a:rPr>
              <a:t> </a:t>
            </a:r>
            <a:r>
              <a:rPr lang="en-US" altLang="zh-CN" sz="2000">
                <a:latin typeface="Sitka Banner"/>
                <a:ea typeface="+mn-lt"/>
                <a:cs typeface="+mn-lt"/>
              </a:rPr>
              <a:t>cell</a:t>
            </a:r>
            <a:r>
              <a:rPr lang="zh-CN" sz="2000">
                <a:latin typeface="Sitka Banner"/>
                <a:ea typeface="+mn-lt"/>
                <a:cs typeface="+mn-lt"/>
              </a:rPr>
              <a:t> </a:t>
            </a:r>
            <a:r>
              <a:rPr lang="en-US" altLang="zh-CN" sz="2000">
                <a:latin typeface="Sitka Banner"/>
                <a:ea typeface="+mn-lt"/>
                <a:cs typeface="+mn-lt"/>
              </a:rPr>
              <a:t>phone-free</a:t>
            </a:r>
            <a:r>
              <a:rPr lang="zh-CN" sz="2000">
                <a:latin typeface="Sitka Banner"/>
                <a:ea typeface="+mn-lt"/>
                <a:cs typeface="+mn-lt"/>
              </a:rPr>
              <a:t> </a:t>
            </a:r>
            <a:r>
              <a:rPr lang="en-US" altLang="zh-CN" sz="2000">
                <a:latin typeface="Sitka Banner"/>
                <a:ea typeface="+mn-lt"/>
                <a:cs typeface="+mn-lt"/>
              </a:rPr>
              <a:t>policy</a:t>
            </a:r>
            <a:r>
              <a:rPr lang="zh-CN" sz="2000">
                <a:latin typeface="Sitka Banner"/>
                <a:ea typeface="+mn-lt"/>
                <a:cs typeface="+mn-lt"/>
              </a:rPr>
              <a:t> </a:t>
            </a:r>
            <a:r>
              <a:rPr lang="en-US" altLang="zh-CN" sz="2000">
                <a:latin typeface="Sitka Banner"/>
                <a:ea typeface="+mn-lt"/>
                <a:cs typeface="+mn-lt"/>
              </a:rPr>
              <a:t>starting</a:t>
            </a:r>
            <a:r>
              <a:rPr lang="zh-CN" sz="2000">
                <a:latin typeface="Sitka Banner"/>
                <a:ea typeface="+mn-lt"/>
                <a:cs typeface="+mn-lt"/>
              </a:rPr>
              <a:t> </a:t>
            </a:r>
            <a:r>
              <a:rPr lang="en-US" altLang="zh-CN" sz="2000">
                <a:latin typeface="Sitka Banner"/>
                <a:ea typeface="+mn-lt"/>
                <a:cs typeface="+mn-lt"/>
              </a:rPr>
              <a:t>with</a:t>
            </a:r>
            <a:r>
              <a:rPr lang="zh-CN" sz="2000">
                <a:latin typeface="Sitka Banner"/>
                <a:ea typeface="+mn-lt"/>
                <a:cs typeface="+mn-lt"/>
              </a:rPr>
              <a:t> </a:t>
            </a:r>
            <a:r>
              <a:rPr lang="en-US" altLang="zh-CN" sz="2000">
                <a:latin typeface="Sitka Banner"/>
                <a:ea typeface="+mn-lt"/>
                <a:cs typeface="+mn-lt"/>
              </a:rPr>
              <a:t>elementary</a:t>
            </a:r>
            <a:r>
              <a:rPr lang="zh-CN" sz="2000">
                <a:latin typeface="Sitka Banner"/>
                <a:ea typeface="+mn-lt"/>
                <a:cs typeface="+mn-lt"/>
              </a:rPr>
              <a:t> </a:t>
            </a:r>
            <a:r>
              <a:rPr lang="en-US" altLang="zh-CN" sz="2000">
                <a:latin typeface="Sitka Banner"/>
                <a:ea typeface="+mn-lt"/>
                <a:cs typeface="+mn-lt"/>
              </a:rPr>
              <a:t>+</a:t>
            </a:r>
            <a:r>
              <a:rPr lang="zh-CN" sz="2000">
                <a:latin typeface="Sitka Banner"/>
                <a:ea typeface="+mn-lt"/>
                <a:cs typeface="+mn-lt"/>
              </a:rPr>
              <a:t> </a:t>
            </a:r>
            <a:r>
              <a:rPr lang="en-US" altLang="zh-CN" sz="2000">
                <a:latin typeface="Sitka Banner"/>
                <a:ea typeface="+mn-lt"/>
                <a:cs typeface="+mn-lt"/>
              </a:rPr>
              <a:t>middle</a:t>
            </a:r>
            <a:r>
              <a:rPr lang="zh-CN" sz="2000">
                <a:latin typeface="Sitka Banner"/>
                <a:ea typeface="+mn-lt"/>
                <a:cs typeface="+mn-lt"/>
              </a:rPr>
              <a:t> </a:t>
            </a:r>
            <a:r>
              <a:rPr lang="en-US" altLang="zh-CN" sz="2000">
                <a:latin typeface="Sitka Banner"/>
                <a:ea typeface="+mn-lt"/>
                <a:cs typeface="+mn-lt"/>
              </a:rPr>
              <a:t>schools</a:t>
            </a:r>
            <a:r>
              <a:rPr lang="zh-CN" sz="2000">
                <a:latin typeface="Sitka Banner"/>
                <a:ea typeface="+mn-lt"/>
                <a:cs typeface="+mn-lt"/>
              </a:rPr>
              <a:t> </a:t>
            </a:r>
            <a:endParaRPr lang="zh-CN" sz="2000">
              <a:latin typeface="Sitka Banner"/>
            </a:endParaRPr>
          </a:p>
          <a:p>
            <a:pPr marL="285750">
              <a:lnSpc>
                <a:spcPct val="150000"/>
              </a:lnSpc>
            </a:pPr>
            <a:r>
              <a:rPr lang="en-US" altLang="zh-CN" sz="2000">
                <a:latin typeface="Sitka Banner"/>
                <a:ea typeface="+mn-lt"/>
                <a:cs typeface="+mn-lt"/>
              </a:rPr>
              <a:t>Fall</a:t>
            </a:r>
            <a:r>
              <a:rPr lang="zh-CN" sz="2000">
                <a:latin typeface="Sitka Banner"/>
                <a:ea typeface="+mn-lt"/>
                <a:cs typeface="+mn-lt"/>
              </a:rPr>
              <a:t> </a:t>
            </a:r>
            <a:r>
              <a:rPr lang="en-US" altLang="zh-CN" sz="2000">
                <a:latin typeface="Sitka Banner"/>
                <a:ea typeface="+mn-lt"/>
                <a:cs typeface="+mn-lt"/>
              </a:rPr>
              <a:t>2025 - reporting</a:t>
            </a:r>
            <a:r>
              <a:rPr lang="zh-CN" sz="2000">
                <a:latin typeface="Sitka Banner"/>
                <a:ea typeface="+mn-lt"/>
                <a:cs typeface="+mn-lt"/>
              </a:rPr>
              <a:t> </a:t>
            </a:r>
            <a:r>
              <a:rPr lang="en-US" altLang="zh-CN" sz="2000">
                <a:latin typeface="Sitka Banner"/>
                <a:ea typeface="+mn-lt"/>
                <a:cs typeface="+mn-lt"/>
              </a:rPr>
              <a:t>indicates</a:t>
            </a:r>
            <a:r>
              <a:rPr lang="zh-CN" sz="2000">
                <a:latin typeface="Sitka Banner"/>
                <a:ea typeface="+mn-lt"/>
                <a:cs typeface="+mn-lt"/>
              </a:rPr>
              <a:t> </a:t>
            </a:r>
            <a:r>
              <a:rPr lang="en-US" altLang="zh-CN" sz="2000">
                <a:latin typeface="Sitka Banner"/>
                <a:ea typeface="+mn-lt"/>
                <a:cs typeface="+mn-lt"/>
              </a:rPr>
              <a:t>NHPS</a:t>
            </a:r>
            <a:r>
              <a:rPr lang="zh-CN" sz="2000">
                <a:latin typeface="Sitka Banner"/>
                <a:ea typeface="+mn-lt"/>
                <a:cs typeface="+mn-lt"/>
              </a:rPr>
              <a:t> </a:t>
            </a:r>
            <a:r>
              <a:rPr lang="en-US" altLang="zh-CN" sz="2000">
                <a:latin typeface="Sitka Banner"/>
                <a:ea typeface="+mn-lt"/>
                <a:cs typeface="+mn-lt"/>
              </a:rPr>
              <a:t>expanded</a:t>
            </a:r>
            <a:r>
              <a:rPr lang="zh-CN" sz="2000">
                <a:latin typeface="Sitka Banner"/>
                <a:ea typeface="+mn-lt"/>
                <a:cs typeface="+mn-lt"/>
              </a:rPr>
              <a:t> </a:t>
            </a:r>
            <a:r>
              <a:rPr lang="en-US" altLang="zh-CN" sz="2000">
                <a:latin typeface="Sitka Banner"/>
                <a:ea typeface="+mn-lt"/>
                <a:cs typeface="+mn-lt"/>
              </a:rPr>
              <a:t>restrictions</a:t>
            </a:r>
            <a:r>
              <a:rPr lang="zh-CN" sz="2000">
                <a:latin typeface="Sitka Banner"/>
                <a:ea typeface="+mn-lt"/>
                <a:cs typeface="+mn-lt"/>
              </a:rPr>
              <a:t> </a:t>
            </a:r>
            <a:r>
              <a:rPr lang="en-US" altLang="zh-CN" sz="2000">
                <a:latin typeface="Sitka Banner"/>
                <a:ea typeface="+mn-lt"/>
                <a:cs typeface="+mn-lt"/>
              </a:rPr>
              <a:t>to</a:t>
            </a:r>
            <a:r>
              <a:rPr lang="zh-CN" sz="2000">
                <a:latin typeface="Sitka Banner"/>
                <a:ea typeface="+mn-lt"/>
                <a:cs typeface="+mn-lt"/>
              </a:rPr>
              <a:t> </a:t>
            </a:r>
            <a:r>
              <a:rPr lang="en-US" altLang="zh-CN" sz="2000">
                <a:latin typeface="Sitka Banner"/>
                <a:ea typeface="+mn-lt"/>
                <a:cs typeface="+mn-lt"/>
              </a:rPr>
              <a:t>high</a:t>
            </a:r>
            <a:r>
              <a:rPr lang="zh-CN" sz="2000">
                <a:latin typeface="Sitka Banner"/>
                <a:ea typeface="+mn-lt"/>
                <a:cs typeface="+mn-lt"/>
              </a:rPr>
              <a:t> </a:t>
            </a:r>
            <a:r>
              <a:rPr lang="en-US" altLang="zh-CN" sz="2000">
                <a:latin typeface="Sitka Banner"/>
                <a:ea typeface="+mn-lt"/>
                <a:cs typeface="+mn-lt"/>
              </a:rPr>
              <a:t>schools</a:t>
            </a:r>
            <a:r>
              <a:rPr lang="zh-CN" sz="2000">
                <a:latin typeface="Sitka Banner"/>
                <a:ea typeface="+mn-lt"/>
                <a:cs typeface="+mn-lt"/>
              </a:rPr>
              <a:t> </a:t>
            </a:r>
            <a:endParaRPr lang="en-US" altLang="zh-CN" sz="2000">
              <a:latin typeface="Sitka Banner"/>
            </a:endParaRPr>
          </a:p>
          <a:p>
            <a:pPr marL="285750" indent="-285750">
              <a:buFont typeface="Arial"/>
              <a:buChar char="•"/>
            </a:pPr>
            <a:endParaRPr lang="zh-CN" sz="2000">
              <a:latin typeface="Sitka Banner"/>
            </a:endParaRPr>
          </a:p>
          <a:p>
            <a:endParaRPr lang="zh-CN" altLang="en-US" sz="2000">
              <a:latin typeface="Sitka Banner"/>
            </a:endParaRPr>
          </a:p>
        </p:txBody>
      </p:sp>
    </p:spTree>
    <p:extLst>
      <p:ext uri="{BB962C8B-B14F-4D97-AF65-F5344CB8AC3E}">
        <p14:creationId xmlns:p14="http://schemas.microsoft.com/office/powerpoint/2010/main" val="2099170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909B3E6-F137-BB0A-6779-9F368747255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2D2189-0CE3-9747-D1A0-BDCDF202B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BA26BF66-280D-CA6B-8694-FDDB5E0B6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6" name="文本框 5">
            <a:extLst>
              <a:ext uri="{FF2B5EF4-FFF2-40B4-BE49-F238E27FC236}">
                <a16:creationId xmlns:a16="http://schemas.microsoft.com/office/drawing/2014/main" id="{DB517923-4131-FB82-724A-B326646230E7}"/>
              </a:ext>
            </a:extLst>
          </p:cNvPr>
          <p:cNvSpPr txBox="1"/>
          <p:nvPr/>
        </p:nvSpPr>
        <p:spPr>
          <a:xfrm>
            <a:off x="980105" y="990643"/>
            <a:ext cx="10022368" cy="4763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zh-CN" altLang="en-US"/>
          </a:p>
        </p:txBody>
      </p:sp>
      <p:sp>
        <p:nvSpPr>
          <p:cNvPr id="2" name="文本框 1">
            <a:extLst>
              <a:ext uri="{FF2B5EF4-FFF2-40B4-BE49-F238E27FC236}">
                <a16:creationId xmlns:a16="http://schemas.microsoft.com/office/drawing/2014/main" id="{F430E354-1E2C-8848-EE31-1A7D1C987D1D}"/>
              </a:ext>
            </a:extLst>
          </p:cNvPr>
          <p:cNvSpPr txBox="1"/>
          <p:nvPr/>
        </p:nvSpPr>
        <p:spPr>
          <a:xfrm>
            <a:off x="417362" y="1713894"/>
            <a:ext cx="5581649"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tLang="zh-CN" sz="2400">
              <a:latin typeface="Sitka Banner"/>
              <a:ea typeface="+mn-lt"/>
              <a:cs typeface="+mn-lt"/>
            </a:endParaRPr>
          </a:p>
          <a:p>
            <a:endParaRPr lang="en-US" altLang="zh-CN" sz="2400">
              <a:latin typeface="Calibri"/>
              <a:ea typeface="Calibri"/>
              <a:cs typeface="Calibri"/>
            </a:endParaRPr>
          </a:p>
          <a:p>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h</a:t>
            </a:r>
            <a:r>
              <a:rPr lang="zh-CN" sz="2400">
                <a:latin typeface="Calibri"/>
                <a:ea typeface="+mn-lt"/>
                <a:cs typeface="Calibri"/>
                <a:hlinkClick r:id="rId2">
                  <a:extLst>
                    <a:ext uri="{A12FA001-AC4F-418D-AE19-62706E023703}">
                      <ahyp:hlinkClr xmlns:ahyp="http://schemas.microsoft.com/office/drawing/2018/hyperlinkcolor" val="tx"/>
                    </a:ext>
                  </a:extLst>
                </a:hlinkClick>
              </a:rPr>
              <a:t>ttps://www.t</a:t>
            </a:r>
            <a:r>
              <a:rPr lang="en-US" altLang="zh-CN" sz="2400" err="1">
                <a:latin typeface="Calibri"/>
                <a:ea typeface="Calibri"/>
                <a:cs typeface="Calibri"/>
                <a:hlinkClick r:id="rId2">
                  <a:extLst>
                    <a:ext uri="{A12FA001-AC4F-418D-AE19-62706E023703}">
                      <ahyp:hlinkClr xmlns:ahyp="http://schemas.microsoft.com/office/drawing/2018/hyperlinkcolor" val="tx"/>
                    </a:ext>
                  </a:extLst>
                </a:hlinkClick>
              </a:rPr>
              <a:t>iktok</a:t>
            </a:r>
            <a:r>
              <a:rPr lang="zh-CN" sz="2400">
                <a:latin typeface="Calibri"/>
                <a:ea typeface="+mn-lt"/>
                <a:cs typeface="Calibri"/>
                <a:hlinkClick r:id="rId2">
                  <a:extLst>
                    <a:ext uri="{A12FA001-AC4F-418D-AE19-62706E023703}">
                      <ahyp:hlinkClr xmlns:ahyp="http://schemas.microsoft.com/office/drawing/2018/hyperlinkcolor" val="tx"/>
                    </a:ext>
                  </a:extLst>
                </a:hlinkClick>
              </a:rPr>
              <a:t>.com/</a:t>
            </a:r>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a:t>
            </a:r>
            <a:r>
              <a:rPr lang="zh-CN" sz="2400">
                <a:latin typeface="Calibri"/>
                <a:ea typeface="+mn-lt"/>
                <a:cs typeface="Calibri"/>
                <a:hlinkClick r:id="rId2">
                  <a:extLst>
                    <a:ext uri="{A12FA001-AC4F-418D-AE19-62706E023703}">
                      <ahyp:hlinkClr xmlns:ahyp="http://schemas.microsoft.com/office/drawing/2018/hyperlinkcolor" val="tx"/>
                    </a:ext>
                  </a:extLst>
                </a:hlinkClick>
              </a:rPr>
              <a:t>c</a:t>
            </a:r>
            <a:r>
              <a:rPr lang="en-US" altLang="zh-CN" sz="2400" err="1">
                <a:latin typeface="Calibri"/>
                <a:ea typeface="Calibri"/>
                <a:cs typeface="Calibri"/>
                <a:hlinkClick r:id="rId2">
                  <a:extLst>
                    <a:ext uri="{A12FA001-AC4F-418D-AE19-62706E023703}">
                      <ahyp:hlinkClr xmlns:ahyp="http://schemas.microsoft.com/office/drawing/2018/hyperlinkcolor" val="tx"/>
                    </a:ext>
                  </a:extLst>
                </a:hlinkClick>
              </a:rPr>
              <a:t>bssundaymorning</a:t>
            </a:r>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a:t>
            </a:r>
            <a:r>
              <a:rPr lang="zh-CN" sz="2400">
                <a:latin typeface="Calibri"/>
                <a:ea typeface="+mn-lt"/>
                <a:cs typeface="Calibri"/>
                <a:hlinkClick r:id="rId2">
                  <a:extLst>
                    <a:ext uri="{A12FA001-AC4F-418D-AE19-62706E023703}">
                      <ahyp:hlinkClr xmlns:ahyp="http://schemas.microsoft.com/office/drawing/2018/hyperlinkcolor" val="tx"/>
                    </a:ext>
                  </a:extLst>
                </a:hlinkClick>
              </a:rPr>
              <a:t>v</a:t>
            </a:r>
            <a:r>
              <a:rPr lang="en-US" altLang="zh-CN" sz="2400" err="1">
                <a:latin typeface="Calibri"/>
                <a:ea typeface="Calibri"/>
                <a:cs typeface="Calibri"/>
                <a:hlinkClick r:id="rId2">
                  <a:extLst>
                    <a:ext uri="{A12FA001-AC4F-418D-AE19-62706E023703}">
                      <ahyp:hlinkClr xmlns:ahyp="http://schemas.microsoft.com/office/drawing/2018/hyperlinkcolor" val="tx"/>
                    </a:ext>
                  </a:extLst>
                </a:hlinkClick>
              </a:rPr>
              <a:t>ideo</a:t>
            </a:r>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/75577</a:t>
            </a:r>
            <a:r>
              <a:rPr lang="zh-CN" sz="2400">
                <a:latin typeface="Calibri"/>
                <a:ea typeface="+mn-lt"/>
                <a:cs typeface="Calibri"/>
                <a:hlinkClick r:id="rId2">
                  <a:extLst>
                    <a:ext uri="{A12FA001-AC4F-418D-AE19-62706E023703}">
                      <ahyp:hlinkClr xmlns:ahyp="http://schemas.microsoft.com/office/drawing/2018/hyperlinkcolor" val="tx"/>
                    </a:ext>
                  </a:extLst>
                </a:hlinkClick>
              </a:rPr>
              <a:t>2</a:t>
            </a:r>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9</a:t>
            </a:r>
            <a:r>
              <a:rPr lang="zh-CN" sz="2400">
                <a:latin typeface="Calibri"/>
                <a:ea typeface="+mn-lt"/>
                <a:cs typeface="Calibri"/>
                <a:hlinkClick r:id="rId2">
                  <a:extLst>
                    <a:ext uri="{A12FA001-AC4F-418D-AE19-62706E023703}">
                      <ahyp:hlinkClr xmlns:ahyp="http://schemas.microsoft.com/office/drawing/2018/hyperlinkcolor" val="tx"/>
                    </a:ext>
                  </a:extLst>
                </a:hlinkClick>
              </a:rPr>
              <a:t>2</a:t>
            </a:r>
            <a:r>
              <a:rPr lang="en-US" altLang="zh-CN" sz="2400">
                <a:latin typeface="Calibri"/>
                <a:ea typeface="Calibri"/>
                <a:cs typeface="Calibri"/>
                <a:hlinkClick r:id="rId2">
                  <a:extLst>
                    <a:ext uri="{A12FA001-AC4F-418D-AE19-62706E023703}">
                      <ahyp:hlinkClr xmlns:ahyp="http://schemas.microsoft.com/office/drawing/2018/hyperlinkcolor" val="tx"/>
                    </a:ext>
                  </a:extLst>
                </a:hlinkClick>
              </a:rPr>
              <a:t>91417505079</a:t>
            </a:r>
            <a:endParaRPr lang="zh-CN">
              <a:latin typeface="Calibri"/>
              <a:cs typeface="Calibri"/>
            </a:endParaRPr>
          </a:p>
          <a:p>
            <a:endParaRPr lang="en-US" altLang="zh-CN" sz="2400">
              <a:latin typeface="Calibri"/>
              <a:ea typeface="Calibri"/>
              <a:cs typeface="Calibri"/>
            </a:endParaRPr>
          </a:p>
          <a:p>
            <a:r>
              <a:rPr lang="en-US" sz="2400">
                <a:ea typeface="+mn-lt"/>
                <a:cs typeface="+mn-lt"/>
              </a:rPr>
              <a:t>https://www.tiktok.com/@wfsbnews/video/7602419644909063455</a:t>
            </a:r>
            <a:endParaRPr lang="en-US"/>
          </a:p>
          <a:p>
            <a:endParaRPr lang="en-US" altLang="zh-CN" sz="2400">
              <a:latin typeface="Calibri"/>
              <a:ea typeface="Calibri"/>
              <a:cs typeface="Calibri"/>
            </a:endParaRPr>
          </a:p>
          <a:p>
            <a:endParaRPr lang="en-US" altLang="zh-CN" sz="2400">
              <a:latin typeface="Calibri"/>
              <a:ea typeface="Calibri"/>
              <a:cs typeface="Calibri"/>
            </a:endParaRPr>
          </a:p>
          <a:p>
            <a:r>
              <a:rPr lang="en-US" sz="2400">
                <a:latin typeface="Calibri"/>
                <a:ea typeface="Calibri"/>
                <a:cs typeface="Calibri"/>
              </a:rPr>
              <a:t>https://www.tiktok.com/@bridge.michigan/video/7605333341490941197</a:t>
            </a:r>
            <a:endParaRPr lang="en-US">
              <a:latin typeface="Calibri"/>
              <a:ea typeface="Calibri"/>
              <a:cs typeface="Calibri"/>
            </a:endParaRPr>
          </a:p>
          <a:p>
            <a:endParaRPr lang="en-US" altLang="zh-CN" sz="2400">
              <a:latin typeface="Sitka Banner"/>
              <a:ea typeface="+mn-lt"/>
              <a:cs typeface="+mn-lt"/>
            </a:endParaRPr>
          </a:p>
          <a:p>
            <a:br>
              <a:rPr lang="zh-CN">
                <a:ea typeface="+mn-lt"/>
                <a:cs typeface="+mn-lt"/>
              </a:rPr>
            </a:br>
            <a:endParaRPr lang="zh-CN" altLang="en-US" sz="2400">
              <a:latin typeface="Sitka Banner"/>
            </a:endParaRPr>
          </a:p>
        </p:txBody>
      </p:sp>
      <p:pic>
        <p:nvPicPr>
          <p:cNvPr id="5" name="Picture 6" descr="A phone on a stand&#10;&#10;AI-generated content may be incorrect.">
            <a:extLst>
              <a:ext uri="{FF2B5EF4-FFF2-40B4-BE49-F238E27FC236}">
                <a16:creationId xmlns:a16="http://schemas.microsoft.com/office/drawing/2014/main" id="{ADAE3F69-2DF6-15D6-562E-391CB7FE4529}"/>
              </a:ext>
            </a:extLst>
          </p:cNvPr>
          <p:cNvPicPr>
            <a:picLocks noChangeAspect="1"/>
          </p:cNvPicPr>
          <p:nvPr/>
        </p:nvPicPr>
        <p:blipFill>
          <a:blip r:embed="rId3"/>
          <a:stretch>
            <a:fillRect/>
          </a:stretch>
        </p:blipFill>
        <p:spPr>
          <a:xfrm>
            <a:off x="6813281" y="2044984"/>
            <a:ext cx="4814742" cy="3679535"/>
          </a:xfrm>
          <a:prstGeom prst="rect">
            <a:avLst/>
          </a:prstGeom>
        </p:spPr>
      </p:pic>
      <p:sp>
        <p:nvSpPr>
          <p:cNvPr id="7" name="Title 1">
            <a:extLst>
              <a:ext uri="{FF2B5EF4-FFF2-40B4-BE49-F238E27FC236}">
                <a16:creationId xmlns:a16="http://schemas.microsoft.com/office/drawing/2014/main" id="{AAA11A67-BA6A-7A06-D1FD-1A336BCA2F35}"/>
              </a:ext>
            </a:extLst>
          </p:cNvPr>
          <p:cNvSpPr>
            <a:spLocks noGrp="1"/>
          </p:cNvSpPr>
          <p:nvPr>
            <p:ph type="ctrTitle"/>
          </p:nvPr>
        </p:nvSpPr>
        <p:spPr>
          <a:xfrm>
            <a:off x="297389" y="396361"/>
            <a:ext cx="11113007" cy="1188351"/>
          </a:xfrm>
        </p:spPr>
        <p:txBody>
          <a:bodyPr>
            <a:normAutofit/>
          </a:bodyPr>
          <a:lstStyle/>
          <a:p>
            <a:pPr>
              <a:lnSpc>
                <a:spcPct val="150000"/>
              </a:lnSpc>
            </a:pPr>
            <a:r>
              <a:rPr lang="en-US" sz="4000" i="0"/>
              <a:t>Smartphone ban discussions in the media</a:t>
            </a:r>
          </a:p>
        </p:txBody>
      </p:sp>
    </p:spTree>
    <p:extLst>
      <p:ext uri="{BB962C8B-B14F-4D97-AF65-F5344CB8AC3E}">
        <p14:creationId xmlns:p14="http://schemas.microsoft.com/office/powerpoint/2010/main" val="3612838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14A453B-0EAA-A3CB-D859-3A033A4CF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6CC58-15AA-0368-AF64-A353FFCB1CD3}"/>
              </a:ext>
            </a:extLst>
          </p:cNvPr>
          <p:cNvSpPr>
            <a:spLocks noGrp="1"/>
          </p:cNvSpPr>
          <p:nvPr>
            <p:ph type="title"/>
          </p:nvPr>
        </p:nvSpPr>
        <p:spPr>
          <a:xfrm>
            <a:off x="758952" y="758952"/>
            <a:ext cx="10578539" cy="1208766"/>
          </a:xfrm>
        </p:spPr>
        <p:txBody>
          <a:bodyPr>
            <a:normAutofit/>
          </a:bodyPr>
          <a:lstStyle/>
          <a:p>
            <a:r>
              <a:rPr lang="en-US" sz="3600">
                <a:solidFill>
                  <a:schemeClr val="bg1"/>
                </a:solidFill>
              </a:rPr>
              <a:t>Policy debate:</a:t>
            </a:r>
            <a:br>
              <a:rPr lang="en-US" sz="3600"/>
            </a:br>
            <a:r>
              <a:rPr lang="en-US" sz="3600">
                <a:solidFill>
                  <a:schemeClr val="bg1"/>
                </a:solidFill>
              </a:rPr>
              <a:t>Should we pass the bell-to-bell phone ban law?</a:t>
            </a:r>
            <a:endParaRPr lang="en-US" altLang="zh-CN" sz="3600">
              <a:solidFill>
                <a:schemeClr val="bg1"/>
              </a:solidFill>
            </a:endParaRPr>
          </a:p>
        </p:txBody>
      </p:sp>
      <p:sp>
        <p:nvSpPr>
          <p:cNvPr id="4" name="文本框 3">
            <a:extLst>
              <a:ext uri="{FF2B5EF4-FFF2-40B4-BE49-F238E27FC236}">
                <a16:creationId xmlns:a16="http://schemas.microsoft.com/office/drawing/2014/main" id="{FEE7931D-35BB-6644-9949-75F8359E38CE}"/>
              </a:ext>
            </a:extLst>
          </p:cNvPr>
          <p:cNvSpPr txBox="1"/>
          <p:nvPr/>
        </p:nvSpPr>
        <p:spPr>
          <a:xfrm>
            <a:off x="761502" y="2336794"/>
            <a:ext cx="9366252"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zh-CN" altLang="en-US" sz="3600" i="1" spc="100">
                <a:solidFill>
                  <a:schemeClr val="bg1"/>
                </a:solidFill>
                <a:latin typeface="+mj-lt"/>
                <a:ea typeface="+mj-ea"/>
                <a:cs typeface="+mj-cs"/>
              </a:rPr>
              <a:t>Three groups: </a:t>
            </a:r>
            <a:r>
              <a:rPr lang="zh-CN" altLang="en-US" sz="3600" spc="100">
                <a:solidFill>
                  <a:schemeClr val="accent2">
                    <a:lumMod val="40000"/>
                    <a:lumOff val="60000"/>
                  </a:schemeClr>
                </a:solidFill>
                <a:latin typeface="+mj-lt"/>
                <a:ea typeface="+mj-ea"/>
                <a:cs typeface="+mj-cs"/>
              </a:rPr>
              <a:t>teachers,</a:t>
            </a:r>
            <a:r>
              <a:rPr lang="zh-CN" altLang="en-US" sz="3600" spc="100">
                <a:solidFill>
                  <a:schemeClr val="bg1"/>
                </a:solidFill>
                <a:latin typeface="+mj-lt"/>
                <a:ea typeface="+mj-ea"/>
                <a:cs typeface="+mj-cs"/>
              </a:rPr>
              <a:t> </a:t>
            </a:r>
            <a:r>
              <a:rPr lang="zh-CN" altLang="en-US" sz="3600" spc="100">
                <a:solidFill>
                  <a:srgbClr val="FFFF00"/>
                </a:solidFill>
                <a:latin typeface="+mj-lt"/>
                <a:ea typeface="+mj-ea"/>
                <a:cs typeface="+mj-cs"/>
              </a:rPr>
              <a:t>students,</a:t>
            </a:r>
            <a:r>
              <a:rPr lang="zh-CN" altLang="en-US" sz="3600" spc="100">
                <a:solidFill>
                  <a:schemeClr val="bg1"/>
                </a:solidFill>
                <a:latin typeface="+mj-lt"/>
                <a:ea typeface="+mj-ea"/>
                <a:cs typeface="+mj-cs"/>
              </a:rPr>
              <a:t> </a:t>
            </a:r>
            <a:r>
              <a:rPr lang="zh-CN" altLang="en-US" sz="3600" spc="100">
                <a:solidFill>
                  <a:schemeClr val="accent1">
                    <a:lumMod val="40000"/>
                    <a:lumOff val="60000"/>
                  </a:schemeClr>
                </a:solidFill>
                <a:latin typeface="+mj-lt"/>
                <a:ea typeface="+mj-ea"/>
                <a:cs typeface="+mj-cs"/>
              </a:rPr>
              <a:t>government</a:t>
            </a:r>
            <a:endParaRPr lang="zh-CN">
              <a:solidFill>
                <a:schemeClr val="accent1">
                  <a:lumMod val="40000"/>
                  <a:lumOff val="60000"/>
                </a:schemeClr>
              </a:solidFill>
            </a:endParaRPr>
          </a:p>
          <a:p>
            <a:pPr marL="571500" indent="-571500">
              <a:buFont typeface="Arial"/>
              <a:buChar char="•"/>
            </a:pPr>
            <a:r>
              <a:rPr lang="zh-CN" altLang="en-US" sz="3600" i="1" spc="100">
                <a:solidFill>
                  <a:schemeClr val="bg1"/>
                </a:solidFill>
                <a:latin typeface="+mj-lt"/>
                <a:ea typeface="+mj-ea"/>
                <a:cs typeface="+mj-cs"/>
              </a:rPr>
              <a:t>Discuss within groups: 10 mins</a:t>
            </a:r>
          </a:p>
          <a:p>
            <a:pPr marL="571500" indent="-571500">
              <a:buFont typeface="Arial"/>
              <a:buChar char="•"/>
            </a:pPr>
            <a:r>
              <a:rPr lang="zh-CN" altLang="en-US" sz="3600" i="1" spc="100">
                <a:solidFill>
                  <a:schemeClr val="bg1"/>
                </a:solidFill>
                <a:latin typeface="+mj-lt"/>
                <a:ea typeface="+mj-ea"/>
                <a:cs typeface="+mj-cs"/>
              </a:rPr>
              <a:t>Debate across groups: 5 mins</a:t>
            </a:r>
          </a:p>
          <a:p>
            <a:pPr marL="571500" indent="-571500">
              <a:buFont typeface="Arial"/>
              <a:buChar char="•"/>
            </a:pPr>
            <a:r>
              <a:rPr lang="zh-CN" altLang="en-US" sz="3600" i="1" spc="100">
                <a:solidFill>
                  <a:schemeClr val="bg1"/>
                </a:solidFill>
                <a:latin typeface="+mj-lt"/>
                <a:ea typeface="+mj-ea"/>
                <a:cs typeface="+mj-cs"/>
              </a:rPr>
              <a:t>Final policy design</a:t>
            </a:r>
          </a:p>
          <a:p>
            <a:endParaRPr lang="zh-CN" altLang="en-US" sz="3600" i="1" spc="100">
              <a:solidFill>
                <a:schemeClr val="bg1"/>
              </a:solidFill>
              <a:latin typeface="+mj-lt"/>
              <a:ea typeface="+mj-ea"/>
              <a:cs typeface="+mj-cs"/>
            </a:endParaRPr>
          </a:p>
        </p:txBody>
      </p:sp>
    </p:spTree>
    <p:extLst>
      <p:ext uri="{BB962C8B-B14F-4D97-AF65-F5344CB8AC3E}">
        <p14:creationId xmlns:p14="http://schemas.microsoft.com/office/powerpoint/2010/main" val="30592204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29A0A0F-377F-BEC7-4B64-B918CCB66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8F2E6-2952-D7C3-0FBD-0EBE158F9E73}"/>
              </a:ext>
            </a:extLst>
          </p:cNvPr>
          <p:cNvSpPr>
            <a:spLocks noGrp="1"/>
          </p:cNvSpPr>
          <p:nvPr>
            <p:ph type="title"/>
          </p:nvPr>
        </p:nvSpPr>
        <p:spPr>
          <a:xfrm>
            <a:off x="1130492" y="207752"/>
            <a:ext cx="10578539" cy="1080580"/>
          </a:xfrm>
        </p:spPr>
        <p:txBody>
          <a:bodyPr>
            <a:normAutofit/>
          </a:bodyPr>
          <a:lstStyle/>
          <a:p>
            <a:r>
              <a:rPr lang="en-US" sz="3600">
                <a:solidFill>
                  <a:schemeClr val="bg1"/>
                </a:solidFill>
              </a:rPr>
              <a:t>Within group discussion: 10 mins</a:t>
            </a:r>
            <a:endParaRPr lang="zh-CN" altLang="en-US"/>
          </a:p>
        </p:txBody>
      </p:sp>
      <p:sp>
        <p:nvSpPr>
          <p:cNvPr id="4" name="文本框 3">
            <a:extLst>
              <a:ext uri="{FF2B5EF4-FFF2-40B4-BE49-F238E27FC236}">
                <a16:creationId xmlns:a16="http://schemas.microsoft.com/office/drawing/2014/main" id="{3D347F2F-A3A4-286A-5FF6-0D39D38224BF}"/>
              </a:ext>
            </a:extLst>
          </p:cNvPr>
          <p:cNvSpPr txBox="1"/>
          <p:nvPr/>
        </p:nvSpPr>
        <p:spPr>
          <a:xfrm>
            <a:off x="484199" y="1024232"/>
            <a:ext cx="10812651"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a:buFont typeface="Wingdings"/>
              <a:buChar char="v"/>
            </a:pPr>
            <a:r>
              <a:rPr lang="en-US" altLang="zh-CN" sz="2400" i="1" spc="100">
                <a:solidFill>
                  <a:schemeClr val="bg1"/>
                </a:solidFill>
                <a:latin typeface="+mj-lt"/>
                <a:ea typeface="+mj-ea"/>
                <a:cs typeface="+mj-cs"/>
              </a:rPr>
              <a:t>What is your goal?</a:t>
            </a:r>
            <a:endParaRPr lang="zh-CN" altLang="en-US" sz="2400" i="1" spc="100">
              <a:solidFill>
                <a:schemeClr val="bg1"/>
              </a:solidFill>
              <a:latin typeface="+mj-lt"/>
              <a:ea typeface="+mj-ea"/>
              <a:cs typeface="+mj-cs"/>
            </a:endParaRPr>
          </a:p>
          <a:p>
            <a:pPr marL="571500"/>
            <a:endParaRPr lang="en-US" altLang="zh-CN" sz="2400" i="1" spc="100">
              <a:solidFill>
                <a:schemeClr val="bg1"/>
              </a:solidFill>
              <a:latin typeface="+mj-lt"/>
              <a:ea typeface="+mj-ea"/>
              <a:cs typeface="+mj-cs"/>
            </a:endParaRPr>
          </a:p>
          <a:p>
            <a:pPr marL="571500">
              <a:buFont typeface="Wingdings"/>
              <a:buChar char="v"/>
            </a:pPr>
            <a:r>
              <a:rPr lang="en-US" altLang="zh-CN" sz="2400" i="1" spc="100">
                <a:solidFill>
                  <a:schemeClr val="bg1"/>
                </a:solidFill>
                <a:latin typeface="+mj-lt"/>
                <a:ea typeface="+mj-ea"/>
                <a:cs typeface="+mj-cs"/>
              </a:rPr>
              <a:t>List at</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least</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2 opportunity costs</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if phones</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are banned bell-to-bell</a:t>
            </a:r>
            <a:endParaRPr lang="zh-CN" altLang="en-US" sz="2400" i="1" spc="100">
              <a:solidFill>
                <a:schemeClr val="bg1"/>
              </a:solidFill>
              <a:latin typeface="+mj-lt"/>
              <a:ea typeface="+mj-ea"/>
              <a:cs typeface="+mj-cs"/>
            </a:endParaRPr>
          </a:p>
          <a:p>
            <a:pPr marL="1028700" lvl="1">
              <a:buFont typeface="Courier New"/>
              <a:buChar char="o"/>
            </a:pPr>
            <a:r>
              <a:rPr lang="en-US" sz="2000" i="1" spc="100">
                <a:solidFill>
                  <a:schemeClr val="bg1"/>
                </a:solidFill>
                <a:latin typeface="+mj-lt"/>
                <a:ea typeface="+mj-ea"/>
                <a:cs typeface="+mj-cs"/>
              </a:rPr>
              <a:t>What are you giving up if you choose/drop the ban?</a:t>
            </a:r>
          </a:p>
          <a:p>
            <a:pPr marL="1028700" lvl="1">
              <a:buFont typeface="Courier New"/>
              <a:buChar char="o"/>
            </a:pPr>
            <a:r>
              <a:rPr lang="en-US" sz="2000" i="1" spc="100">
                <a:solidFill>
                  <a:schemeClr val="bg1"/>
                </a:solidFill>
                <a:latin typeface="+mj-lt"/>
                <a:ea typeface="+mj-ea"/>
                <a:cs typeface="+mj-cs"/>
              </a:rPr>
              <a:t>Who pays the cost—</a:t>
            </a:r>
            <a:r>
              <a:rPr lang="en-US" sz="2000" i="1" spc="100">
                <a:solidFill>
                  <a:srgbClr val="FFFF00"/>
                </a:solidFill>
                <a:latin typeface="+mj-lt"/>
                <a:ea typeface="+mj-ea"/>
                <a:cs typeface="+mj-cs"/>
              </a:rPr>
              <a:t>students</a:t>
            </a:r>
            <a:r>
              <a:rPr lang="en-US" sz="2000" i="1" spc="100">
                <a:solidFill>
                  <a:schemeClr val="bg1"/>
                </a:solidFill>
                <a:latin typeface="+mj-lt"/>
                <a:ea typeface="+mj-ea"/>
                <a:cs typeface="+mj-cs"/>
              </a:rPr>
              <a:t>, </a:t>
            </a:r>
            <a:r>
              <a:rPr lang="en-US" sz="2000" i="1" spc="100">
                <a:solidFill>
                  <a:schemeClr val="accent2">
                    <a:lumMod val="40000"/>
                    <a:lumOff val="60000"/>
                  </a:schemeClr>
                </a:solidFill>
                <a:latin typeface="+mj-lt"/>
                <a:ea typeface="+mj-ea"/>
                <a:cs typeface="+mj-cs"/>
              </a:rPr>
              <a:t>teachers</a:t>
            </a:r>
            <a:r>
              <a:rPr lang="en-US" sz="2000" i="1" spc="100">
                <a:solidFill>
                  <a:schemeClr val="bg1"/>
                </a:solidFill>
                <a:latin typeface="+mj-lt"/>
                <a:ea typeface="+mj-ea"/>
                <a:cs typeface="+mj-cs"/>
              </a:rPr>
              <a:t>, </a:t>
            </a:r>
            <a:r>
              <a:rPr lang="en-US" sz="2000" i="1" spc="100">
                <a:solidFill>
                  <a:schemeClr val="accent1">
                    <a:lumMod val="40000"/>
                    <a:lumOff val="60000"/>
                  </a:schemeClr>
                </a:solidFill>
                <a:latin typeface="+mj-lt"/>
                <a:ea typeface="+mj-ea"/>
                <a:cs typeface="+mj-cs"/>
              </a:rPr>
              <a:t>government</a:t>
            </a:r>
            <a:r>
              <a:rPr lang="en-US" sz="2000" i="1" spc="100">
                <a:solidFill>
                  <a:schemeClr val="bg1"/>
                </a:solidFill>
                <a:latin typeface="+mj-lt"/>
                <a:ea typeface="+mj-ea"/>
                <a:cs typeface="+mj-cs"/>
              </a:rPr>
              <a:t>, parents, taxpayers?</a:t>
            </a:r>
          </a:p>
          <a:p>
            <a:pPr marL="1028700" lvl="1"/>
            <a:endParaRPr lang="en-US" sz="2000" i="1" spc="100">
              <a:solidFill>
                <a:schemeClr val="bg1"/>
              </a:solidFill>
              <a:latin typeface="+mj-lt"/>
              <a:ea typeface="+mj-ea"/>
              <a:cs typeface="+mj-cs"/>
            </a:endParaRPr>
          </a:p>
          <a:p>
            <a:pPr marL="571500">
              <a:buFont typeface="Wingdings"/>
              <a:buChar char="v"/>
            </a:pPr>
            <a:r>
              <a:rPr lang="en-US" altLang="zh-CN" sz="2400" i="1" spc="100">
                <a:solidFill>
                  <a:schemeClr val="bg1"/>
                </a:solidFill>
                <a:latin typeface="+mj-lt"/>
                <a:ea typeface="+mj-ea"/>
                <a:cs typeface="+mj-cs"/>
              </a:rPr>
              <a:t>List</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at least 1 sunk cost</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people keep bringing</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up</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(and why it’s</a:t>
            </a:r>
            <a:r>
              <a:rPr lang="zh-CN" altLang="en-US" sz="2400" i="1" spc="100">
                <a:solidFill>
                  <a:schemeClr val="bg1"/>
                </a:solidFill>
                <a:latin typeface="+mj-lt"/>
                <a:ea typeface="+mj-ea"/>
                <a:cs typeface="+mj-cs"/>
              </a:rPr>
              <a:t> </a:t>
            </a:r>
            <a:r>
              <a:rPr lang="en-US" altLang="zh-CN" sz="2400" i="1" spc="100">
                <a:solidFill>
                  <a:schemeClr val="bg1"/>
                </a:solidFill>
                <a:latin typeface="+mj-lt"/>
                <a:ea typeface="+mj-ea"/>
                <a:cs typeface="+mj-cs"/>
              </a:rPr>
              <a:t>tempting)</a:t>
            </a:r>
          </a:p>
          <a:p>
            <a:pPr marL="1028700" lvl="1">
              <a:buFont typeface="Courier New"/>
              <a:buChar char="o"/>
            </a:pPr>
            <a:r>
              <a:rPr lang="en-US" sz="2000" i="1" spc="100">
                <a:solidFill>
                  <a:schemeClr val="bg1"/>
                </a:solidFill>
                <a:latin typeface="+mj-lt"/>
                <a:ea typeface="+mj-ea"/>
                <a:cs typeface="+mj-cs"/>
              </a:rPr>
              <a:t>Is that cost already paid and unrecoverable?</a:t>
            </a:r>
          </a:p>
          <a:p>
            <a:pPr marL="1028700" lvl="1">
              <a:buFont typeface="Courier New"/>
              <a:buChar char="o"/>
            </a:pPr>
            <a:r>
              <a:rPr lang="en-US" sz="2000" i="1" spc="100">
                <a:solidFill>
                  <a:schemeClr val="bg1"/>
                </a:solidFill>
                <a:latin typeface="+mj-lt"/>
                <a:ea typeface="+mj-ea"/>
                <a:cs typeface="+mj-cs"/>
              </a:rPr>
              <a:t>Are we protecting learning… or protecting our pride?</a:t>
            </a:r>
          </a:p>
          <a:p>
            <a:pPr marL="1028700" lvl="1"/>
            <a:endParaRPr lang="en-US" sz="2000" i="1" spc="100">
              <a:solidFill>
                <a:schemeClr val="bg1"/>
              </a:solidFill>
              <a:latin typeface="+mj-lt"/>
              <a:ea typeface="+mj-ea"/>
              <a:cs typeface="+mj-cs"/>
            </a:endParaRPr>
          </a:p>
          <a:p>
            <a:pPr marL="571500">
              <a:buFont typeface="Wingdings"/>
              <a:buChar char="v"/>
            </a:pPr>
            <a:r>
              <a:rPr lang="en-US" altLang="zh-CN" sz="2400" i="1" spc="100">
                <a:solidFill>
                  <a:schemeClr val="bg1"/>
                </a:solidFill>
                <a:latin typeface="+mj-lt"/>
                <a:ea typeface="+mj-ea"/>
                <a:cs typeface="+mj-cs"/>
              </a:rPr>
              <a:t>Your policy stance:</a:t>
            </a:r>
            <a:endParaRPr lang="zh-CN" altLang="en-US" sz="2400" i="1" spc="100">
              <a:solidFill>
                <a:schemeClr val="bg1"/>
              </a:solidFill>
              <a:latin typeface="+mj-lt"/>
              <a:ea typeface="+mj-ea"/>
              <a:cs typeface="+mj-cs"/>
            </a:endParaRPr>
          </a:p>
          <a:p>
            <a:pPr marL="1028700" lvl="1">
              <a:buFont typeface="Courier New"/>
              <a:buChar char="o"/>
            </a:pPr>
            <a:r>
              <a:rPr lang="en-US" sz="2000" i="1" spc="100">
                <a:solidFill>
                  <a:schemeClr val="bg1"/>
                </a:solidFill>
                <a:latin typeface="+mj-lt"/>
                <a:ea typeface="+mj-ea"/>
                <a:cs typeface="+mj-cs"/>
              </a:rPr>
              <a:t>Who benefits most from a ban? Who might be harmed?</a:t>
            </a:r>
            <a:endParaRPr lang="en-US" altLang="zh-CN" sz="2000" i="1" spc="100">
              <a:solidFill>
                <a:schemeClr val="bg1"/>
              </a:solidFill>
              <a:latin typeface="+mj-lt"/>
              <a:ea typeface="+mj-ea"/>
              <a:cs typeface="+mj-cs"/>
            </a:endParaRPr>
          </a:p>
          <a:p>
            <a:pPr marL="1028700" lvl="1">
              <a:buFont typeface="Courier New"/>
              <a:buChar char="o"/>
            </a:pPr>
            <a:r>
              <a:rPr lang="en-US" sz="2000" i="1" spc="100">
                <a:solidFill>
                  <a:schemeClr val="bg1"/>
                </a:solidFill>
                <a:latin typeface="+mj-lt"/>
                <a:ea typeface="+mj-ea"/>
                <a:cs typeface="+mj-cs"/>
              </a:rPr>
              <a:t>Option 1: Bell-to-bell ban (pouches)</a:t>
            </a:r>
          </a:p>
          <a:p>
            <a:pPr marL="1028700" lvl="1">
              <a:buFont typeface="Courier New"/>
              <a:buChar char="o"/>
            </a:pPr>
            <a:r>
              <a:rPr lang="en-US" sz="2000" i="1" spc="100">
                <a:solidFill>
                  <a:schemeClr val="bg1"/>
                </a:solidFill>
                <a:latin typeface="+mj-lt"/>
                <a:ea typeface="+mj-ea"/>
                <a:cs typeface="+mj-cs"/>
              </a:rPr>
              <a:t>Option 2: Instruction-time only</a:t>
            </a:r>
          </a:p>
          <a:p>
            <a:pPr marL="1028700" lvl="1">
              <a:buFont typeface="Courier New"/>
              <a:buChar char="o"/>
            </a:pPr>
            <a:r>
              <a:rPr lang="en-US" sz="2000" i="1" spc="100">
                <a:solidFill>
                  <a:schemeClr val="bg1"/>
                </a:solidFill>
                <a:latin typeface="+mj-lt"/>
                <a:ea typeface="+mj-ea"/>
                <a:cs typeface="+mj-cs"/>
              </a:rPr>
              <a:t>Option 3: Teacher-by-teacher rules</a:t>
            </a:r>
          </a:p>
          <a:p>
            <a:pPr marL="1028700" lvl="1">
              <a:buFont typeface="Courier New"/>
              <a:buChar char="o"/>
            </a:pPr>
            <a:r>
              <a:rPr lang="en-US" sz="2000" i="1" spc="100">
                <a:solidFill>
                  <a:schemeClr val="bg1"/>
                </a:solidFill>
                <a:latin typeface="+mj-lt"/>
                <a:ea typeface="+mj-ea"/>
                <a:cs typeface="+mj-cs"/>
              </a:rPr>
              <a:t>Option 4: No restriction</a:t>
            </a:r>
          </a:p>
          <a:p>
            <a:pPr marL="1028700" lvl="1">
              <a:buFont typeface="Courier New"/>
              <a:buChar char="o"/>
            </a:pPr>
            <a:endParaRPr lang="en-US" altLang="zh-CN" sz="2000" spc="100">
              <a:solidFill>
                <a:schemeClr val="bg1"/>
              </a:solidFill>
              <a:latin typeface="Avenir Next LT Pro"/>
              <a:ea typeface="+mj-ea"/>
              <a:cs typeface="+mj-cs"/>
            </a:endParaRPr>
          </a:p>
          <a:p>
            <a:endParaRPr lang="zh-CN" altLang="en-US" sz="2000" i="1" spc="100">
              <a:solidFill>
                <a:schemeClr val="bg1"/>
              </a:solidFill>
              <a:latin typeface="+mj-lt"/>
              <a:ea typeface="+mj-ea"/>
              <a:cs typeface="+mj-cs"/>
            </a:endParaRPr>
          </a:p>
        </p:txBody>
      </p:sp>
    </p:spTree>
    <p:extLst>
      <p:ext uri="{BB962C8B-B14F-4D97-AF65-F5344CB8AC3E}">
        <p14:creationId xmlns:p14="http://schemas.microsoft.com/office/powerpoint/2010/main" val="39494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6105E35-B40A-8FBC-D57D-CDF170D99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E2E8D-AFD7-91F9-5F92-0ACC79614411}"/>
              </a:ext>
            </a:extLst>
          </p:cNvPr>
          <p:cNvSpPr>
            <a:spLocks noGrp="1"/>
          </p:cNvSpPr>
          <p:nvPr>
            <p:ph type="title"/>
          </p:nvPr>
        </p:nvSpPr>
        <p:spPr>
          <a:xfrm>
            <a:off x="735324" y="392720"/>
            <a:ext cx="9263307" cy="882250"/>
          </a:xfrm>
        </p:spPr>
        <p:txBody>
          <a:bodyPr>
            <a:normAutofit fontScale="90000"/>
          </a:bodyPr>
          <a:lstStyle/>
          <a:p>
            <a:r>
              <a:rPr lang="en-US" b="1" u="sng">
                <a:solidFill>
                  <a:srgbClr val="FFFF00"/>
                </a:solidFill>
              </a:rPr>
              <a:t>Students</a:t>
            </a:r>
          </a:p>
        </p:txBody>
      </p:sp>
      <p:sp>
        <p:nvSpPr>
          <p:cNvPr id="3" name="文本框 2">
            <a:extLst>
              <a:ext uri="{FF2B5EF4-FFF2-40B4-BE49-F238E27FC236}">
                <a16:creationId xmlns:a16="http://schemas.microsoft.com/office/drawing/2014/main" id="{77BD949F-4428-7C27-80A2-F18D08354764}"/>
              </a:ext>
            </a:extLst>
          </p:cNvPr>
          <p:cNvSpPr txBox="1"/>
          <p:nvPr/>
        </p:nvSpPr>
        <p:spPr>
          <a:xfrm>
            <a:off x="903783" y="1456506"/>
            <a:ext cx="10075062" cy="4938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Wingdings"/>
              <a:buChar char="Ø"/>
            </a:pPr>
            <a:r>
              <a:rPr lang="en-US" altLang="zh-CN" sz="2400" spc="100">
                <a:solidFill>
                  <a:schemeClr val="bg1"/>
                </a:solidFill>
                <a:latin typeface="+mj-lt"/>
                <a:ea typeface="+mj-ea"/>
                <a:cs typeface="+mj-cs"/>
              </a:rPr>
              <a:t>Opportunity costs:</a:t>
            </a:r>
            <a:endParaRPr lang="en-US">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Losing convenience (music, plans, social during breaks)</a:t>
            </a:r>
            <a:endParaRPr lang="en-US" altLang="zh-CN" sz="20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Losing perceived safety/connection</a:t>
            </a:r>
          </a:p>
          <a:p>
            <a:pPr marL="742950" lvl="2" indent="-285750">
              <a:lnSpc>
                <a:spcPct val="150000"/>
              </a:lnSpc>
              <a:buFont typeface="Wingdings"/>
              <a:buChar char="§"/>
            </a:pPr>
            <a:r>
              <a:rPr lang="en-US" sz="2000" spc="100">
                <a:solidFill>
                  <a:schemeClr val="bg1"/>
                </a:solidFill>
                <a:latin typeface="+mj-lt"/>
                <a:ea typeface="+mj-ea"/>
                <a:cs typeface="+mj-cs"/>
              </a:rPr>
              <a:t>Losing autonomy (feels like distrust)</a:t>
            </a:r>
          </a:p>
          <a:p>
            <a:pPr marL="742950" lvl="2" indent="-285750">
              <a:lnSpc>
                <a:spcPct val="150000"/>
              </a:lnSpc>
              <a:buFont typeface="Wingdings"/>
              <a:buChar char="§"/>
            </a:pPr>
            <a:r>
              <a:rPr lang="en-US" sz="2000" spc="100">
                <a:solidFill>
                  <a:schemeClr val="bg1"/>
                </a:solidFill>
                <a:latin typeface="+mj-lt"/>
                <a:ea typeface="+mj-ea"/>
                <a:cs typeface="+mj-cs"/>
              </a:rPr>
              <a:t>opportunity cost of not banning: losing attention, learning, real social time</a:t>
            </a:r>
          </a:p>
          <a:p>
            <a:pPr marL="285750" indent="-285750">
              <a:lnSpc>
                <a:spcPct val="150000"/>
              </a:lnSpc>
              <a:buFont typeface="Wingdings"/>
              <a:buChar char="Ø"/>
            </a:pPr>
            <a:r>
              <a:rPr lang="en-US" sz="2400" spc="100">
                <a:solidFill>
                  <a:schemeClr val="bg1"/>
                </a:solidFill>
                <a:latin typeface="+mj-lt"/>
                <a:ea typeface="+mj-ea"/>
                <a:cs typeface="+mj-cs"/>
              </a:rPr>
              <a:t>Sunk cost:</a:t>
            </a:r>
            <a:endParaRPr lang="en-US" altLang="zh-CN" sz="24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“I paid $1,000 for this phone, so I should use it” (classic sunk-cost trap)</a:t>
            </a:r>
          </a:p>
          <a:p>
            <a:pPr marL="285750" indent="-285750">
              <a:lnSpc>
                <a:spcPct val="150000"/>
              </a:lnSpc>
              <a:buFont typeface="Wingdings"/>
              <a:buChar char="Ø"/>
            </a:pPr>
            <a:r>
              <a:rPr lang="en-US" sz="2400" spc="100">
                <a:solidFill>
                  <a:schemeClr val="bg1"/>
                </a:solidFill>
                <a:latin typeface="+mj-lt"/>
                <a:ea typeface="+mj-ea"/>
                <a:cs typeface="+mj-cs"/>
              </a:rPr>
              <a:t>Compromise ideas:</a:t>
            </a:r>
          </a:p>
          <a:p>
            <a:pPr marL="742950" lvl="2" indent="-285750">
              <a:lnSpc>
                <a:spcPct val="150000"/>
              </a:lnSpc>
              <a:buFont typeface="Wingdings"/>
              <a:buChar char="§"/>
            </a:pPr>
            <a:r>
              <a:rPr lang="en-US" sz="2000" spc="100">
                <a:solidFill>
                  <a:schemeClr val="bg1"/>
                </a:solidFill>
                <a:latin typeface="+mj-lt"/>
                <a:ea typeface="+mj-ea"/>
                <a:cs typeface="+mj-cs"/>
              </a:rPr>
              <a:t>Phone-free instruction + phone access in lunch/common areas, or “graduated privileges” by grade</a:t>
            </a:r>
          </a:p>
        </p:txBody>
      </p:sp>
    </p:spTree>
    <p:extLst>
      <p:ext uri="{BB962C8B-B14F-4D97-AF65-F5344CB8AC3E}">
        <p14:creationId xmlns:p14="http://schemas.microsoft.com/office/powerpoint/2010/main" val="3157288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0325701-8988-147F-9A7F-8BA5BC34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3158D-B2C1-7661-4621-B70012F986BC}"/>
              </a:ext>
            </a:extLst>
          </p:cNvPr>
          <p:cNvSpPr>
            <a:spLocks noGrp="1"/>
          </p:cNvSpPr>
          <p:nvPr>
            <p:ph type="title"/>
          </p:nvPr>
        </p:nvSpPr>
        <p:spPr>
          <a:xfrm>
            <a:off x="758952" y="605371"/>
            <a:ext cx="9263307" cy="882250"/>
          </a:xfrm>
        </p:spPr>
        <p:txBody>
          <a:bodyPr>
            <a:normAutofit fontScale="90000"/>
          </a:bodyPr>
          <a:lstStyle/>
          <a:p>
            <a:r>
              <a:rPr lang="en-US" b="1" u="sng">
                <a:solidFill>
                  <a:schemeClr val="accent2">
                    <a:lumMod val="40000"/>
                    <a:lumOff val="60000"/>
                  </a:schemeClr>
                </a:solidFill>
              </a:rPr>
              <a:t>Teachers</a:t>
            </a:r>
          </a:p>
        </p:txBody>
      </p:sp>
      <p:sp>
        <p:nvSpPr>
          <p:cNvPr id="3" name="文本框 2">
            <a:extLst>
              <a:ext uri="{FF2B5EF4-FFF2-40B4-BE49-F238E27FC236}">
                <a16:creationId xmlns:a16="http://schemas.microsoft.com/office/drawing/2014/main" id="{D7F6586F-1838-FE2A-AC83-8FE3E1EAFBC9}"/>
              </a:ext>
            </a:extLst>
          </p:cNvPr>
          <p:cNvSpPr txBox="1"/>
          <p:nvPr/>
        </p:nvSpPr>
        <p:spPr>
          <a:xfrm>
            <a:off x="927411" y="1716413"/>
            <a:ext cx="10075062" cy="4476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Wingdings"/>
              <a:buChar char="Ø"/>
            </a:pPr>
            <a:r>
              <a:rPr lang="en-US" altLang="zh-CN" sz="2400" spc="100">
                <a:solidFill>
                  <a:schemeClr val="bg1"/>
                </a:solidFill>
                <a:latin typeface="+mj-lt"/>
                <a:ea typeface="+mj-ea"/>
                <a:cs typeface="+mj-cs"/>
              </a:rPr>
              <a:t>Opportunity costs:</a:t>
            </a:r>
            <a:endParaRPr lang="en-US">
              <a:ea typeface="+mj-ea"/>
              <a:cs typeface="+mj-cs"/>
            </a:endParaRPr>
          </a:p>
          <a:p>
            <a:pPr marL="742950" lvl="2" indent="-285750">
              <a:lnSpc>
                <a:spcPct val="150000"/>
              </a:lnSpc>
              <a:buFont typeface="Wingdings"/>
              <a:buChar char="§"/>
            </a:pPr>
            <a:r>
              <a:rPr lang="en-US" sz="2000" spc="100">
                <a:solidFill>
                  <a:schemeClr val="bg1"/>
                </a:solidFill>
                <a:latin typeface="Sitka Banner"/>
                <a:ea typeface="+mn-lt"/>
                <a:cs typeface="+mn-lt"/>
              </a:rPr>
              <a:t>Time spent enforcing → less teaching/relationship-building</a:t>
            </a:r>
            <a:endParaRPr lang="en-US" altLang="zh-CN" sz="20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Sitka Banner"/>
                <a:ea typeface="+mn-lt"/>
                <a:cs typeface="+mn-lt"/>
              </a:rPr>
              <a:t>Stress/conflict with students → classroom climate cost</a:t>
            </a:r>
            <a:endParaRPr lang="en-US">
              <a:solidFill>
                <a:schemeClr val="bg1"/>
              </a:solidFill>
              <a:latin typeface="Avenir Next LT Pro"/>
              <a:ea typeface="+mj-ea"/>
              <a:cs typeface="+mj-cs"/>
            </a:endParaRPr>
          </a:p>
          <a:p>
            <a:pPr marL="742950" lvl="2" indent="-285750">
              <a:lnSpc>
                <a:spcPct val="150000"/>
              </a:lnSpc>
              <a:buFont typeface="Wingdings"/>
              <a:buChar char="§"/>
            </a:pPr>
            <a:r>
              <a:rPr lang="en-US" sz="2000" spc="100">
                <a:solidFill>
                  <a:schemeClr val="bg1"/>
                </a:solidFill>
                <a:latin typeface="Sitka Banner"/>
                <a:ea typeface="+mn-lt"/>
                <a:cs typeface="+mn-lt"/>
              </a:rPr>
              <a:t>Less flexible use for learning activities that do use phones</a:t>
            </a:r>
          </a:p>
          <a:p>
            <a:pPr marL="285750" indent="-285750">
              <a:lnSpc>
                <a:spcPct val="150000"/>
              </a:lnSpc>
              <a:buFont typeface="Wingdings"/>
              <a:buChar char="Ø"/>
            </a:pPr>
            <a:r>
              <a:rPr lang="en-US" sz="2400" spc="100">
                <a:solidFill>
                  <a:schemeClr val="bg1"/>
                </a:solidFill>
                <a:latin typeface="+mj-lt"/>
                <a:ea typeface="+mj-ea"/>
                <a:cs typeface="+mj-cs"/>
              </a:rPr>
              <a:t>Sunk cost:</a:t>
            </a:r>
            <a:endParaRPr lang="en-US" altLang="zh-CN" sz="24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Sitka Banner"/>
                <a:ea typeface="+mn-lt"/>
                <a:cs typeface="+mn-lt"/>
              </a:rPr>
              <a:t>“We already trained staff / bought pouches” (spent money + effort)</a:t>
            </a:r>
            <a:endParaRPr lang="en-US">
              <a:solidFill>
                <a:schemeClr val="bg1"/>
              </a:solidFill>
            </a:endParaRPr>
          </a:p>
          <a:p>
            <a:pPr marL="285750" indent="-285750">
              <a:lnSpc>
                <a:spcPct val="150000"/>
              </a:lnSpc>
              <a:buFont typeface="Wingdings"/>
              <a:buChar char="Ø"/>
            </a:pPr>
            <a:r>
              <a:rPr lang="en-US" sz="2400" spc="100">
                <a:solidFill>
                  <a:schemeClr val="bg1"/>
                </a:solidFill>
                <a:latin typeface="+mj-lt"/>
                <a:ea typeface="+mj-ea"/>
                <a:cs typeface="+mj-cs"/>
              </a:rPr>
              <a:t>Compromise ideas:</a:t>
            </a:r>
          </a:p>
          <a:p>
            <a:pPr marL="742950" lvl="2" indent="-285750">
              <a:lnSpc>
                <a:spcPct val="150000"/>
              </a:lnSpc>
              <a:buFont typeface="Wingdings"/>
              <a:buChar char="§"/>
            </a:pPr>
            <a:r>
              <a:rPr lang="en-US" sz="2000" spc="100">
                <a:solidFill>
                  <a:schemeClr val="bg1"/>
                </a:solidFill>
                <a:latin typeface="Sitka Banner"/>
                <a:ea typeface="+mn-lt"/>
                <a:cs typeface="+mn-lt"/>
              </a:rPr>
              <a:t>Bell-to-bell for middle school, instructional-time for high school; clear emergency exceptions</a:t>
            </a:r>
            <a:endParaRPr lang="en-US" sz="2000" spc="100">
              <a:solidFill>
                <a:schemeClr val="bg1"/>
              </a:solidFill>
              <a:latin typeface="Sitka Banner"/>
              <a:ea typeface="+mj-ea"/>
              <a:cs typeface="+mj-cs"/>
            </a:endParaRPr>
          </a:p>
        </p:txBody>
      </p:sp>
    </p:spTree>
    <p:extLst>
      <p:ext uri="{BB962C8B-B14F-4D97-AF65-F5344CB8AC3E}">
        <p14:creationId xmlns:p14="http://schemas.microsoft.com/office/powerpoint/2010/main" val="1101740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7052382-0D8C-59E3-6B1D-DEACBCF6B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1424E-EB08-A1F8-FF94-4883AAB30576}"/>
              </a:ext>
            </a:extLst>
          </p:cNvPr>
          <p:cNvSpPr>
            <a:spLocks noGrp="1"/>
          </p:cNvSpPr>
          <p:nvPr>
            <p:ph type="title"/>
          </p:nvPr>
        </p:nvSpPr>
        <p:spPr>
          <a:xfrm>
            <a:off x="758952" y="504952"/>
            <a:ext cx="9263307" cy="882250"/>
          </a:xfrm>
        </p:spPr>
        <p:txBody>
          <a:bodyPr>
            <a:normAutofit fontScale="90000"/>
          </a:bodyPr>
          <a:lstStyle/>
          <a:p>
            <a:r>
              <a:rPr lang="en-US" b="1" u="sng">
                <a:solidFill>
                  <a:schemeClr val="accent1">
                    <a:lumMod val="40000"/>
                    <a:lumOff val="60000"/>
                  </a:schemeClr>
                </a:solidFill>
              </a:rPr>
              <a:t>Government (</a:t>
            </a:r>
            <a:r>
              <a:rPr lang="en-US" b="1" u="sng" err="1">
                <a:solidFill>
                  <a:schemeClr val="accent1">
                    <a:lumMod val="40000"/>
                    <a:lumOff val="60000"/>
                  </a:schemeClr>
                </a:solidFill>
              </a:rPr>
              <a:t>state+district</a:t>
            </a:r>
            <a:r>
              <a:rPr lang="en-US" b="1" u="sng">
                <a:solidFill>
                  <a:schemeClr val="accent1">
                    <a:lumMod val="40000"/>
                    <a:lumOff val="60000"/>
                  </a:schemeClr>
                </a:solidFill>
              </a:rPr>
              <a:t>)</a:t>
            </a:r>
          </a:p>
        </p:txBody>
      </p:sp>
      <p:sp>
        <p:nvSpPr>
          <p:cNvPr id="3" name="文本框 2">
            <a:extLst>
              <a:ext uri="{FF2B5EF4-FFF2-40B4-BE49-F238E27FC236}">
                <a16:creationId xmlns:a16="http://schemas.microsoft.com/office/drawing/2014/main" id="{849F8721-138D-A905-4536-5080C29F8603}"/>
              </a:ext>
            </a:extLst>
          </p:cNvPr>
          <p:cNvSpPr txBox="1"/>
          <p:nvPr/>
        </p:nvSpPr>
        <p:spPr>
          <a:xfrm>
            <a:off x="891969" y="1716413"/>
            <a:ext cx="10075062" cy="4476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Wingdings"/>
              <a:buChar char="Ø"/>
            </a:pPr>
            <a:r>
              <a:rPr lang="en-US" altLang="zh-CN" sz="2400" spc="100">
                <a:solidFill>
                  <a:schemeClr val="bg1"/>
                </a:solidFill>
                <a:latin typeface="+mj-lt"/>
                <a:ea typeface="+mj-ea"/>
                <a:cs typeface="+mj-cs"/>
              </a:rPr>
              <a:t>Opportunity costs:</a:t>
            </a:r>
            <a:endParaRPr lang="en-US">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Money + staff time implementing (pouches, lock stations, monitoring)</a:t>
            </a:r>
            <a:endParaRPr lang="en-US" altLang="zh-CN" sz="20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Political capital / backlash; local control vs statewide mandate</a:t>
            </a:r>
          </a:p>
          <a:p>
            <a:pPr marL="742950" lvl="2" indent="-285750">
              <a:lnSpc>
                <a:spcPct val="150000"/>
              </a:lnSpc>
              <a:buFont typeface="Wingdings"/>
              <a:buChar char="§"/>
            </a:pPr>
            <a:r>
              <a:rPr lang="en-US" sz="2000" spc="100">
                <a:solidFill>
                  <a:schemeClr val="bg1"/>
                </a:solidFill>
                <a:latin typeface="+mj-lt"/>
                <a:ea typeface="+mj-ea"/>
                <a:cs typeface="+mj-cs"/>
              </a:rPr>
              <a:t>Tradeoff with other priorities (mental health supports, tutoring, etc.)</a:t>
            </a:r>
          </a:p>
          <a:p>
            <a:pPr marL="285750" indent="-285750">
              <a:lnSpc>
                <a:spcPct val="150000"/>
              </a:lnSpc>
              <a:buFont typeface="Wingdings"/>
              <a:buChar char="Ø"/>
            </a:pPr>
            <a:r>
              <a:rPr lang="en-US" sz="2400" spc="100">
                <a:solidFill>
                  <a:schemeClr val="bg1"/>
                </a:solidFill>
                <a:latin typeface="+mj-lt"/>
                <a:ea typeface="+mj-ea"/>
                <a:cs typeface="+mj-cs"/>
              </a:rPr>
              <a:t>Sunk cost:</a:t>
            </a:r>
            <a:endParaRPr lang="en-US" altLang="zh-CN" sz="2400" spc="100">
              <a:solidFill>
                <a:schemeClr val="bg1"/>
              </a:solidFill>
              <a:latin typeface="+mj-lt"/>
              <a:ea typeface="+mj-ea"/>
              <a:cs typeface="+mj-cs"/>
            </a:endParaRPr>
          </a:p>
          <a:p>
            <a:pPr marL="742950" lvl="2" indent="-285750">
              <a:lnSpc>
                <a:spcPct val="150000"/>
              </a:lnSpc>
              <a:buFont typeface="Wingdings"/>
              <a:buChar char="§"/>
            </a:pPr>
            <a:r>
              <a:rPr lang="en-US" sz="2000" spc="100">
                <a:solidFill>
                  <a:schemeClr val="bg1"/>
                </a:solidFill>
                <a:latin typeface="+mj-lt"/>
                <a:ea typeface="+mj-ea"/>
                <a:cs typeface="+mj-cs"/>
              </a:rPr>
              <a:t>“We already announced it publicly” (reputation/PR sunk cost)</a:t>
            </a:r>
          </a:p>
          <a:p>
            <a:pPr marL="285750" indent="-285750">
              <a:lnSpc>
                <a:spcPct val="150000"/>
              </a:lnSpc>
              <a:buFont typeface="Wingdings"/>
              <a:buChar char="Ø"/>
            </a:pPr>
            <a:r>
              <a:rPr lang="en-US" sz="2400" spc="100">
                <a:solidFill>
                  <a:schemeClr val="bg1"/>
                </a:solidFill>
                <a:latin typeface="+mj-lt"/>
                <a:ea typeface="+mj-ea"/>
                <a:cs typeface="+mj-cs"/>
              </a:rPr>
              <a:t>Compromise ideas:</a:t>
            </a:r>
          </a:p>
          <a:p>
            <a:pPr marL="742950" lvl="2" indent="-285750">
              <a:lnSpc>
                <a:spcPct val="150000"/>
              </a:lnSpc>
              <a:buFont typeface="Wingdings"/>
              <a:buChar char="§"/>
            </a:pPr>
            <a:r>
              <a:rPr lang="en-US" sz="2000" spc="100">
                <a:solidFill>
                  <a:schemeClr val="bg1"/>
                </a:solidFill>
                <a:latin typeface="+mj-lt"/>
                <a:ea typeface="+mj-ea"/>
                <a:cs typeface="+mj-cs"/>
              </a:rPr>
              <a:t>State sets a model policy; districts choose implementation (mandate outcomes, not methods)</a:t>
            </a:r>
          </a:p>
        </p:txBody>
      </p:sp>
    </p:spTree>
    <p:extLst>
      <p:ext uri="{BB962C8B-B14F-4D97-AF65-F5344CB8AC3E}">
        <p14:creationId xmlns:p14="http://schemas.microsoft.com/office/powerpoint/2010/main" val="3520583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49BB8BA-85A4-0E02-12DA-B6CD0E3EC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A942A-5047-7160-B16D-A06D7BC1EF12}"/>
              </a:ext>
            </a:extLst>
          </p:cNvPr>
          <p:cNvSpPr>
            <a:spLocks noGrp="1"/>
          </p:cNvSpPr>
          <p:nvPr>
            <p:ph type="title"/>
          </p:nvPr>
        </p:nvSpPr>
        <p:spPr>
          <a:xfrm>
            <a:off x="758952" y="758952"/>
            <a:ext cx="10574514" cy="4754880"/>
          </a:xfrm>
        </p:spPr>
        <p:txBody>
          <a:bodyPr vert="horz" lIns="91440" tIns="45720" rIns="91440" bIns="45720" rtlCol="0" anchor="ctr">
            <a:normAutofit/>
          </a:bodyPr>
          <a:lstStyle/>
          <a:p>
            <a:pPr algn="ctr"/>
            <a:r>
              <a:rPr lang="en-US">
                <a:solidFill>
                  <a:schemeClr val="bg1"/>
                </a:solidFill>
              </a:rPr>
              <a:t>Thank you!</a:t>
            </a:r>
            <a:endParaRPr lang="zh-CN" altLang="en-US"/>
          </a:p>
        </p:txBody>
      </p:sp>
    </p:spTree>
    <p:extLst>
      <p:ext uri="{BB962C8B-B14F-4D97-AF65-F5344CB8AC3E}">
        <p14:creationId xmlns:p14="http://schemas.microsoft.com/office/powerpoint/2010/main" val="1809166928"/>
      </p:ext>
    </p:extLst>
  </p:cSld>
  <p:clrMapOvr>
    <a:masterClrMapping/>
  </p:clrMapOvr>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518A77E0904A4AA2385D6D5CC91772" ma:contentTypeVersion="3" ma:contentTypeDescription="Create a new document." ma:contentTypeScope="" ma:versionID="193435620c9c278ff94ac46fe0f58be8">
  <xsd:schema xmlns:xsd="http://www.w3.org/2001/XMLSchema" xmlns:xs="http://www.w3.org/2001/XMLSchema" xmlns:p="http://schemas.microsoft.com/office/2006/metadata/properties" xmlns:ns2="b6ce657c-e071-4850-bb9e-22f9b7568e9e" targetNamespace="http://schemas.microsoft.com/office/2006/metadata/properties" ma:root="true" ma:fieldsID="4cd2c8c9c91d4eba02fbb70750c064fd" ns2:_="">
    <xsd:import namespace="b6ce657c-e071-4850-bb9e-22f9b7568e9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ce657c-e071-4850-bb9e-22f9b7568e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31AD6B-A67A-494D-9CA4-0F47A3BF8E5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313D0F9-EBBE-478E-A170-C628480F9B18}">
  <ds:schemaRefs>
    <ds:schemaRef ds:uri="b6ce657c-e071-4850-bb9e-22f9b7568e9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0208257-E563-4A39-9F81-F848C6AD3A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33</Slides>
  <Notes>17</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HeadlinesVTI</vt:lpstr>
      <vt:lpstr>Economic Decision-Making and Everyday Choices</vt:lpstr>
      <vt:lpstr>A key area of economics is about studying trade-offs    what do you gain and what do you give up with each decision</vt:lpstr>
      <vt:lpstr>PowerPoint Presentation</vt:lpstr>
      <vt:lpstr>Every decision comes with costs and benefits</vt:lpstr>
      <vt:lpstr>Opportunity Cost</vt:lpstr>
      <vt:lpstr>Opportunity Cost</vt:lpstr>
      <vt:lpstr>If you are given $100 today, what is the opportunity cost of saving it?</vt:lpstr>
      <vt:lpstr>Everyone has a different opportunity cost </vt:lpstr>
      <vt:lpstr>What is the opportunity cost of saving $100...</vt:lpstr>
      <vt:lpstr>What is the opportunity cost of saving $100...</vt:lpstr>
      <vt:lpstr>What is the opportunity cost of saving $100...</vt:lpstr>
      <vt:lpstr>Everyone has a different opportunity cost </vt:lpstr>
      <vt:lpstr>A "good" choice is one where the benefits are greater than the opportunity cost</vt:lpstr>
      <vt:lpstr>Weekend Planning Activity  </vt:lpstr>
      <vt:lpstr>Sunk Cost</vt:lpstr>
      <vt:lpstr>Sunk Cost</vt:lpstr>
      <vt:lpstr>Sunk cost fallacy </vt:lpstr>
      <vt:lpstr>sunk cost fallacy </vt:lpstr>
      <vt:lpstr>sunk cost fallacy </vt:lpstr>
      <vt:lpstr>sunk cost fallacy </vt:lpstr>
      <vt:lpstr>sunk cost fallacy </vt:lpstr>
      <vt:lpstr>Sunk cost quiz </vt:lpstr>
      <vt:lpstr>Why do we care?</vt:lpstr>
      <vt:lpstr>Economic analysis:  Is "phone-free school days" a good policy?</vt:lpstr>
      <vt:lpstr>PowerPoint Presentation</vt:lpstr>
      <vt:lpstr>"...And turn off the damn smartphone.”   - Gov. Lamont</vt:lpstr>
      <vt:lpstr>Smartphone ban discussions in the media</vt:lpstr>
      <vt:lpstr>Policy debate: Should we pass the bell-to-bell phone ban law?</vt:lpstr>
      <vt:lpstr>Within group discussion: 10 mins</vt:lpstr>
      <vt:lpstr>Students</vt:lpstr>
      <vt:lpstr>Teachers</vt:lpstr>
      <vt:lpstr>Government (state+district)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2026-02-04T14:14:03Z</dcterms:created>
  <dcterms:modified xsi:type="dcterms:W3CDTF">2026-03-19T01:48:10Z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0x01010014518A77E0904A4AA2385D6D5CC91772</vt:lpwstr>
  </property>
</Properties>
</file>