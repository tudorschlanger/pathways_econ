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DF19F-CBCA-CDB7-D28C-5611A15F9675}" v="3" dt="2026-04-01T15:35:04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8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oley, Anna" userId="S::anna.croley@yale.edu::f259d4c0-84b3-4ca4-8d65-c5e47386acd8" providerId="AD" clId="Web-{159DF19F-CBCA-CDB7-D28C-5611A15F9675}"/>
    <pc:docChg chg="modSld">
      <pc:chgData name="Croley, Anna" userId="S::anna.croley@yale.edu::f259d4c0-84b3-4ca4-8d65-c5e47386acd8" providerId="AD" clId="Web-{159DF19F-CBCA-CDB7-D28C-5611A15F9675}" dt="2026-04-01T15:35:04.855" v="2"/>
      <pc:docMkLst>
        <pc:docMk/>
      </pc:docMkLst>
      <pc:sldChg chg="delSp modSp">
        <pc:chgData name="Croley, Anna" userId="S::anna.croley@yale.edu::f259d4c0-84b3-4ca4-8d65-c5e47386acd8" providerId="AD" clId="Web-{159DF19F-CBCA-CDB7-D28C-5611A15F9675}" dt="2026-04-01T15:35:04.855" v="2"/>
        <pc:sldMkLst>
          <pc:docMk/>
          <pc:sldMk cId="0" sldId="267"/>
        </pc:sldMkLst>
        <pc:spChg chg="del mod">
          <ac:chgData name="Croley, Anna" userId="S::anna.croley@yale.edu::f259d4c0-84b3-4ca4-8d65-c5e47386acd8" providerId="AD" clId="Web-{159DF19F-CBCA-CDB7-D28C-5611A15F9675}" dt="2026-04-01T15:35:03.464" v="1"/>
          <ac:spMkLst>
            <pc:docMk/>
            <pc:sldMk cId="0" sldId="267"/>
            <ac:spMk id="6" creationId="{00000000-0000-0000-0000-000000000000}"/>
          </ac:spMkLst>
        </pc:spChg>
        <pc:spChg chg="del">
          <ac:chgData name="Croley, Anna" userId="S::anna.croley@yale.edu::f259d4c0-84b3-4ca4-8d65-c5e47386acd8" providerId="AD" clId="Web-{159DF19F-CBCA-CDB7-D28C-5611A15F9675}" dt="2026-04-01T15:35:04.855" v="2"/>
          <ac:spMkLst>
            <pc:docMk/>
            <pc:sldMk cId="0" sldId="26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896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having a chaotic ‘for or against’ debate, we are going to act like policy analysts. We will answer four questions in order. If we skip steps, the conversation gets messy.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CFE8E7"/>
                </a:solidFill>
              </a:rPr>
              <a:t>Visual reminder: emissions are spread across transport, electricity, industry, buildings, and agriculture.</a:t>
            </a:r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World Bank, State and Trends of Carbon Pricing 2025: https://www.worldbank.org/en/publication/state-and-trends-of-carbon-pricing
- OECD press release on Effective Carbon Rates 2025: https://www.oecd.org/en/about/news/press-releases/2025/11/carbon-pricing-mechanisms-are-evolving-to-meet-a-broader-range-of-policy-objectives.html
- European Commission, About the EU ETS: https://climate.ec.europa.eu/eu-action/carbon-markets/about-eu-ets_en
- Singapore NEA carbon-tax page: https://www.nea.gov.sg/our-services/climate-change-energy-efficiency/climate-change/carbon-tax
- Government Offices of Sweden, Sweden’s carbon tax: https://www.government.se/government-policy/taxes-and-tariffs/swedens-carbon-tax/
- OECD Effective Carbon Rates 2025 report for South Africa changes in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IMF climate-mitigation overview on carbon taxes, household support, and growth-friendly design: https://www.imf.org/en/topics/climate-change/climate-mitigation
- European Commission, About the EU ETS (revenue use and cost-effective incentive): https://climate.ec.europa.eu/eu-action/carbon-markets/about-eu-ets_en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IMF climate-mitigation overview on using carbon-tax revenue to support low-income households and green transition: https://www.imf.org/en/topics/climate-change/climate-mitigation
- Singapore NEA carbon-tax page (revenue used to support transition and cushion impacts): https://www.nea.gov.sg/our-services/climate-change-energy-efficiency/climate-change/carbon-tax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8E7"/>
                </a:solidFill>
              </a:rPr>
              <a:t>Policy discussion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58368" y="1389888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FFFFFF"/>
                </a:solidFill>
              </a:rPr>
              <a:t>Should the U.S. put</a:t>
            </a:r>
            <a:endParaRPr lang="en-US" sz="3400" dirty="0"/>
          </a:p>
          <a:p>
            <a:pPr marL="0" indent="0">
              <a:buNone/>
            </a:pPr>
            <a:r>
              <a:rPr lang="en-US" sz="3400" b="1" i="1" dirty="0">
                <a:solidFill>
                  <a:srgbClr val="FFFFFF"/>
                </a:solidFill>
              </a:rPr>
              <a:t>a price on carbon?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76656" y="3822192"/>
            <a:ext cx="4297680" cy="0"/>
          </a:xfrm>
          <a:prstGeom prst="line">
            <a:avLst/>
          </a:prstGeom>
          <a:noFill/>
          <a:ln w="12700">
            <a:solidFill>
              <a:srgbClr val="1BD3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four-question decision framework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89320" y="420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CFE8E7"/>
                </a:solidFill>
              </a:rPr>
              <a:t>Answer in order; do not jump straight to yes / no.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1295D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74520" cy="109728"/>
          </a:xfrm>
          <a:prstGeom prst="rect">
            <a:avLst/>
          </a:prstGeom>
          <a:solidFill>
            <a:srgbClr val="1BD3C2"/>
          </a:solidFill>
          <a:ln w="12700">
            <a:solidFill>
              <a:srgbClr val="1BD3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581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D3C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5819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Problem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3232" y="1929384"/>
            <a:ext cx="156362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E7"/>
                </a:solidFill>
              </a:rPr>
              <a:t>What market failure or shared-resource problem are we trying to fix?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1295D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1874520" cy="10972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743200" y="1581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134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81528" y="15819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Incentives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770632" y="1929384"/>
            <a:ext cx="156362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E7"/>
                </a:solidFill>
              </a:rPr>
              <a:t>If carbon becomes more expensive, what choices change?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1295D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874520" cy="109728"/>
          </a:xfrm>
          <a:prstGeom prst="rect">
            <a:avLst/>
          </a:prstGeom>
          <a:solidFill>
            <a:srgbClr val="D56A4A"/>
          </a:solidFill>
          <a:ln w="12700">
            <a:solidFill>
              <a:srgbClr val="D56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1581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56A4A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38928" y="15819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Trade-offs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828032" y="1929384"/>
            <a:ext cx="156362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E7"/>
                </a:solidFill>
              </a:rPr>
              <a:t>Who gains, who pays, and what concerns remain?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14173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1295D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720840" y="1417320"/>
            <a:ext cx="1874520" cy="109728"/>
          </a:xfrm>
          <a:prstGeom prst="rect">
            <a:avLst/>
          </a:prstGeom>
          <a:solidFill>
            <a:srgbClr val="8AD3FF"/>
          </a:solidFill>
          <a:ln w="12700">
            <a:solidFill>
              <a:srgbClr val="8AD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858000" y="1581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D3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96328" y="15819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Revenue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885432" y="1929384"/>
            <a:ext cx="156362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E7"/>
                </a:solidFill>
              </a:rPr>
              <a:t>If government collects money, what should it do with it?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" y="3977640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2B134"/>
                </a:solidFill>
              </a:rPr>
              <a:t>Economics lens: compare how a rule changes incentives and distribution — not just whether it sounds fair.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problem is the policy trying to fix?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703320" cy="3337560"/>
          </a:xfrm>
          <a:prstGeom prst="roundRect">
            <a:avLst>
              <a:gd name="adj" fmla="val 2192"/>
            </a:avLst>
          </a:prstGeom>
          <a:solidFill>
            <a:srgbClr val="11295D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2960" y="1168782"/>
            <a:ext cx="3154680" cy="1711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 </a:t>
            </a:r>
            <a:r>
              <a:rPr lang="en-US" sz="1400" dirty="0">
                <a:solidFill>
                  <a:srgbClr val="FFFFFF"/>
                </a:solidFill>
              </a:rPr>
              <a:t>Carbon emissions create a </a:t>
            </a:r>
            <a:r>
              <a:rPr lang="en-US" sz="1400" b="1" dirty="0">
                <a:solidFill>
                  <a:srgbClr val="1BD3C2"/>
                </a:solidFill>
              </a:rPr>
              <a:t>negative externality</a:t>
            </a:r>
            <a:r>
              <a:rPr lang="en-US" sz="1400" dirty="0">
                <a:solidFill>
                  <a:srgbClr val="FFFFFF"/>
                </a:solidFill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The price of many carbon-intensive choices misses part of the climate cost.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Result: society gets </a:t>
            </a:r>
            <a:r>
              <a:rPr lang="en-US" sz="1400" b="1" dirty="0">
                <a:solidFill>
                  <a:srgbClr val="1BD3C2"/>
                </a:solidFill>
              </a:rPr>
              <a:t>more emissions than is socially efficient.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335770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134"/>
                </a:solidFill>
              </a:rPr>
              <a:t>The missing cost is the policy target.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9237" y="3827331"/>
            <a:ext cx="4206625" cy="58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E7"/>
                </a:solidFill>
              </a:rPr>
              <a:t>Carbon comes from many parts of the economy, so the question is not “one bad industry” — it is how to change incentives across sectors.</a:t>
            </a:r>
            <a:endParaRPr lang="en-US" sz="1150" dirty="0"/>
          </a:p>
        </p:txBody>
      </p:sp>
      <p:pic>
        <p:nvPicPr>
          <p:cNvPr id="7" name="Image 0" descr="/mnt/data/ppt_media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237" y="1080491"/>
            <a:ext cx="4206625" cy="26464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does a carbon tax change incentives?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1295D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194560" cy="91440"/>
          </a:xfrm>
          <a:prstGeom prst="rect">
            <a:avLst/>
          </a:prstGeom>
          <a:solidFill>
            <a:srgbClr val="1BD3C2"/>
          </a:solidFill>
          <a:ln w="12700">
            <a:solidFill>
              <a:srgbClr val="1BD3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399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Emit carbon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170992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FE8E7"/>
                </a:solidFill>
              </a:rPr>
              <a:t>Carbon-intensive fuels or activities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42900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1295D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429000" y="1234440"/>
            <a:ext cx="2194560" cy="914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566160" y="1399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Pay more per ton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7872" y="170992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FE8E7"/>
                </a:solidFill>
              </a:rPr>
              <a:t>The private cost gets closer to the social cost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1295D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194560" cy="91440"/>
          </a:xfrm>
          <a:prstGeom prst="rect">
            <a:avLst/>
          </a:prstGeom>
          <a:solidFill>
            <a:srgbClr val="D56A4A"/>
          </a:solidFill>
          <a:ln w="12700">
            <a:solidFill>
              <a:srgbClr val="D56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181344" y="1244684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Cleaner options look cheaper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36792" y="1664208"/>
            <a:ext cx="1984248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FE8E7"/>
                </a:solidFill>
              </a:rPr>
              <a:t>Fuel switching, and innovation become more attractive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880360" y="14813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FE8E7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9280" y="14813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FE8E7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94944" y="290779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D3C2"/>
                </a:solidFill>
              </a:rPr>
              <a:t>Households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4944" y="3163824"/>
            <a:ext cx="217627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FFFFFF"/>
                </a:solidFill>
              </a:rPr>
              <a:t>May conserve energy, change transport choices, or switch technologies over time.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3337560" y="2743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483864" y="290779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134"/>
                </a:solidFill>
              </a:rPr>
              <a:t>Firms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483864" y="3163824"/>
            <a:ext cx="217627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FFFFFF"/>
                </a:solidFill>
              </a:rPr>
              <a:t>May improve efficiency, change fuel mix, or invest in cleaner production.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6126480" y="2743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72784" y="290779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AD3FF"/>
                </a:solidFill>
              </a:rPr>
              <a:t>Innovators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72784" y="3163824"/>
            <a:ext cx="217627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FFFFFF"/>
                </a:solidFill>
              </a:rPr>
              <a:t>Gain a bigger market for low-carbon products and services.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868680" y="434340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2B134"/>
                </a:solidFill>
              </a:rPr>
              <a:t>Key idea: the tax does not order one specific action — it changes the relative prices that guide many decisions.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pricing around the world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2B134"/>
                </a:solidFill>
              </a:rPr>
              <a:t>28%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30352" y="1737360"/>
            <a:ext cx="1783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FFFFFF"/>
                </a:solidFill>
              </a:rPr>
              <a:t>of global GHG emissions are covered by a direct carbon price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475488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BD3C2"/>
                </a:solidFill>
              </a:rPr>
              <a:t>&gt;50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1BD3C2"/>
                </a:solidFill>
              </a:rPr>
              <a:t>countries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3657600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now use a carbon tax or an emissions trading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100584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889504" y="11338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D3C2"/>
                </a:solidFill>
              </a:rPr>
              <a:t>EU ETS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9768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FFFFFF"/>
                </a:solidFill>
              </a:rPr>
              <a:t>Cap-and-trade system; over €175B raised since 2013.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2697480" y="178308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889504" y="1911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134"/>
                </a:solidFill>
              </a:rPr>
              <a:t>Singapore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29768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FFFFFF"/>
                </a:solidFill>
              </a:rPr>
              <a:t>Carbon tax at S$25/t in 2024–25; higher path already announced.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2697480" y="256032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889504" y="26883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D3FF"/>
                </a:solidFill>
              </a:rPr>
              <a:t>Sweden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29768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FFFFFF"/>
                </a:solidFill>
              </a:rPr>
              <a:t>Long-running carbon tax; about €138/t for natural gas and coal in 2026.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2697480" y="333756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889504" y="3465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56A4A"/>
                </a:solidFill>
              </a:rPr>
              <a:t>South Africa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9768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FFFFFF"/>
                </a:solidFill>
              </a:rPr>
              <a:t>Carbon tax rose to ZAR 236/t in 2025, with phase-ins for competitiveness.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2697480" y="43159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B134"/>
                </a:solidFill>
              </a:rPr>
              <a:t>Same idea, different designs: countries choose different prices, coverage rules, and uses of the revenue.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trade-offs should we examine?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883102" y="109728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D3C2"/>
                </a:solidFill>
              </a:rPr>
              <a:t>Potential benefits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3" y="1755647"/>
            <a:ext cx="3200399" cy="146881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FFFFFF"/>
                </a:solidFill>
              </a:rPr>
              <a:t>• Lower emissions over time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FFFFFF"/>
                </a:solidFill>
              </a:rPr>
              <a:t>• Stronger incentive for efficiency and clean innovation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FFFFFF"/>
                </a:solidFill>
              </a:rPr>
              <a:t>• New public revenue that can fund rebates or investment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50749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134"/>
                </a:solidFill>
              </a:rPr>
              <a:t>Real concerns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4834" y="1755648"/>
            <a:ext cx="3465576" cy="16338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Higher energy and transport prices in the short run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Low-income households may be hit hardest without support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Some firms worry about competitiveness if rivals face weaker rules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4160520"/>
            <a:ext cx="7589520" cy="411480"/>
          </a:xfrm>
          <a:prstGeom prst="roundRect">
            <a:avLst>
              <a:gd name="adj" fmla="val 17778"/>
            </a:avLst>
          </a:prstGeom>
          <a:solidFill>
            <a:srgbClr val="11295D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05840" y="4279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134"/>
                </a:solidFill>
              </a:rPr>
              <a:t>Good policy debate = compare benefits, costs, and who bears them.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should government do with the revenue?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96936" y="1086280"/>
            <a:ext cx="7078281" cy="884562"/>
          </a:xfrm>
          <a:prstGeom prst="roundRect">
            <a:avLst>
              <a:gd name="adj" fmla="val 10811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88961" y="1332960"/>
            <a:ext cx="5884354" cy="26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1BD3C2"/>
                </a:solidFill>
              </a:rPr>
              <a:t>Return cash to households</a:t>
            </a:r>
            <a:endParaRPr lang="en-US" sz="1580" dirty="0"/>
          </a:p>
        </p:txBody>
      </p:sp>
      <p:sp>
        <p:nvSpPr>
          <p:cNvPr id="5" name="Text 3"/>
          <p:cNvSpPr/>
          <p:nvPr/>
        </p:nvSpPr>
        <p:spPr>
          <a:xfrm>
            <a:off x="1088961" y="1600230"/>
            <a:ext cx="5884354" cy="215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</a:rPr>
              <a:t>Helps with fairness and visible affordability.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848810" y="2197998"/>
            <a:ext cx="7078281" cy="884562"/>
          </a:xfrm>
          <a:prstGeom prst="roundRect">
            <a:avLst>
              <a:gd name="adj" fmla="val 10811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40835" y="2444678"/>
            <a:ext cx="5884354" cy="26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F2B134"/>
                </a:solidFill>
              </a:rPr>
              <a:t>Invest in clean energy / transit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1040835" y="2711948"/>
            <a:ext cx="5884354" cy="215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</a:rPr>
              <a:t>Builds alternatives that make cutting emissions easier.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48810" y="3309716"/>
            <a:ext cx="7078281" cy="884562"/>
          </a:xfrm>
          <a:prstGeom prst="roundRect">
            <a:avLst>
              <a:gd name="adj" fmla="val 10811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40835" y="3556396"/>
            <a:ext cx="5884354" cy="26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8AD3FF"/>
                </a:solidFill>
              </a:rPr>
              <a:t>Cut another tax or mix approaches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1040835" y="3823666"/>
            <a:ext cx="5884354" cy="215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</a:rPr>
              <a:t>Some governments blend rebates, investment, and tax reform.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hearing: make one recommendation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7" y="932688"/>
            <a:ext cx="6685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8E7"/>
                </a:solidFill>
              </a:rPr>
              <a:t>Groups: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417320" y="9144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2B134"/>
                </a:solidFill>
              </a:rPr>
              <a:t>households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999232" y="914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D3C2"/>
                </a:solidFill>
              </a:rPr>
              <a:t>firms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913632" y="9144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AD3FF"/>
                </a:solidFill>
              </a:rPr>
              <a:t>government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58367" y="1463040"/>
            <a:ext cx="4609677" cy="530352"/>
          </a:xfrm>
          <a:prstGeom prst="roundRect">
            <a:avLst>
              <a:gd name="adj" fmla="val 13793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8368" y="1463040"/>
            <a:ext cx="146304" cy="530352"/>
          </a:xfrm>
          <a:prstGeom prst="rect">
            <a:avLst/>
          </a:prstGeom>
          <a:solidFill>
            <a:srgbClr val="1BD3C2"/>
          </a:solidFill>
          <a:ln w="12700">
            <a:solidFill>
              <a:srgbClr val="1BD3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08728" y="1524710"/>
            <a:ext cx="4359316" cy="3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1. The main problem we are trying to fix is …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9" y="2240280"/>
            <a:ext cx="4609676" cy="530352"/>
          </a:xfrm>
          <a:prstGeom prst="roundRect">
            <a:avLst>
              <a:gd name="adj" fmla="val 13793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58368" y="2240280"/>
            <a:ext cx="146304" cy="53035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2. The biggest trade-off we still worry about is …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9" y="2969314"/>
            <a:ext cx="4609676" cy="578558"/>
          </a:xfrm>
          <a:prstGeom prst="roundRect">
            <a:avLst>
              <a:gd name="adj" fmla="val 13793"/>
            </a:avLst>
          </a:prstGeom>
          <a:solidFill>
            <a:srgbClr val="0D2250"/>
          </a:solidFill>
          <a:ln w="12700">
            <a:solidFill>
              <a:srgbClr val="2C5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58368" y="3017520"/>
            <a:ext cx="146304" cy="530352"/>
          </a:xfrm>
          <a:prstGeom prst="rect">
            <a:avLst/>
          </a:prstGeom>
          <a:solidFill>
            <a:srgbClr val="D56A4A"/>
          </a:solidFill>
          <a:ln w="12700">
            <a:solidFill>
              <a:srgbClr val="D56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14400" y="315468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3. Our recommended design is … because …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" y="4160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8E7"/>
                </a:solidFill>
              </a:rPr>
              <a:t>Vote options: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965960" y="4133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</a:rPr>
              <a:t>No tax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907792" y="4133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chemeClr val="bg1"/>
                </a:solidFill>
              </a:rPr>
              <a:t>Tax + rebate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43400" y="41330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chemeClr val="bg1"/>
                </a:solidFill>
              </a:rPr>
              <a:t>Tax + green investment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01968" y="4133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chemeClr val="bg1"/>
                </a:solidFill>
              </a:rPr>
              <a:t>Hybrid</a:t>
            </a:r>
            <a:endParaRPr lang="en-US" sz="1550" dirty="0">
              <a:solidFill>
                <a:schemeClr val="bg1"/>
              </a:solidFill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7B2F67C-552C-CAD0-4616-A6E26EEA998F}"/>
              </a:ext>
            </a:extLst>
          </p:cNvPr>
          <p:cNvGrpSpPr/>
          <p:nvPr/>
        </p:nvGrpSpPr>
        <p:grpSpPr>
          <a:xfrm>
            <a:off x="5446077" y="1172597"/>
            <a:ext cx="3375611" cy="2610853"/>
            <a:chOff x="5090148" y="1143000"/>
            <a:chExt cx="3529722" cy="2610853"/>
          </a:xfrm>
        </p:grpSpPr>
        <p:sp>
          <p:nvSpPr>
            <p:cNvPr id="21" name="Shape 10"/>
            <p:cNvSpPr/>
            <p:nvPr/>
          </p:nvSpPr>
          <p:spPr>
            <a:xfrm>
              <a:off x="5090148" y="1143000"/>
              <a:ext cx="3529722" cy="2610853"/>
            </a:xfrm>
            <a:prstGeom prst="roundRect">
              <a:avLst>
                <a:gd name="adj" fmla="val 2667"/>
              </a:avLst>
            </a:prstGeom>
            <a:solidFill>
              <a:srgbClr val="11295D"/>
            </a:solidFill>
            <a:ln w="12700">
              <a:solidFill>
                <a:srgbClr val="2C5293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11"/>
            <p:cNvSpPr/>
            <p:nvPr/>
          </p:nvSpPr>
          <p:spPr>
            <a:xfrm>
              <a:off x="5364467" y="1353312"/>
              <a:ext cx="2414113" cy="278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Structured worksheet</a:t>
              </a:r>
              <a:endParaRPr lang="en-US" sz="2000" dirty="0"/>
            </a:p>
          </p:txBody>
        </p:sp>
        <p:sp>
          <p:nvSpPr>
            <p:cNvPr id="23" name="Text 12"/>
            <p:cNvSpPr/>
            <p:nvPr/>
          </p:nvSpPr>
          <p:spPr>
            <a:xfrm>
              <a:off x="5364468" y="1783080"/>
              <a:ext cx="212634" cy="1740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D3C2"/>
                  </a:solidFill>
                </a:rPr>
                <a:t>1</a:t>
              </a:r>
              <a:endParaRPr lang="en-US" sz="1600" dirty="0"/>
            </a:p>
          </p:txBody>
        </p:sp>
        <p:sp>
          <p:nvSpPr>
            <p:cNvPr id="24" name="Text 13"/>
            <p:cNvSpPr/>
            <p:nvPr/>
          </p:nvSpPr>
          <p:spPr>
            <a:xfrm>
              <a:off x="5684508" y="1737498"/>
              <a:ext cx="2730347" cy="2958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CFE8E7"/>
                  </a:solidFill>
                </a:rPr>
                <a:t>State the problem in one sentence.</a:t>
              </a:r>
              <a:endParaRPr lang="en-US" sz="1350" dirty="0"/>
            </a:p>
          </p:txBody>
        </p:sp>
        <p:sp>
          <p:nvSpPr>
            <p:cNvPr id="25" name="Text 14"/>
            <p:cNvSpPr/>
            <p:nvPr/>
          </p:nvSpPr>
          <p:spPr>
            <a:xfrm>
              <a:off x="5364468" y="2258568"/>
              <a:ext cx="212634" cy="1740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2B134"/>
                  </a:solidFill>
                </a:rPr>
                <a:t>2</a:t>
              </a:r>
              <a:endParaRPr lang="en-US" sz="1600" dirty="0"/>
            </a:p>
          </p:txBody>
        </p:sp>
        <p:sp>
          <p:nvSpPr>
            <p:cNvPr id="26" name="Text 15"/>
            <p:cNvSpPr/>
            <p:nvPr/>
          </p:nvSpPr>
          <p:spPr>
            <a:xfrm>
              <a:off x="5684508" y="2258568"/>
              <a:ext cx="2679187" cy="365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CFE8E7"/>
                  </a:solidFill>
                </a:rPr>
                <a:t>Explain what choices the tax would change.</a:t>
              </a:r>
              <a:endParaRPr lang="en-US" sz="1350" dirty="0"/>
            </a:p>
          </p:txBody>
        </p:sp>
        <p:sp>
          <p:nvSpPr>
            <p:cNvPr id="27" name="Text 16"/>
            <p:cNvSpPr/>
            <p:nvPr/>
          </p:nvSpPr>
          <p:spPr>
            <a:xfrm>
              <a:off x="5364468" y="2734056"/>
              <a:ext cx="212634" cy="1740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D56A4A"/>
                  </a:solidFill>
                </a:rPr>
                <a:t>3</a:t>
              </a:r>
              <a:endParaRPr lang="en-US" sz="1600" dirty="0"/>
            </a:p>
          </p:txBody>
        </p:sp>
        <p:sp>
          <p:nvSpPr>
            <p:cNvPr id="28" name="Text 17"/>
            <p:cNvSpPr/>
            <p:nvPr/>
          </p:nvSpPr>
          <p:spPr>
            <a:xfrm>
              <a:off x="5684508" y="2734056"/>
              <a:ext cx="2781251" cy="365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CFE8E7"/>
                  </a:solidFill>
                </a:rPr>
                <a:t>Compare short-run costs and long-run benefits.</a:t>
              </a:r>
              <a:endParaRPr lang="en-US" sz="1350" dirty="0"/>
            </a:p>
          </p:txBody>
        </p:sp>
        <p:sp>
          <p:nvSpPr>
            <p:cNvPr id="29" name="Text 18"/>
            <p:cNvSpPr/>
            <p:nvPr/>
          </p:nvSpPr>
          <p:spPr>
            <a:xfrm>
              <a:off x="5364468" y="3209544"/>
              <a:ext cx="212634" cy="1740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8AD3FF"/>
                  </a:solidFill>
                </a:rPr>
                <a:t>4</a:t>
              </a:r>
              <a:endParaRPr lang="en-US" sz="1600" dirty="0"/>
            </a:p>
          </p:txBody>
        </p:sp>
        <p:sp>
          <p:nvSpPr>
            <p:cNvPr id="30" name="Text 19"/>
            <p:cNvSpPr/>
            <p:nvPr/>
          </p:nvSpPr>
          <p:spPr>
            <a:xfrm>
              <a:off x="5684508" y="3246120"/>
              <a:ext cx="2730347" cy="330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CFE8E7"/>
                  </a:solidFill>
                </a:rPr>
                <a:t>Choose a revenue design before your vote.</a:t>
              </a:r>
              <a:endParaRPr lang="en-US" sz="135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_3_Slides/slide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518A77E0904A4AA2385D6D5CC91772" ma:contentTypeVersion="3" ma:contentTypeDescription="Create a new document." ma:contentTypeScope="" ma:versionID="193435620c9c278ff94ac46fe0f58be8">
  <xsd:schema xmlns:xsd="http://www.w3.org/2001/XMLSchema" xmlns:xs="http://www.w3.org/2001/XMLSchema" xmlns:p="http://schemas.microsoft.com/office/2006/metadata/properties" xmlns:ns2="b6ce657c-e071-4850-bb9e-22f9b7568e9e" targetNamespace="http://schemas.microsoft.com/office/2006/metadata/properties" ma:root="true" ma:fieldsID="4cd2c8c9c91d4eba02fbb70750c064fd" ns2:_="">
    <xsd:import namespace="b6ce657c-e071-4850-bb9e-22f9b7568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e657c-e071-4850-bb9e-22f9b7568e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364571-10E1-4636-8BA9-6A2238857E2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65C224-E5E2-48B7-BB1B-9025C2948E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B8D747-CF9D-428E-B574-8DB3CF4A6131}"/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1014</Words>
  <Application>Microsoft Office PowerPoint</Application>
  <PresentationFormat>On-screen Show (16:9)</PresentationFormat>
  <Paragraphs>125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 Revised Slides</dc:title>
  <dc:subject>Revised Lesson 3 policy discussion</dc:subject>
  <dc:creator>OpenAI</dc:creator>
  <cp:lastModifiedBy>Zhang, Youdan</cp:lastModifiedBy>
  <cp:revision>5</cp:revision>
  <dcterms:created xsi:type="dcterms:W3CDTF">2026-03-22T19:58:03Z</dcterms:created>
  <dcterms:modified xsi:type="dcterms:W3CDTF">2026-04-01T15:35:13Z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0x01010014518A77E0904A4AA2385D6D5CC91772</vt:lpwstr>
  </property>
</Properties>
</file>