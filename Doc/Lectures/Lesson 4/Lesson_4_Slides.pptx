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84" r:id="rId19"/>
    <p:sldId id="285" r:id="rId20"/>
    <p:sldId id="286" r:id="rId21"/>
    <p:sldId id="287" r:id="rId22"/>
    <p:sldId id="271" r:id="rId23"/>
    <p:sldId id="288" r:id="rId24"/>
    <p:sldId id="272" r:id="rId25"/>
    <p:sldId id="273" r:id="rId26"/>
    <p:sldId id="274" r:id="rId27"/>
    <p:sldId id="277" r:id="rId28"/>
    <p:sldId id="278" r:id="rId29"/>
    <p:sldId id="280" r:id="rId30"/>
    <p:sldId id="281" r:id="rId31"/>
    <p:sldId id="283"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84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2A0CD-EC1A-B926-0035-D793EE6E221A}" v="151" dt="2026-04-28T19:03:50.1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961"/>
  </p:normalViewPr>
  <p:slideViewPr>
    <p:cSldViewPr snapToGrid="0" snapToObjects="1">
      <p:cViewPr varScale="1">
        <p:scale>
          <a:sx n="125" d="100"/>
          <a:sy n="125" d="100"/>
        </p:scale>
        <p:origin x="11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ley, Anna" userId="S::anna.croley@yale.edu::f259d4c0-84b3-4ca4-8d65-c5e47386acd8" providerId="AD" clId="Web-{7782A0CD-EC1A-B926-0035-D793EE6E221A}"/>
    <pc:docChg chg="addSld modSld">
      <pc:chgData name="Croley, Anna" userId="S::anna.croley@yale.edu::f259d4c0-84b3-4ca4-8d65-c5e47386acd8" providerId="AD" clId="Web-{7782A0CD-EC1A-B926-0035-D793EE6E221A}" dt="2026-04-28T19:03:50.193" v="151" actId="20577"/>
      <pc:docMkLst>
        <pc:docMk/>
      </pc:docMkLst>
      <pc:sldChg chg="modSp">
        <pc:chgData name="Croley, Anna" userId="S::anna.croley@yale.edu::f259d4c0-84b3-4ca4-8d65-c5e47386acd8" providerId="AD" clId="Web-{7782A0CD-EC1A-B926-0035-D793EE6E221A}" dt="2026-04-28T19:03:50.193" v="151" actId="20577"/>
        <pc:sldMkLst>
          <pc:docMk/>
          <pc:sldMk cId="0" sldId="271"/>
        </pc:sldMkLst>
        <pc:spChg chg="mod">
          <ac:chgData name="Croley, Anna" userId="S::anna.croley@yale.edu::f259d4c0-84b3-4ca4-8d65-c5e47386acd8" providerId="AD" clId="Web-{7782A0CD-EC1A-B926-0035-D793EE6E221A}" dt="2026-04-28T19:00:33.597" v="68" actId="20577"/>
          <ac:spMkLst>
            <pc:docMk/>
            <pc:sldMk cId="0" sldId="271"/>
            <ac:spMk id="3" creationId="{00000000-0000-0000-0000-000000000000}"/>
          </ac:spMkLst>
        </pc:spChg>
        <pc:spChg chg="mod">
          <ac:chgData name="Croley, Anna" userId="S::anna.croley@yale.edu::f259d4c0-84b3-4ca4-8d65-c5e47386acd8" providerId="AD" clId="Web-{7782A0CD-EC1A-B926-0035-D793EE6E221A}" dt="2026-04-28T19:03:50.193" v="151" actId="20577"/>
          <ac:spMkLst>
            <pc:docMk/>
            <pc:sldMk cId="0" sldId="271"/>
            <ac:spMk id="4" creationId="{00000000-0000-0000-0000-000000000000}"/>
          </ac:spMkLst>
        </pc:spChg>
      </pc:sldChg>
      <pc:sldChg chg="delSp">
        <pc:chgData name="Croley, Anna" userId="S::anna.croley@yale.edu::f259d4c0-84b3-4ca4-8d65-c5e47386acd8" providerId="AD" clId="Web-{7782A0CD-EC1A-B926-0035-D793EE6E221A}" dt="2026-04-28T18:46:53.107" v="51"/>
        <pc:sldMkLst>
          <pc:docMk/>
          <pc:sldMk cId="2863285156" sldId="284"/>
        </pc:sldMkLst>
        <pc:spChg chg="del">
          <ac:chgData name="Croley, Anna" userId="S::anna.croley@yale.edu::f259d4c0-84b3-4ca4-8d65-c5e47386acd8" providerId="AD" clId="Web-{7782A0CD-EC1A-B926-0035-D793EE6E221A}" dt="2026-04-28T18:46:53.107" v="51"/>
          <ac:spMkLst>
            <pc:docMk/>
            <pc:sldMk cId="2863285156" sldId="284"/>
            <ac:spMk id="2" creationId="{849FF08E-0F3D-344D-C5DF-24BF9ABABA86}"/>
          </ac:spMkLst>
        </pc:spChg>
      </pc:sldChg>
      <pc:sldChg chg="addSp delSp modSp">
        <pc:chgData name="Croley, Anna" userId="S::anna.croley@yale.edu::f259d4c0-84b3-4ca4-8d65-c5e47386acd8" providerId="AD" clId="Web-{7782A0CD-EC1A-B926-0035-D793EE6E221A}" dt="2026-04-28T18:46:49.872" v="50"/>
        <pc:sldMkLst>
          <pc:docMk/>
          <pc:sldMk cId="2338169610" sldId="285"/>
        </pc:sldMkLst>
        <pc:spChg chg="del">
          <ac:chgData name="Croley, Anna" userId="S::anna.croley@yale.edu::f259d4c0-84b3-4ca4-8d65-c5e47386acd8" providerId="AD" clId="Web-{7782A0CD-EC1A-B926-0035-D793EE6E221A}" dt="2026-04-28T18:46:49.872" v="50"/>
          <ac:spMkLst>
            <pc:docMk/>
            <pc:sldMk cId="2338169610" sldId="285"/>
            <ac:spMk id="2" creationId="{6EFC7BB8-2747-B76E-5C2B-C8B931966D9A}"/>
          </ac:spMkLst>
        </pc:spChg>
        <pc:spChg chg="add del mod">
          <ac:chgData name="Croley, Anna" userId="S::anna.croley@yale.edu::f259d4c0-84b3-4ca4-8d65-c5e47386acd8" providerId="AD" clId="Web-{7782A0CD-EC1A-B926-0035-D793EE6E221A}" dt="2026-04-28T18:46:49.482" v="49"/>
          <ac:spMkLst>
            <pc:docMk/>
            <pc:sldMk cId="2338169610" sldId="285"/>
            <ac:spMk id="3" creationId="{4689A930-206B-A879-735D-2D1044956706}"/>
          </ac:spMkLst>
        </pc:spChg>
        <pc:spChg chg="add del">
          <ac:chgData name="Croley, Anna" userId="S::anna.croley@yale.edu::f259d4c0-84b3-4ca4-8d65-c5e47386acd8" providerId="AD" clId="Web-{7782A0CD-EC1A-B926-0035-D793EE6E221A}" dt="2026-04-28T18:45:47.169" v="19"/>
          <ac:spMkLst>
            <pc:docMk/>
            <pc:sldMk cId="2338169610" sldId="285"/>
            <ac:spMk id="17" creationId="{E48858D9-D98F-1264-7FE3-A38998AD2C00}"/>
          </ac:spMkLst>
        </pc:spChg>
      </pc:sldChg>
      <pc:sldChg chg="delSp">
        <pc:chgData name="Croley, Anna" userId="S::anna.croley@yale.edu::f259d4c0-84b3-4ca4-8d65-c5e47386acd8" providerId="AD" clId="Web-{7782A0CD-EC1A-B926-0035-D793EE6E221A}" dt="2026-04-28T18:46:44.825" v="47"/>
        <pc:sldMkLst>
          <pc:docMk/>
          <pc:sldMk cId="912391459" sldId="286"/>
        </pc:sldMkLst>
        <pc:spChg chg="del">
          <ac:chgData name="Croley, Anna" userId="S::anna.croley@yale.edu::f259d4c0-84b3-4ca4-8d65-c5e47386acd8" providerId="AD" clId="Web-{7782A0CD-EC1A-B926-0035-D793EE6E221A}" dt="2026-04-28T18:46:44.825" v="47"/>
          <ac:spMkLst>
            <pc:docMk/>
            <pc:sldMk cId="912391459" sldId="286"/>
            <ac:spMk id="2" creationId="{50DE5CF4-AACF-CF43-1261-747A98EA478A}"/>
          </ac:spMkLst>
        </pc:spChg>
        <pc:spChg chg="del">
          <ac:chgData name="Croley, Anna" userId="S::anna.croley@yale.edu::f259d4c0-84b3-4ca4-8d65-c5e47386acd8" providerId="AD" clId="Web-{7782A0CD-EC1A-B926-0035-D793EE6E221A}" dt="2026-04-28T18:45:52.060" v="20"/>
          <ac:spMkLst>
            <pc:docMk/>
            <pc:sldMk cId="912391459" sldId="286"/>
            <ac:spMk id="17" creationId="{F5CD72D0-4254-DD7D-BB54-145BA4724831}"/>
          </ac:spMkLst>
        </pc:spChg>
      </pc:sldChg>
      <pc:sldChg chg="delSp modSp add replId">
        <pc:chgData name="Croley, Anna" userId="S::anna.croley@yale.edu::f259d4c0-84b3-4ca4-8d65-c5e47386acd8" providerId="AD" clId="Web-{7782A0CD-EC1A-B926-0035-D793EE6E221A}" dt="2026-04-28T18:46:43.013" v="46"/>
        <pc:sldMkLst>
          <pc:docMk/>
          <pc:sldMk cId="1919927776" sldId="287"/>
        </pc:sldMkLst>
        <pc:spChg chg="del">
          <ac:chgData name="Croley, Anna" userId="S::anna.croley@yale.edu::f259d4c0-84b3-4ca4-8d65-c5e47386acd8" providerId="AD" clId="Web-{7782A0CD-EC1A-B926-0035-D793EE6E221A}" dt="2026-04-28T18:46:43.013" v="46"/>
          <ac:spMkLst>
            <pc:docMk/>
            <pc:sldMk cId="1919927776" sldId="287"/>
            <ac:spMk id="2" creationId="{BDA1C656-DE44-9B1F-E421-F1D18842B163}"/>
          </ac:spMkLst>
        </pc:spChg>
        <pc:spChg chg="mod">
          <ac:chgData name="Croley, Anna" userId="S::anna.croley@yale.edu::f259d4c0-84b3-4ca4-8d65-c5e47386acd8" providerId="AD" clId="Web-{7782A0CD-EC1A-B926-0035-D793EE6E221A}" dt="2026-04-28T18:46:34.013" v="45" actId="20577"/>
          <ac:spMkLst>
            <pc:docMk/>
            <pc:sldMk cId="1919927776" sldId="287"/>
            <ac:spMk id="3" creationId="{57022B60-BBCD-DED0-F776-FA70E117D9B0}"/>
          </ac:spMkLst>
        </pc:spChg>
      </pc:sldChg>
      <pc:sldChg chg="add replId">
        <pc:chgData name="Croley, Anna" userId="S::anna.croley@yale.edu::f259d4c0-84b3-4ca4-8d65-c5e47386acd8" providerId="AD" clId="Web-{7782A0CD-EC1A-B926-0035-D793EE6E221A}" dt="2026-04-28T18:59:45.090" v="52"/>
        <pc:sldMkLst>
          <pc:docMk/>
          <pc:sldMk cId="1834727039"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779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Welcome students back. 'Today we're going to explore one of the biggest economic topics in the news right now—trade and tariffs. By the end of today, you'll be able to explain why countries trade, what happens when governments put taxes on imports, and who really pays the price.'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1 — Opening Hook (7 min). Have students check labels on shoes, shirt, phone, backpack, etc. Give them 2 minutes to check 3 items. Then go around the room and list countries on the board. You'll likely get: China, Vietnam, Bangladesh, India, Mexico, etc. Say: 'Look at this list—your everyday stuff comes from all over the world. What if you could only buy things made in the U.S.? What would change?'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listing countries, ask: 'What if none of this trade existed? Would your phone cost the same? Would you even have the same phone?' Let a few students respond. This sets up the idea that trade gives us access to things we couldn't easily make ourselves, or couldn't make as cheaply. Transition: 'Before we define any of this formally, let's play a game that shows WHY trade happens.'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informal polls—thumbs up, thumbs down, or sideways for 'not sure.' Don't correct anyone here. Say: 'We're going to come back to these questions at the end of class and see if anyone changed their mind.' Note the rough split on the board or just mentally. This gives you a baseline for where students are starting.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2 — Interactive Game (20 min). Transition: 'Alright, time for the fun part. We're going to do an experiment with candy.' Distribute the random candy bundles now. Each student gets 3-5 pieces of assorted candy. Make sure the mix is random—some students will get candy they love, others will get stuff they don't want. That's the 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round clearly. Emphasize: VOLUNTARY trades only. Nobody has to give up anything they don't want to. Have students write their rating (1-10) on a slip of paper or just raise fingers after each round. You'll collect these mentally or on the board. Key: between rounds, remind them to think about WHY they want to trade and what makes a trade 'worth it' to both sides.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this during the game so students are thinking about it. After all three rounds, collect the data. Write average ratings for Round 1, Round 2, Round 3 on the board. The pattern should be: ratings go up (or at worst stay the same) with each round. No one's rating should go down, because no one was forced to trade. This is the key insight.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questions. Expected answers: (1) Ratings went up each round. (2) No—because every trade was voluntary. If it would have made you worse off, you just wouldn't do it. (3) Bigger group = more potential trading partners = more chances to find someone who has what you want and wants what you have. Transition: 'What you just experienced has a name in economics. Let's put the formal terms on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3 — Lecture (18 min). Start connecting the game to formal concepts. 'What you did with the candy—swapping Skittles for Reese's—that's trade. The same thing happens between countries, just on a massive scale. The U.S. trades with over 200 countries every year.'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how your ratings went up each round? That increase in happiness—economists call that gains from trade. Both sides benefit from a voluntary exchange, or else they wouldn't agree to it. That's why nobody's rating went down.' Key point: trade is not zero-sum. One person's gain does NOT have to be another person's loss. This is a common misconception—address it directly.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'Countries are like the students in our game—everyone has different stuff and different preferences. The U.S. is really good at making software, growing soybeans, and making movies. Vietnam is really good at making clothing cheaply. If each country focuses on what it does best and then trades, both end up with MORE than if they tried to do everything themselves.' Draw the analogy: 'In the candy game, you didn't all start with the same candy. That's why trade was valuable—you had different things and different preferences.'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definitions. Connect back to the label check: 'All those countries on the board? Those are where your imports come from. Your phone was manufactured in China and imported to the U.S. Meanwhile, the U.S. exports things like soybeans, airplanes, and software to other countries.' Memory trick: 'Imports come IN. Exports EXIT.'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ratings go up MORE in Round 3 than Round 2? Because you had more people to trade with. The bigger the market, the more likely you'll find someone who has exactly what you want. This is the same reason countries benefit from trading with LOTS of other countries, not just one or two.' This sets up the tariff discussion—tariffs restrict who you can trade with (or make it more expensive), which reduces gains from trade.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tariff is a tax the government puts on goods coming in from other countries. Here's the candy version: imagine that in Round 3, every time you wanted to trade with someone, you had to give me one piece of candy as a fee. Would you have traded as much? Probably not. Would your rating have been as high? Probably not. That's exactly what a tariff does—it makes trade more expensive, which means some trades that would have made people better off just don't happen.' Key misconception to address: 'Who pays the tariff? Many people think the other country pays it. But the tariff is paid by the IMPORTER—an American company—and that cost usually gets passed on to YOU, the consumer, through higher prices.'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ED78-AFD5-D1D5-CE9A-16FF185215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2D2D4-C9B3-7F5B-F192-B56B52126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AD49C-CC11-9D95-EFAD-7F8D271E5C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27CCAE-E555-7D7D-856F-C323BE699197}"/>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9867535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2CFD2-C101-F879-355F-1672A44A78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4E7A3-EB01-7E18-2752-1A6FE990CA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58E22-2BE7-4C6B-5609-ED14DE66F7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C44203-FA63-8306-FD1E-14CF03B1DB9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01993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9E464-5B4A-51F2-96A2-8B08DE6326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63366-BB89-6550-00DB-0BC7F6B3CB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03505-0006-E7F3-CE4D-B50E85EC57C1}"/>
              </a:ext>
            </a:extLst>
          </p:cNvPr>
          <p:cNvSpPr>
            <a:spLocks noGrp="1"/>
          </p:cNvSpPr>
          <p:nvPr>
            <p:ph type="body" idx="1"/>
          </p:nvPr>
        </p:nvSpPr>
        <p:spPr/>
        <p:txBody>
          <a:bodyPr/>
          <a:lstStyle/>
          <a:p>
            <a:r>
              <a:rPr lang="en-US" dirty="0"/>
              <a:t>Stop and ask the class what they think. Answer: It depends. But most of the time the firms raise their prices to cover the tariffs, and so the end customers – you and I -- end up paying. That is why tariffs are sometimes referred to as a “tax on American consumers”</a:t>
            </a:r>
          </a:p>
        </p:txBody>
      </p:sp>
      <p:sp>
        <p:nvSpPr>
          <p:cNvPr id="4" name="Slide Number Placeholder 3">
            <a:extLst>
              <a:ext uri="{FF2B5EF4-FFF2-40B4-BE49-F238E27FC236}">
                <a16:creationId xmlns:a16="http://schemas.microsoft.com/office/drawing/2014/main" id="{53B2B381-946D-8DB4-5F6E-B20C65FE9BB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70182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BF7C-F52F-6E14-159E-E28A9AD7E2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22909E-747D-6FCB-DF23-346EAC0F8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83E67F-CFFC-9E9B-A5E3-919EE7FDA35F}"/>
              </a:ext>
            </a:extLst>
          </p:cNvPr>
          <p:cNvSpPr>
            <a:spLocks noGrp="1"/>
          </p:cNvSpPr>
          <p:nvPr>
            <p:ph type="body" idx="1"/>
          </p:nvPr>
        </p:nvSpPr>
        <p:spPr/>
        <p:txBody>
          <a:bodyPr/>
          <a:lstStyle/>
          <a:p>
            <a:r>
              <a:rPr lang="en-US" dirty="0"/>
              <a:t>Stop and ask the class what they think. Answer: It depends. But most of the time the firms raise their prices to cover the tariffs, and so the end customers – you and I -- end up paying. That is why tariffs are sometimes referred to as a “tax on American consumers”</a:t>
            </a:r>
          </a:p>
        </p:txBody>
      </p:sp>
      <p:sp>
        <p:nvSpPr>
          <p:cNvPr id="4" name="Slide Number Placeholder 3">
            <a:extLst>
              <a:ext uri="{FF2B5EF4-FFF2-40B4-BE49-F238E27FC236}">
                <a16:creationId xmlns:a16="http://schemas.microsoft.com/office/drawing/2014/main" id="{1ED98617-76D8-D089-57C7-90A3438287B4}"/>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531259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tariffs make things more expensive, why would a government ever use them? There are a few reasons.' Walk through each. Emphasize that these are real arguments people make, and we'll evaluate them in our policy debate. 'The question isn't whether tariffs exist—they do. The question is whether the benefits are worth the costs. That's the economic way to think about it.' Transition to break: 'Take 5 minutes. When we come back, we're going to look at a real tariff that's in the news right now and decide: is it worth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D0B85-94B6-85D6-5D4C-58E4578BD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7C320-C57F-AE3C-FF9D-517ED456AC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6950E-DF3F-A8F7-1FC8-9E522CBBC04F}"/>
              </a:ext>
            </a:extLst>
          </p:cNvPr>
          <p:cNvSpPr>
            <a:spLocks noGrp="1"/>
          </p:cNvSpPr>
          <p:nvPr>
            <p:ph type="body" idx="1"/>
          </p:nvPr>
        </p:nvSpPr>
        <p:spPr/>
        <p:txBody>
          <a:bodyPr/>
          <a:lstStyle/>
          <a:p>
            <a:r>
              <a:rPr lang="en-US" dirty="0"/>
              <a:t>'So if tariffs make things more expensive, why would a government ever use them? There are a few reasons.' Walk through each. Emphasize that these are real arguments people make, and we'll evaluate them in our policy debate. 'The question isn't whether tariffs exist—they do. The question is whether the benefits are worth the costs. That's the economic way to think about it.' Transition to break: 'Take 5 minutes. When we come back, we're going to look at a real tariff that's in the news right now and decide: is it worth it?'</a:t>
            </a:r>
          </a:p>
        </p:txBody>
      </p:sp>
      <p:sp>
        <p:nvSpPr>
          <p:cNvPr id="4" name="Slide Number Placeholder 3">
            <a:extLst>
              <a:ext uri="{FF2B5EF4-FFF2-40B4-BE49-F238E27FC236}">
                <a16:creationId xmlns:a16="http://schemas.microsoft.com/office/drawing/2014/main" id="{DB3C347C-3CFF-6FD8-1CD2-5C54781650CC}"/>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89641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5-minute break.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 4A — Introduce the Policy Debate (7 min). 'Welcome back. We just learned what tariffs are and why governments use them. Now let's look at a real case: steel tariffs. The U.S. has placed tariffs of 25% on imported steel. The argument is that we need to protect American steel workers and keep steel production in the U.S. for national security reasons. But there's a catch...'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debrief. Ask 2-3 students to share. Then re-poll: 'Thumbs up/down—tariffs protect American jobs. Has anyone moved?' and 'International trade is mostly good for the U.S.—any changes?' Compare to the opening. Usually you see more nuance after the lesson—students who were firmly one way start to see the other side. That's the goal: not to tell them what to think, but to give them the tools to think it through.</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four key takeaways. Read each one aloud. 'These four ideas are the core of what you need to take away from today. You experienced gains from trade with the candy. You saw that your stuff comes from dozens of countries. You learned that tariffs are taxes on US consumers. And you debated whether the tradeoffs are worth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lesson. Collect exit tickets. Remind students of next lesson topic if applicable.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914400"/>
            <a:ext cx="7772400" cy="3200400"/>
          </a:xfrm>
          <a:prstGeom prst="rect">
            <a:avLst/>
          </a:prstGeom>
          <a:noFill/>
          <a:ln/>
        </p:spPr>
        <p:txBody>
          <a:bodyPr wrap="square" rtlCol="0" anchor="ctr"/>
          <a:lstStyle/>
          <a:p>
            <a:pPr marL="0" indent="0" algn="l">
              <a:buNone/>
            </a:pPr>
            <a:r>
              <a:rPr lang="en-US" sz="4800" i="1" dirty="0">
                <a:solidFill>
                  <a:srgbClr val="FFFFFF"/>
                </a:solidFill>
                <a:latin typeface="Calibri" pitchFamily="34" charset="0"/>
                <a:ea typeface="Calibri" pitchFamily="34" charset="-122"/>
                <a:cs typeface="Calibri" pitchFamily="34" charset="-120"/>
              </a:rPr>
              <a:t>Trade and Tariffs</a:t>
            </a:r>
            <a:endParaRPr lang="en-US" sz="4800" dirty="0"/>
          </a:p>
        </p:txBody>
      </p:sp>
      <p:sp>
        <p:nvSpPr>
          <p:cNvPr id="4" name="Text 2"/>
          <p:cNvSpPr/>
          <p:nvPr/>
        </p:nvSpPr>
        <p:spPr>
          <a:xfrm>
            <a:off x="640080" y="3840480"/>
            <a:ext cx="3657600" cy="548640"/>
          </a:xfrm>
          <a:prstGeom prst="rect">
            <a:avLst/>
          </a:prstGeom>
          <a:noFill/>
          <a:ln/>
        </p:spPr>
        <p:txBody>
          <a:bodyPr wrap="square" rtlCol="0" anchor="ctr"/>
          <a:lstStyle/>
          <a:p>
            <a:pPr marL="0" indent="0">
              <a:buNone/>
            </a:pPr>
            <a:r>
              <a:rPr lang="en-US" sz="2000" i="1" dirty="0">
                <a:solidFill>
                  <a:srgbClr val="B0C4DE"/>
                </a:solidFill>
                <a:latin typeface="Calibri" pitchFamily="34" charset="0"/>
                <a:ea typeface="Calibri" pitchFamily="34" charset="-122"/>
                <a:cs typeface="Calibri" pitchFamily="34" charset="-120"/>
              </a:rPr>
              <a:t>Lesson 4</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457200"/>
            <a:ext cx="7772400" cy="137160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Where was your phone made?</a:t>
            </a:r>
            <a:endParaRPr lang="en-US" sz="3600" dirty="0"/>
          </a:p>
        </p:txBody>
      </p:sp>
      <p:sp>
        <p:nvSpPr>
          <p:cNvPr id="4" name="Text 2"/>
          <p:cNvSpPr/>
          <p:nvPr/>
        </p:nvSpPr>
        <p:spPr>
          <a:xfrm>
            <a:off x="640080" y="1828800"/>
            <a:ext cx="7772400" cy="914400"/>
          </a:xfrm>
          <a:prstGeom prst="rect">
            <a:avLst/>
          </a:prstGeom>
          <a:noFill/>
          <a:ln/>
        </p:spPr>
        <p:txBody>
          <a:bodyPr wrap="square" rtlCol="0" anchor="ctr"/>
          <a:lstStyle/>
          <a:p>
            <a:pPr marL="0" indent="0">
              <a:buNone/>
            </a:pPr>
            <a:r>
              <a:rPr lang="en-US" sz="2800" i="1" dirty="0">
                <a:solidFill>
                  <a:srgbClr val="B0C4DE"/>
                </a:solidFill>
                <a:latin typeface="Calibri" pitchFamily="34" charset="0"/>
                <a:ea typeface="Calibri" pitchFamily="34" charset="-122"/>
                <a:cs typeface="Calibri" pitchFamily="34" charset="-120"/>
              </a:rPr>
              <a:t>What about your shoes? Your shirt?</a:t>
            </a:r>
            <a:endParaRPr lang="en-US" sz="2800" dirty="0"/>
          </a:p>
        </p:txBody>
      </p:sp>
      <p:sp>
        <p:nvSpPr>
          <p:cNvPr id="5" name="Text 3"/>
          <p:cNvSpPr/>
          <p:nvPr/>
        </p:nvSpPr>
        <p:spPr>
          <a:xfrm>
            <a:off x="640080" y="3017520"/>
            <a:ext cx="7772400" cy="137160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Check the labels on 3 things you have with you right now.</a:t>
            </a:r>
            <a:endParaRPr lang="en-US" sz="2000" dirty="0"/>
          </a:p>
          <a:p>
            <a:pPr marL="0" indent="0">
              <a:buNone/>
            </a:pPr>
            <a:r>
              <a:rPr lang="en-US" sz="2000" dirty="0">
                <a:solidFill>
                  <a:srgbClr val="FFFFFF"/>
                </a:solidFill>
                <a:latin typeface="Calibri" pitchFamily="34" charset="0"/>
                <a:ea typeface="Calibri" pitchFamily="34" charset="-122"/>
                <a:cs typeface="Calibri" pitchFamily="34" charset="-120"/>
              </a:rPr>
              <a:t>Write down the country for each one.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457200"/>
            <a:ext cx="7772400" cy="109728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How many countries are in this room?</a:t>
            </a:r>
            <a:endParaRPr lang="en-US" sz="3600" dirty="0"/>
          </a:p>
        </p:txBody>
      </p:sp>
      <p:sp>
        <p:nvSpPr>
          <p:cNvPr id="4" name="Text 2"/>
          <p:cNvSpPr/>
          <p:nvPr/>
        </p:nvSpPr>
        <p:spPr>
          <a:xfrm>
            <a:off x="640080" y="2011680"/>
            <a:ext cx="7772400" cy="22860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Imagine if everything had to be made here.</a:t>
            </a:r>
            <a:endParaRPr lang="en-US" sz="2200" dirty="0"/>
          </a:p>
          <a:p>
            <a:pPr marL="0" indent="0">
              <a:buNone/>
            </a:pPr>
            <a:endParaRPr lang="en-US" sz="2200" dirty="0"/>
          </a:p>
          <a:p>
            <a:pPr marL="0" indent="0">
              <a:buNone/>
            </a:pPr>
            <a:r>
              <a:rPr lang="en-US" sz="2200" i="1" dirty="0">
                <a:solidFill>
                  <a:srgbClr val="FFD700"/>
                </a:solidFill>
                <a:latin typeface="Calibri" pitchFamily="34" charset="0"/>
                <a:ea typeface="Calibri" pitchFamily="34" charset="-122"/>
                <a:cs typeface="Calibri" pitchFamily="34" charset="-120"/>
              </a:rPr>
              <a:t>What would cost more? What might disappear entirely?</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Quick polls</a:t>
            </a:r>
            <a:endParaRPr lang="en-US" sz="3600" dirty="0"/>
          </a:p>
        </p:txBody>
      </p:sp>
      <p:sp>
        <p:nvSpPr>
          <p:cNvPr id="4" name="Text 2"/>
          <p:cNvSpPr/>
          <p:nvPr/>
        </p:nvSpPr>
        <p:spPr>
          <a:xfrm>
            <a:off x="640080" y="1188720"/>
            <a:ext cx="7772400" cy="3200400"/>
          </a:xfrm>
          <a:prstGeom prst="rect">
            <a:avLst/>
          </a:prstGeom>
          <a:noFill/>
          <a:ln/>
        </p:spPr>
        <p:txBody>
          <a:bodyPr wrap="square" rtlCol="0" anchor="ctr"/>
          <a:lstStyle/>
          <a:p>
            <a:pPr marL="0" indent="0">
              <a:buNone/>
            </a:pPr>
            <a:r>
              <a:rPr lang="en-US" sz="2000" b="1" dirty="0">
                <a:solidFill>
                  <a:srgbClr val="FFD700"/>
                </a:solidFill>
                <a:latin typeface="Calibri" pitchFamily="34" charset="0"/>
                <a:ea typeface="Calibri" pitchFamily="34" charset="-122"/>
                <a:cs typeface="Calibri" pitchFamily="34" charset="-120"/>
              </a:rPr>
              <a:t>Thumbs up / thumbs down:</a:t>
            </a:r>
            <a:endParaRPr lang="en-US" sz="2000" dirty="0"/>
          </a:p>
          <a:p>
            <a:pPr marL="0" indent="0">
              <a:buNone/>
            </a:pPr>
            <a:endParaRPr lang="en-US" sz="2000" dirty="0"/>
          </a:p>
          <a:p>
            <a:pPr marL="0" indent="0">
              <a:buNone/>
            </a:pPr>
            <a:r>
              <a:rPr lang="en-US" sz="2200" dirty="0">
                <a:solidFill>
                  <a:srgbClr val="FFFFFF"/>
                </a:solidFill>
                <a:latin typeface="Calibri" pitchFamily="34" charset="0"/>
                <a:ea typeface="Calibri" pitchFamily="34" charset="-122"/>
                <a:cs typeface="Calibri" pitchFamily="34" charset="-120"/>
              </a:rPr>
              <a:t>1. "Tariffs protect American jobs."</a:t>
            </a:r>
            <a:endParaRPr lang="en-US" sz="2000" dirty="0"/>
          </a:p>
          <a:p>
            <a:pPr marL="0" indent="0">
              <a:buNone/>
            </a:pPr>
            <a:r>
              <a:rPr lang="en-US" sz="1800" i="1" dirty="0">
                <a:solidFill>
                  <a:srgbClr val="B0C4DE"/>
                </a:solidFill>
                <a:latin typeface="Calibri" pitchFamily="34" charset="0"/>
                <a:ea typeface="Calibri" pitchFamily="34" charset="-122"/>
                <a:cs typeface="Calibri" pitchFamily="34" charset="-120"/>
              </a:rPr>
              <a:t>      Agree? Disagree? Not sure?</a:t>
            </a:r>
            <a:endParaRPr lang="en-US" sz="2000" dirty="0"/>
          </a:p>
          <a:p>
            <a:pPr marL="0" indent="0">
              <a:buNone/>
            </a:pPr>
            <a:endParaRPr lang="en-US" sz="2000" dirty="0"/>
          </a:p>
          <a:p>
            <a:pPr marL="0" indent="0">
              <a:buNone/>
            </a:pPr>
            <a:r>
              <a:rPr lang="en-US" sz="2200" dirty="0">
                <a:solidFill>
                  <a:srgbClr val="FFFFFF"/>
                </a:solidFill>
                <a:latin typeface="Calibri" pitchFamily="34" charset="0"/>
                <a:ea typeface="Calibri" pitchFamily="34" charset="-122"/>
                <a:cs typeface="Calibri" pitchFamily="34" charset="-120"/>
              </a:rPr>
              <a:t>2. "International trade is mostly good for the U.S."</a:t>
            </a:r>
            <a:endParaRPr lang="en-US" sz="2000" dirty="0"/>
          </a:p>
          <a:p>
            <a:pPr marL="0" indent="0">
              <a:buNone/>
            </a:pPr>
            <a:r>
              <a:rPr lang="en-US" sz="1800" i="1" dirty="0">
                <a:solidFill>
                  <a:srgbClr val="B0C4DE"/>
                </a:solidFill>
                <a:latin typeface="Calibri" pitchFamily="34" charset="0"/>
                <a:ea typeface="Calibri" pitchFamily="34" charset="-122"/>
                <a:cs typeface="Calibri" pitchFamily="34" charset="-120"/>
              </a:rPr>
              <a:t>      Agree? Disagree? Not sure?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1371600"/>
            <a:ext cx="7772400" cy="2286000"/>
          </a:xfrm>
          <a:prstGeom prst="rect">
            <a:avLst/>
          </a:prstGeom>
          <a:noFill/>
          <a:ln/>
        </p:spPr>
        <p:txBody>
          <a:bodyPr wrap="square" rtlCol="0" anchor="ctr"/>
          <a:lstStyle/>
          <a:p>
            <a:pPr marL="0" indent="0">
              <a:buNone/>
            </a:pPr>
            <a:r>
              <a:rPr lang="en-US" sz="4800" dirty="0">
                <a:solidFill>
                  <a:srgbClr val="FFFFFF"/>
                </a:solidFill>
                <a:latin typeface="Calibri" pitchFamily="34" charset="0"/>
                <a:ea typeface="Calibri" pitchFamily="34" charset="-122"/>
                <a:cs typeface="Calibri" pitchFamily="34" charset="-120"/>
              </a:rPr>
              <a:t>🍬  </a:t>
            </a:r>
            <a:r>
              <a:rPr lang="en-US" sz="4200" i="1" dirty="0">
                <a:solidFill>
                  <a:srgbClr val="FFFFFF"/>
                </a:solidFill>
                <a:latin typeface="Calibri" pitchFamily="34" charset="0"/>
                <a:ea typeface="Calibri" pitchFamily="34" charset="-122"/>
                <a:cs typeface="Calibri" pitchFamily="34" charset="-120"/>
              </a:rPr>
              <a:t>The Candy Trading Game</a:t>
            </a: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Game Rules</a:t>
            </a:r>
            <a:endParaRPr lang="en-US" sz="3600" dirty="0"/>
          </a:p>
        </p:txBody>
      </p:sp>
      <p:sp>
        <p:nvSpPr>
          <p:cNvPr id="4" name="Text 2"/>
          <p:cNvSpPr/>
          <p:nvPr/>
        </p:nvSpPr>
        <p:spPr>
          <a:xfrm>
            <a:off x="640080" y="1097280"/>
            <a:ext cx="7772400" cy="3474720"/>
          </a:xfrm>
          <a:prstGeom prst="rect">
            <a:avLst/>
          </a:prstGeom>
          <a:noFill/>
          <a:ln/>
        </p:spPr>
        <p:txBody>
          <a:bodyPr wrap="square" rtlCol="0" anchor="ctr"/>
          <a:lstStyle/>
          <a:p>
            <a:pPr marL="0" indent="0">
              <a:buNone/>
            </a:pPr>
            <a:r>
              <a:rPr lang="en-US" sz="1900" b="1" dirty="0">
                <a:solidFill>
                  <a:srgbClr val="FF69B4"/>
                </a:solidFill>
                <a:latin typeface="Calibri" pitchFamily="34" charset="0"/>
                <a:ea typeface="Calibri" pitchFamily="34" charset="-122"/>
                <a:cs typeface="Calibri" pitchFamily="34" charset="-120"/>
              </a:rPr>
              <a:t>Round 1: </a:t>
            </a:r>
            <a:r>
              <a:rPr lang="en-US" sz="1900" dirty="0">
                <a:solidFill>
                  <a:srgbClr val="FFFFFF"/>
                </a:solidFill>
                <a:latin typeface="Calibri" pitchFamily="34" charset="0"/>
                <a:ea typeface="Calibri" pitchFamily="34" charset="-122"/>
                <a:cs typeface="Calibri" pitchFamily="34" charset="-120"/>
              </a:rPr>
              <a:t>Rate your candy bundle 1–10. No trading.</a:t>
            </a:r>
            <a:endParaRPr lang="en-US" sz="1900" dirty="0"/>
          </a:p>
          <a:p>
            <a:pPr marL="0" indent="0">
              <a:buNone/>
            </a:pPr>
            <a:endParaRPr lang="en-US" sz="1900" dirty="0"/>
          </a:p>
          <a:p>
            <a:pPr marL="0" indent="0">
              <a:buNone/>
            </a:pPr>
            <a:r>
              <a:rPr lang="en-US" sz="1900" b="1" dirty="0">
                <a:solidFill>
                  <a:srgbClr val="FFD700"/>
                </a:solidFill>
                <a:latin typeface="Calibri" pitchFamily="34" charset="0"/>
                <a:ea typeface="Calibri" pitchFamily="34" charset="-122"/>
                <a:cs typeface="Calibri" pitchFamily="34" charset="-120"/>
              </a:rPr>
              <a:t>Round 2: </a:t>
            </a:r>
            <a:r>
              <a:rPr lang="en-US" sz="1900" dirty="0">
                <a:solidFill>
                  <a:srgbClr val="FFFFFF"/>
                </a:solidFill>
                <a:latin typeface="Calibri" pitchFamily="34" charset="0"/>
                <a:ea typeface="Calibri" pitchFamily="34" charset="-122"/>
                <a:cs typeface="Calibri" pitchFamily="34" charset="-120"/>
              </a:rPr>
              <a:t>Form small groups (3–4). Trade within your group only.</a:t>
            </a:r>
            <a:endParaRPr lang="en-US" sz="1900" dirty="0"/>
          </a:p>
          <a:p>
            <a:pPr marL="0" indent="0">
              <a:buNone/>
            </a:pPr>
            <a:r>
              <a:rPr lang="en-US" sz="1900" i="1" dirty="0">
                <a:solidFill>
                  <a:srgbClr val="B0C4DE"/>
                </a:solidFill>
                <a:latin typeface="Calibri" pitchFamily="34" charset="0"/>
                <a:ea typeface="Calibri" pitchFamily="34" charset="-122"/>
                <a:cs typeface="Calibri" pitchFamily="34" charset="-120"/>
              </a:rPr>
              <a:t>Rate your bundle again.</a:t>
            </a:r>
            <a:endParaRPr lang="en-US" sz="1900" dirty="0"/>
          </a:p>
          <a:p>
            <a:pPr marL="0" indent="0">
              <a:buNone/>
            </a:pPr>
            <a:endParaRPr lang="en-US" sz="1900" dirty="0"/>
          </a:p>
          <a:p>
            <a:pPr marL="0" indent="0">
              <a:buNone/>
            </a:pPr>
            <a:r>
              <a:rPr lang="en-US" sz="1900" b="1" dirty="0">
                <a:solidFill>
                  <a:srgbClr val="7CFC00"/>
                </a:solidFill>
                <a:latin typeface="Calibri" pitchFamily="34" charset="0"/>
                <a:ea typeface="Calibri" pitchFamily="34" charset="-122"/>
                <a:cs typeface="Calibri" pitchFamily="34" charset="-120"/>
              </a:rPr>
              <a:t>Round 3: </a:t>
            </a:r>
            <a:r>
              <a:rPr lang="en-US" sz="1900" dirty="0">
                <a:solidFill>
                  <a:srgbClr val="FFFFFF"/>
                </a:solidFill>
                <a:latin typeface="Calibri" pitchFamily="34" charset="0"/>
                <a:ea typeface="Calibri" pitchFamily="34" charset="-122"/>
                <a:cs typeface="Calibri" pitchFamily="34" charset="-120"/>
              </a:rPr>
              <a:t>Trade with ANYONE in the class.</a:t>
            </a:r>
            <a:endParaRPr lang="en-US" sz="1900" dirty="0"/>
          </a:p>
          <a:p>
            <a:pPr marL="0" indent="0">
              <a:buNone/>
            </a:pPr>
            <a:r>
              <a:rPr lang="en-US" sz="1900" i="1" dirty="0">
                <a:solidFill>
                  <a:srgbClr val="B0C4DE"/>
                </a:solidFill>
                <a:latin typeface="Calibri" pitchFamily="34" charset="0"/>
                <a:ea typeface="Calibri" pitchFamily="34" charset="-122"/>
                <a:cs typeface="Calibri" pitchFamily="34" charset="-120"/>
              </a:rPr>
              <a:t>Rate your bundle one last time.</a:t>
            </a:r>
            <a:endParaRPr lang="en-US" sz="1900" dirty="0"/>
          </a:p>
          <a:p>
            <a:pPr marL="0" indent="0">
              <a:buNone/>
            </a:pPr>
            <a:endParaRPr lang="en-US" sz="1900" dirty="0"/>
          </a:p>
          <a:p>
            <a:pPr marL="0" indent="0">
              <a:buNone/>
            </a:pPr>
            <a:r>
              <a:rPr lang="en-US" sz="1900" b="1" dirty="0">
                <a:solidFill>
                  <a:srgbClr val="FFFFFF"/>
                </a:solidFill>
                <a:latin typeface="Calibri" pitchFamily="34" charset="0"/>
                <a:ea typeface="Calibri" pitchFamily="34" charset="-122"/>
                <a:cs typeface="Calibri" pitchFamily="34" charset="-120"/>
              </a:rPr>
              <a:t>Rule: </a:t>
            </a:r>
            <a:r>
              <a:rPr lang="en-US" sz="1900" dirty="0">
                <a:solidFill>
                  <a:srgbClr val="FFFFFF"/>
                </a:solidFill>
                <a:latin typeface="Calibri" pitchFamily="34" charset="0"/>
                <a:ea typeface="Calibri" pitchFamily="34" charset="-122"/>
                <a:cs typeface="Calibri" pitchFamily="34" charset="-120"/>
              </a:rPr>
              <a:t>No one can be forced to trade. Every trade is voluntary.</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D700"/>
                </a:solidFill>
                <a:latin typeface="Calibri" pitchFamily="34" charset="0"/>
                <a:ea typeface="Calibri" pitchFamily="34" charset="-122"/>
                <a:cs typeface="Calibri" pitchFamily="34" charset="-120"/>
              </a:rPr>
              <a:t>What to watch for</a:t>
            </a:r>
            <a:endParaRPr lang="en-US" sz="3600" dirty="0"/>
          </a:p>
        </p:txBody>
      </p:sp>
      <p:sp>
        <p:nvSpPr>
          <p:cNvPr id="4" name="Text 2"/>
          <p:cNvSpPr/>
          <p:nvPr/>
        </p:nvSpPr>
        <p:spPr>
          <a:xfrm>
            <a:off x="640080" y="1371600"/>
            <a:ext cx="7772400" cy="274320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  Did anyone's rating go DOWN after trading?</a:t>
            </a:r>
            <a:endParaRPr lang="en-US" sz="2200" dirty="0"/>
          </a:p>
          <a:p>
            <a:pPr marL="0" indent="0">
              <a:buNone/>
            </a:pPr>
            <a:endParaRPr lang="en-US" sz="2200" dirty="0"/>
          </a:p>
          <a:p>
            <a:pPr marL="0" indent="0">
              <a:buNone/>
            </a:pPr>
            <a:r>
              <a:rPr lang="en-US" sz="2200" dirty="0">
                <a:solidFill>
                  <a:srgbClr val="FFFFFF"/>
                </a:solidFill>
                <a:latin typeface="Calibri" pitchFamily="34" charset="0"/>
                <a:ea typeface="Calibri" pitchFamily="34" charset="-122"/>
                <a:cs typeface="Calibri" pitchFamily="34" charset="-120"/>
              </a:rPr>
              <a:t>👀  Did more people get what they wanted in Round 2 or Round 3?</a:t>
            </a:r>
            <a:endParaRPr lang="en-US" sz="2200" dirty="0"/>
          </a:p>
          <a:p>
            <a:pPr marL="0" indent="0">
              <a:buNone/>
            </a:pPr>
            <a:endParaRPr lang="en-US" sz="2200" dirty="0"/>
          </a:p>
          <a:p>
            <a:pPr marL="0" indent="0">
              <a:buNone/>
            </a:pPr>
            <a:r>
              <a:rPr lang="en-US" sz="2200" dirty="0">
                <a:solidFill>
                  <a:srgbClr val="FFFFFF"/>
                </a:solidFill>
                <a:latin typeface="Calibri" pitchFamily="34" charset="0"/>
                <a:ea typeface="Calibri" pitchFamily="34" charset="-122"/>
                <a:cs typeface="Calibri" pitchFamily="34" charset="-120"/>
              </a:rPr>
              <a:t>👀  Why would you ever agree to a trade?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Debrief</a:t>
            </a:r>
            <a:endParaRPr lang="en-US" sz="3600" dirty="0"/>
          </a:p>
        </p:txBody>
      </p:sp>
      <p:sp>
        <p:nvSpPr>
          <p:cNvPr id="4" name="Text 2"/>
          <p:cNvSpPr/>
          <p:nvPr/>
        </p:nvSpPr>
        <p:spPr>
          <a:xfrm>
            <a:off x="640080" y="1188720"/>
            <a:ext cx="7772400" cy="3200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1. What happened to the average rating across the three rounds?</a:t>
            </a:r>
            <a:endParaRPr lang="en-US" sz="2000" dirty="0"/>
          </a:p>
          <a:p>
            <a:pPr marL="0" indent="0">
              <a:buNone/>
            </a:pP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2. Did anyone's rating go down? Why not?</a:t>
            </a:r>
            <a:endParaRPr lang="en-US" sz="2000" dirty="0"/>
          </a:p>
          <a:p>
            <a:pPr marL="0" indent="0">
              <a:buNone/>
            </a:pP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3. Why were more trades possible in Round 3 than Round 2?</a:t>
            </a:r>
            <a:endParaRPr lang="en-US" sz="2000" dirty="0"/>
          </a:p>
          <a:p>
            <a:pPr marL="0" indent="0">
              <a:buNone/>
            </a:pPr>
            <a:endParaRPr lang="en-US" sz="2000" dirty="0"/>
          </a:p>
          <a:p>
            <a:pPr marL="0" indent="0">
              <a:buNone/>
            </a:pPr>
            <a:r>
              <a:rPr lang="en-US" sz="2000" i="1" dirty="0">
                <a:solidFill>
                  <a:srgbClr val="FFD700"/>
                </a:solidFill>
                <a:latin typeface="Calibri" pitchFamily="34" charset="0"/>
                <a:ea typeface="Calibri" pitchFamily="34" charset="-122"/>
                <a:cs typeface="Calibri" pitchFamily="34" charset="-120"/>
              </a:rPr>
              <a:t>No one was forced to trade — so every trade made at least one person better off and no one worse off.</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365760"/>
            <a:ext cx="7772400" cy="1097280"/>
          </a:xfrm>
          <a:prstGeom prst="rect">
            <a:avLst/>
          </a:prstGeom>
          <a:noFill/>
          <a:ln/>
        </p:spPr>
        <p:txBody>
          <a:bodyPr wrap="square" rtlCol="0" anchor="ctr"/>
          <a:lstStyle/>
          <a:p>
            <a:pPr marL="0" indent="0">
              <a:buNone/>
            </a:pPr>
            <a:r>
              <a:rPr lang="en-US" sz="4400" i="1" dirty="0">
                <a:solidFill>
                  <a:srgbClr val="FFFFFF"/>
                </a:solidFill>
                <a:latin typeface="Calibri" pitchFamily="34" charset="0"/>
                <a:ea typeface="Calibri" pitchFamily="34" charset="-122"/>
                <a:cs typeface="Calibri" pitchFamily="34" charset="-120"/>
              </a:rPr>
              <a:t>Trade</a:t>
            </a:r>
            <a:endParaRPr lang="en-US" sz="4400" dirty="0"/>
          </a:p>
        </p:txBody>
      </p:sp>
      <p:sp>
        <p:nvSpPr>
          <p:cNvPr id="4" name="Text 2"/>
          <p:cNvSpPr/>
          <p:nvPr/>
        </p:nvSpPr>
        <p:spPr>
          <a:xfrm>
            <a:off x="640080" y="1645920"/>
            <a:ext cx="7772400" cy="10972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The voluntary exchange of goods or services between people, businesses, or countries</a:t>
            </a:r>
            <a:endParaRPr lang="en-US" sz="2200" dirty="0"/>
          </a:p>
        </p:txBody>
      </p:sp>
      <p:sp>
        <p:nvSpPr>
          <p:cNvPr id="5" name="Text 3"/>
          <p:cNvSpPr/>
          <p:nvPr/>
        </p:nvSpPr>
        <p:spPr>
          <a:xfrm>
            <a:off x="640080" y="3017520"/>
            <a:ext cx="7772400" cy="1371600"/>
          </a:xfrm>
          <a:prstGeom prst="rect">
            <a:avLst/>
          </a:prstGeom>
          <a:noFill/>
          <a:ln/>
        </p:spPr>
        <p:txBody>
          <a:bodyPr wrap="square" rtlCol="0" anchor="ctr"/>
          <a:lstStyle/>
          <a:p>
            <a:pPr marL="0" indent="0">
              <a:buNone/>
            </a:pPr>
            <a:r>
              <a:rPr lang="en-US" sz="2000" i="1" dirty="0">
                <a:solidFill>
                  <a:srgbClr val="FFD700"/>
                </a:solidFill>
                <a:latin typeface="Calibri" pitchFamily="34" charset="0"/>
                <a:ea typeface="Calibri" pitchFamily="34" charset="-122"/>
                <a:cs typeface="Calibri" pitchFamily="34" charset="-120"/>
              </a:rPr>
              <a:t>Remember the candy game?</a:t>
            </a:r>
            <a:endParaRPr lang="en-US" sz="2000" dirty="0"/>
          </a:p>
          <a:p>
            <a:pPr marL="0" indent="0">
              <a:buNone/>
            </a:pPr>
            <a:r>
              <a:rPr lang="en-US" sz="2000" dirty="0">
                <a:solidFill>
                  <a:srgbClr val="B0C4DE"/>
                </a:solidFill>
                <a:latin typeface="Calibri" pitchFamily="34" charset="0"/>
                <a:ea typeface="Calibri" pitchFamily="34" charset="-122"/>
                <a:cs typeface="Calibri" pitchFamily="34" charset="-120"/>
              </a:rPr>
              <a:t>Every swap you made was a trade. It was voluntary — and that's the key.</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365760"/>
            <a:ext cx="7772400" cy="1097280"/>
          </a:xfrm>
          <a:prstGeom prst="rect">
            <a:avLst/>
          </a:prstGeom>
          <a:noFill/>
          <a:ln/>
        </p:spPr>
        <p:txBody>
          <a:bodyPr wrap="square" rtlCol="0" anchor="ctr"/>
          <a:lstStyle/>
          <a:p>
            <a:pPr marL="0" indent="0">
              <a:buNone/>
            </a:pPr>
            <a:r>
              <a:rPr lang="en-US" sz="4400" i="1" dirty="0">
                <a:solidFill>
                  <a:srgbClr val="FFFFFF"/>
                </a:solidFill>
                <a:latin typeface="Calibri" pitchFamily="34" charset="0"/>
                <a:ea typeface="Calibri" pitchFamily="34" charset="-122"/>
                <a:cs typeface="Calibri" pitchFamily="34" charset="-120"/>
              </a:rPr>
              <a:t>Gains from Trade</a:t>
            </a:r>
            <a:endParaRPr lang="en-US" sz="4400" dirty="0"/>
          </a:p>
        </p:txBody>
      </p:sp>
      <p:sp>
        <p:nvSpPr>
          <p:cNvPr id="4" name="Text 2"/>
          <p:cNvSpPr/>
          <p:nvPr/>
        </p:nvSpPr>
        <p:spPr>
          <a:xfrm>
            <a:off x="640080" y="1645920"/>
            <a:ext cx="7772400" cy="1097280"/>
          </a:xfrm>
          <a:prstGeom prst="rect">
            <a:avLst/>
          </a:prstGeom>
          <a:noFill/>
          <a:ln/>
        </p:spPr>
        <p:txBody>
          <a:bodyPr wrap="square" rtlCol="0" anchor="ctr"/>
          <a:lstStyle/>
          <a:p>
            <a:pPr marL="0" indent="0">
              <a:buNone/>
            </a:pPr>
            <a:r>
              <a:rPr lang="en-US" sz="2200" dirty="0">
                <a:solidFill>
                  <a:srgbClr val="FFFFFF"/>
                </a:solidFill>
                <a:latin typeface="Calibri" pitchFamily="34" charset="0"/>
                <a:ea typeface="Calibri" pitchFamily="34" charset="-122"/>
                <a:cs typeface="Calibri" pitchFamily="34" charset="-120"/>
              </a:rPr>
              <a:t>The increase in well-being that comes from trading — both sides benefit, or they wouldn't trade</a:t>
            </a:r>
            <a:endParaRPr lang="en-US" sz="2200" dirty="0"/>
          </a:p>
        </p:txBody>
      </p:sp>
      <p:sp>
        <p:nvSpPr>
          <p:cNvPr id="5" name="Text 3"/>
          <p:cNvSpPr/>
          <p:nvPr/>
        </p:nvSpPr>
        <p:spPr>
          <a:xfrm>
            <a:off x="640080" y="3017520"/>
            <a:ext cx="7772400" cy="1371600"/>
          </a:xfrm>
          <a:prstGeom prst="rect">
            <a:avLst/>
          </a:prstGeom>
          <a:noFill/>
          <a:ln/>
        </p:spPr>
        <p:txBody>
          <a:bodyPr wrap="square" rtlCol="0" anchor="ctr"/>
          <a:lstStyle/>
          <a:p>
            <a:pPr marL="0" indent="0">
              <a:buNone/>
            </a:pPr>
            <a:r>
              <a:rPr lang="en-US" sz="2000" i="1" dirty="0">
                <a:solidFill>
                  <a:srgbClr val="FFD700"/>
                </a:solidFill>
                <a:latin typeface="Calibri" pitchFamily="34" charset="0"/>
                <a:ea typeface="Calibri" pitchFamily="34" charset="-122"/>
                <a:cs typeface="Calibri" pitchFamily="34" charset="-120"/>
              </a:rPr>
              <a:t>Your ratings went UP each round.</a:t>
            </a:r>
            <a:endParaRPr lang="en-US" sz="2000" dirty="0"/>
          </a:p>
          <a:p>
            <a:pPr marL="0" indent="0">
              <a:buNone/>
            </a:pPr>
            <a:r>
              <a:rPr lang="en-US" sz="2000" dirty="0">
                <a:solidFill>
                  <a:srgbClr val="B0C4DE"/>
                </a:solidFill>
                <a:latin typeface="Calibri" pitchFamily="34" charset="0"/>
                <a:ea typeface="Calibri" pitchFamily="34" charset="-122"/>
                <a:cs typeface="Calibri" pitchFamily="34" charset="-120"/>
              </a:rPr>
              <a:t>That improvement? Those are gains from trade.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Why trade works</a:t>
            </a:r>
            <a:endParaRPr lang="en-US" sz="3600" dirty="0"/>
          </a:p>
        </p:txBody>
      </p:sp>
      <p:sp>
        <p:nvSpPr>
          <p:cNvPr id="4" name="Shape 2"/>
          <p:cNvSpPr/>
          <p:nvPr/>
        </p:nvSpPr>
        <p:spPr>
          <a:xfrm>
            <a:off x="640080" y="1280160"/>
            <a:ext cx="3474720" cy="2560320"/>
          </a:xfrm>
          <a:prstGeom prst="rect">
            <a:avLst/>
          </a:prstGeom>
          <a:solidFill>
            <a:srgbClr val="2C3E6B"/>
          </a:solidFill>
          <a:ln/>
        </p:spPr>
        <p:txBody>
          <a:bodyPr/>
          <a:lstStyle/>
          <a:p>
            <a:endParaRPr lang="en-US"/>
          </a:p>
        </p:txBody>
      </p:sp>
      <p:sp>
        <p:nvSpPr>
          <p:cNvPr id="5" name="Text 3"/>
          <p:cNvSpPr/>
          <p:nvPr/>
        </p:nvSpPr>
        <p:spPr>
          <a:xfrm>
            <a:off x="822960" y="1463040"/>
            <a:ext cx="3108960" cy="2194560"/>
          </a:xfrm>
          <a:prstGeom prst="rect">
            <a:avLst/>
          </a:prstGeom>
          <a:noFill/>
          <a:ln/>
        </p:spPr>
        <p:txBody>
          <a:bodyPr wrap="square" rtlCol="0" anchor="ctr"/>
          <a:lstStyle/>
          <a:p>
            <a:pPr marL="0" indent="0">
              <a:buNone/>
            </a:pPr>
            <a:r>
              <a:rPr lang="en-US" sz="1800" b="1" dirty="0">
                <a:solidFill>
                  <a:srgbClr val="00BFFF"/>
                </a:solidFill>
                <a:latin typeface="Calibri" pitchFamily="34" charset="0"/>
                <a:ea typeface="Calibri" pitchFamily="34" charset="-122"/>
                <a:cs typeface="Calibri" pitchFamily="34" charset="-120"/>
              </a:rPr>
              <a:t>🇺🇸 United States</a:t>
            </a:r>
            <a:endParaRPr lang="en-US" sz="1800" dirty="0"/>
          </a:p>
          <a:p>
            <a:pPr marL="0" indent="0">
              <a:buNone/>
            </a:pPr>
            <a:endParaRPr lang="en-US" sz="1800" dirty="0"/>
          </a:p>
          <a:p>
            <a:pPr marL="0" indent="0">
              <a:buNone/>
            </a:pPr>
            <a:r>
              <a:rPr lang="en-US" sz="1500" dirty="0">
                <a:solidFill>
                  <a:srgbClr val="FFFFFF"/>
                </a:solidFill>
                <a:latin typeface="Calibri" pitchFamily="34" charset="0"/>
                <a:ea typeface="Calibri" pitchFamily="34" charset="-122"/>
                <a:cs typeface="Calibri" pitchFamily="34" charset="-120"/>
              </a:rPr>
              <a:t>Good at: technology, agriculture, finance, entertainment</a:t>
            </a:r>
            <a:endParaRPr lang="en-US" sz="1800" dirty="0"/>
          </a:p>
          <a:p>
            <a:pPr marL="0" indent="0">
              <a:buNone/>
            </a:pPr>
            <a:endParaRPr lang="en-US" sz="1800" dirty="0"/>
          </a:p>
          <a:p>
            <a:pPr marL="0" indent="0">
              <a:buNone/>
            </a:pPr>
            <a:r>
              <a:rPr lang="en-US" sz="1500" dirty="0">
                <a:solidFill>
                  <a:srgbClr val="B0C4DE"/>
                </a:solidFill>
                <a:latin typeface="Calibri" pitchFamily="34" charset="0"/>
                <a:ea typeface="Calibri" pitchFamily="34" charset="-122"/>
                <a:cs typeface="Calibri" pitchFamily="34" charset="-120"/>
              </a:rPr>
              <a:t>Less efficient at: low-cost manufacturing</a:t>
            </a:r>
            <a:endParaRPr lang="en-US" sz="1800" dirty="0"/>
          </a:p>
        </p:txBody>
      </p:sp>
      <p:sp>
        <p:nvSpPr>
          <p:cNvPr id="6" name="Shape 4"/>
          <p:cNvSpPr/>
          <p:nvPr/>
        </p:nvSpPr>
        <p:spPr>
          <a:xfrm>
            <a:off x="4846320" y="1280160"/>
            <a:ext cx="3474720" cy="2560320"/>
          </a:xfrm>
          <a:prstGeom prst="rect">
            <a:avLst/>
          </a:prstGeom>
          <a:solidFill>
            <a:srgbClr val="2C3E6B"/>
          </a:solidFill>
          <a:ln/>
        </p:spPr>
        <p:txBody>
          <a:bodyPr/>
          <a:lstStyle/>
          <a:p>
            <a:endParaRPr lang="en-US"/>
          </a:p>
        </p:txBody>
      </p:sp>
      <p:sp>
        <p:nvSpPr>
          <p:cNvPr id="7" name="Text 5"/>
          <p:cNvSpPr/>
          <p:nvPr/>
        </p:nvSpPr>
        <p:spPr>
          <a:xfrm>
            <a:off x="5029200" y="1463040"/>
            <a:ext cx="3108960" cy="2194560"/>
          </a:xfrm>
          <a:prstGeom prst="rect">
            <a:avLst/>
          </a:prstGeom>
          <a:noFill/>
          <a:ln/>
        </p:spPr>
        <p:txBody>
          <a:bodyPr wrap="square" rtlCol="0" anchor="ctr"/>
          <a:lstStyle/>
          <a:p>
            <a:pPr marL="0" indent="0">
              <a:buNone/>
            </a:pPr>
            <a:r>
              <a:rPr lang="en-US" sz="1800" b="1" dirty="0">
                <a:solidFill>
                  <a:srgbClr val="FF69B4"/>
                </a:solidFill>
                <a:latin typeface="Calibri" pitchFamily="34" charset="0"/>
                <a:ea typeface="Calibri" pitchFamily="34" charset="-122"/>
                <a:cs typeface="Calibri" pitchFamily="34" charset="-120"/>
              </a:rPr>
              <a:t>🇻🇳 Vietnam</a:t>
            </a:r>
            <a:endParaRPr lang="en-US" sz="1800" dirty="0"/>
          </a:p>
          <a:p>
            <a:pPr marL="0" indent="0">
              <a:buNone/>
            </a:pPr>
            <a:endParaRPr lang="en-US" sz="1800" dirty="0"/>
          </a:p>
          <a:p>
            <a:pPr marL="0" indent="0">
              <a:buNone/>
            </a:pPr>
            <a:r>
              <a:rPr lang="en-US" sz="1500" dirty="0">
                <a:solidFill>
                  <a:srgbClr val="FFFFFF"/>
                </a:solidFill>
                <a:latin typeface="Calibri" pitchFamily="34" charset="0"/>
                <a:ea typeface="Calibri" pitchFamily="34" charset="-122"/>
                <a:cs typeface="Calibri" pitchFamily="34" charset="-120"/>
              </a:rPr>
              <a:t>Good at: low-cost manufacturing (clothing, electronics assembly)</a:t>
            </a:r>
            <a:endParaRPr lang="en-US" sz="1800" dirty="0"/>
          </a:p>
          <a:p>
            <a:pPr marL="0" indent="0">
              <a:buNone/>
            </a:pPr>
            <a:endParaRPr lang="en-US" sz="1800" dirty="0"/>
          </a:p>
          <a:p>
            <a:pPr marL="0" indent="0">
              <a:buNone/>
            </a:pPr>
            <a:r>
              <a:rPr lang="en-US" sz="1500" dirty="0">
                <a:solidFill>
                  <a:srgbClr val="B0C4DE"/>
                </a:solidFill>
                <a:latin typeface="Calibri" pitchFamily="34" charset="0"/>
                <a:ea typeface="Calibri" pitchFamily="34" charset="-122"/>
                <a:cs typeface="Calibri" pitchFamily="34" charset="-120"/>
              </a:rPr>
              <a:t>Less efficient at: high-tech R&amp;D</a:t>
            </a:r>
            <a:endParaRPr lang="en-US" sz="1800" dirty="0"/>
          </a:p>
        </p:txBody>
      </p:sp>
      <p:sp>
        <p:nvSpPr>
          <p:cNvPr id="8" name="Text 6"/>
          <p:cNvSpPr/>
          <p:nvPr/>
        </p:nvSpPr>
        <p:spPr>
          <a:xfrm>
            <a:off x="640080" y="4114800"/>
            <a:ext cx="7772400" cy="731520"/>
          </a:xfrm>
          <a:prstGeom prst="rect">
            <a:avLst/>
          </a:prstGeom>
          <a:noFill/>
          <a:ln/>
        </p:spPr>
        <p:txBody>
          <a:bodyPr wrap="square" rtlCol="0" anchor="ctr"/>
          <a:lstStyle/>
          <a:p>
            <a:pPr marL="0" indent="0">
              <a:buNone/>
            </a:pPr>
            <a:r>
              <a:rPr lang="en-US" sz="1700" i="1" dirty="0">
                <a:solidFill>
                  <a:srgbClr val="FFD700"/>
                </a:solidFill>
                <a:latin typeface="Calibri" pitchFamily="34" charset="0"/>
                <a:ea typeface="Calibri" pitchFamily="34" charset="-122"/>
                <a:cs typeface="Calibri" pitchFamily="34" charset="-120"/>
              </a:rPr>
              <a:t>Both countries are better off specializing and trading — just like you were better off trading candy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365760"/>
            <a:ext cx="7772400" cy="914400"/>
          </a:xfrm>
          <a:prstGeom prst="rect">
            <a:avLst/>
          </a:prstGeom>
          <a:noFill/>
          <a:ln/>
        </p:spPr>
        <p:txBody>
          <a:bodyPr wrap="square" rtlCol="0" anchor="ctr"/>
          <a:lstStyle/>
          <a:p>
            <a:pPr marL="0" indent="0">
              <a:buNone/>
            </a:pPr>
            <a:r>
              <a:rPr lang="en-US" sz="4400" i="1" dirty="0">
                <a:solidFill>
                  <a:srgbClr val="FFFFFF"/>
                </a:solidFill>
                <a:latin typeface="Calibri" pitchFamily="34" charset="0"/>
                <a:ea typeface="Calibri" pitchFamily="34" charset="-122"/>
                <a:cs typeface="Calibri" pitchFamily="34" charset="-120"/>
              </a:rPr>
              <a:t>Imports and Exports</a:t>
            </a:r>
            <a:endParaRPr lang="en-US" sz="4400" dirty="0"/>
          </a:p>
        </p:txBody>
      </p:sp>
      <p:sp>
        <p:nvSpPr>
          <p:cNvPr id="4" name="Text 2"/>
          <p:cNvSpPr/>
          <p:nvPr/>
        </p:nvSpPr>
        <p:spPr>
          <a:xfrm>
            <a:off x="640080" y="1645920"/>
            <a:ext cx="7772400" cy="2743200"/>
          </a:xfrm>
          <a:prstGeom prst="rect">
            <a:avLst/>
          </a:prstGeom>
          <a:noFill/>
          <a:ln/>
        </p:spPr>
        <p:txBody>
          <a:bodyPr wrap="square" rtlCol="0" anchor="ctr"/>
          <a:lstStyle/>
          <a:p>
            <a:pPr marL="0" indent="0">
              <a:buNone/>
            </a:pPr>
            <a:r>
              <a:rPr lang="en-US" sz="2600" b="1" dirty="0">
                <a:solidFill>
                  <a:srgbClr val="FF69B4"/>
                </a:solidFill>
                <a:latin typeface="Calibri" pitchFamily="34" charset="0"/>
                <a:ea typeface="Calibri" pitchFamily="34" charset="-122"/>
                <a:cs typeface="Calibri" pitchFamily="34" charset="-120"/>
              </a:rPr>
              <a:t>Imports </a:t>
            </a:r>
            <a:r>
              <a:rPr lang="en-US" sz="2600" dirty="0">
                <a:solidFill>
                  <a:srgbClr val="FFFFFF"/>
                </a:solidFill>
                <a:latin typeface="Calibri" pitchFamily="34" charset="0"/>
                <a:ea typeface="Calibri" pitchFamily="34" charset="-122"/>
                <a:cs typeface="Calibri" pitchFamily="34" charset="-120"/>
              </a:rPr>
              <a:t>= goods coming IN to a country</a:t>
            </a:r>
            <a:endParaRPr lang="en-US" sz="2600" dirty="0"/>
          </a:p>
          <a:p>
            <a:pPr marL="0" indent="0">
              <a:buNone/>
            </a:pPr>
            <a:r>
              <a:rPr lang="en-US" sz="1800" i="1" dirty="0">
                <a:solidFill>
                  <a:srgbClr val="B0C4DE"/>
                </a:solidFill>
                <a:latin typeface="Calibri" pitchFamily="34" charset="0"/>
                <a:ea typeface="Calibri" pitchFamily="34" charset="-122"/>
                <a:cs typeface="Calibri" pitchFamily="34" charset="-120"/>
              </a:rPr>
              <a:t>(your phone, made in China, imported to the U.S.)</a:t>
            </a:r>
            <a:endParaRPr lang="en-US" sz="2600" dirty="0"/>
          </a:p>
          <a:p>
            <a:pPr marL="0" indent="0">
              <a:buNone/>
            </a:pPr>
            <a:endParaRPr lang="en-US" sz="2600" dirty="0"/>
          </a:p>
          <a:p>
            <a:pPr marL="0" indent="0">
              <a:buNone/>
            </a:pPr>
            <a:r>
              <a:rPr lang="en-US" sz="2600" b="1" dirty="0">
                <a:solidFill>
                  <a:srgbClr val="7CFC00"/>
                </a:solidFill>
                <a:latin typeface="Calibri" pitchFamily="34" charset="0"/>
                <a:ea typeface="Calibri" pitchFamily="34" charset="-122"/>
                <a:cs typeface="Calibri" pitchFamily="34" charset="-120"/>
              </a:rPr>
              <a:t>Exports </a:t>
            </a:r>
            <a:r>
              <a:rPr lang="en-US" sz="2600" dirty="0">
                <a:solidFill>
                  <a:srgbClr val="FFFFFF"/>
                </a:solidFill>
                <a:latin typeface="Calibri" pitchFamily="34" charset="0"/>
                <a:ea typeface="Calibri" pitchFamily="34" charset="-122"/>
                <a:cs typeface="Calibri" pitchFamily="34" charset="-120"/>
              </a:rPr>
              <a:t>= goods going OUT of a country</a:t>
            </a:r>
            <a:endParaRPr lang="en-US" sz="2600" dirty="0"/>
          </a:p>
          <a:p>
            <a:pPr marL="0" indent="0">
              <a:buNone/>
            </a:pPr>
            <a:r>
              <a:rPr lang="en-US" sz="1800" i="1" dirty="0">
                <a:solidFill>
                  <a:srgbClr val="B0C4DE"/>
                </a:solidFill>
                <a:latin typeface="Calibri" pitchFamily="34" charset="0"/>
                <a:ea typeface="Calibri" pitchFamily="34" charset="-122"/>
                <a:cs typeface="Calibri" pitchFamily="34" charset="-120"/>
              </a:rPr>
              <a:t>(U.S. soybeans, shipped to China)</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365760"/>
            <a:ext cx="7772400" cy="91440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More trading partners = more gains</a:t>
            </a:r>
            <a:endParaRPr lang="en-US" sz="3600" dirty="0"/>
          </a:p>
        </p:txBody>
      </p:sp>
      <p:sp>
        <p:nvSpPr>
          <p:cNvPr id="4" name="Text 2"/>
          <p:cNvSpPr/>
          <p:nvPr/>
        </p:nvSpPr>
        <p:spPr>
          <a:xfrm>
            <a:off x="640080" y="1645920"/>
            <a:ext cx="7772400" cy="2743200"/>
          </a:xfrm>
          <a:prstGeom prst="rect">
            <a:avLst/>
          </a:prstGeom>
          <a:noFill/>
          <a:ln/>
        </p:spPr>
        <p:txBody>
          <a:bodyPr wrap="square" rtlCol="0" anchor="ctr"/>
          <a:lstStyle/>
          <a:p>
            <a:pPr marL="0" indent="0">
              <a:buNone/>
            </a:pPr>
            <a:r>
              <a:rPr lang="en-US" sz="2200" b="1" dirty="0">
                <a:solidFill>
                  <a:srgbClr val="FFD700"/>
                </a:solidFill>
                <a:latin typeface="Calibri" pitchFamily="34" charset="0"/>
                <a:ea typeface="Calibri" pitchFamily="34" charset="-122"/>
                <a:cs typeface="Calibri" pitchFamily="34" charset="-120"/>
              </a:rPr>
              <a:t>Round 2: </a:t>
            </a:r>
            <a:r>
              <a:rPr lang="en-US" sz="2200" dirty="0">
                <a:solidFill>
                  <a:srgbClr val="FFFFFF"/>
                </a:solidFill>
                <a:latin typeface="Calibri" pitchFamily="34" charset="0"/>
                <a:ea typeface="Calibri" pitchFamily="34" charset="-122"/>
                <a:cs typeface="Calibri" pitchFamily="34" charset="-120"/>
              </a:rPr>
              <a:t>Small group only → some improvement</a:t>
            </a:r>
            <a:endParaRPr lang="en-US" sz="2200" dirty="0"/>
          </a:p>
          <a:p>
            <a:pPr marL="0" indent="0">
              <a:buNone/>
            </a:pPr>
            <a:endParaRPr lang="en-US" sz="2200" dirty="0"/>
          </a:p>
          <a:p>
            <a:pPr marL="0" indent="0">
              <a:buNone/>
            </a:pPr>
            <a:r>
              <a:rPr lang="en-US" sz="2200" b="1" dirty="0">
                <a:solidFill>
                  <a:srgbClr val="7CFC00"/>
                </a:solidFill>
                <a:latin typeface="Calibri" pitchFamily="34" charset="0"/>
                <a:ea typeface="Calibri" pitchFamily="34" charset="-122"/>
                <a:cs typeface="Calibri" pitchFamily="34" charset="-120"/>
              </a:rPr>
              <a:t>Round 3: </a:t>
            </a:r>
            <a:r>
              <a:rPr lang="en-US" sz="2200" dirty="0">
                <a:solidFill>
                  <a:srgbClr val="FFFFFF"/>
                </a:solidFill>
                <a:latin typeface="Calibri" pitchFamily="34" charset="0"/>
                <a:ea typeface="Calibri" pitchFamily="34" charset="-122"/>
                <a:cs typeface="Calibri" pitchFamily="34" charset="-120"/>
              </a:rPr>
              <a:t>Whole class → biggest improvement</a:t>
            </a:r>
            <a:endParaRPr lang="en-US" sz="2200" dirty="0"/>
          </a:p>
          <a:p>
            <a:pPr marL="0" indent="0">
              <a:buNone/>
            </a:pPr>
            <a:endParaRPr lang="en-US" sz="2200" dirty="0"/>
          </a:p>
          <a:p>
            <a:pPr marL="0" indent="0">
              <a:buNone/>
            </a:pPr>
            <a:r>
              <a:rPr lang="en-US" sz="2000" i="1" dirty="0">
                <a:solidFill>
                  <a:srgbClr val="B0C4DE"/>
                </a:solidFill>
                <a:latin typeface="Calibri" pitchFamily="34" charset="0"/>
                <a:ea typeface="Calibri" pitchFamily="34" charset="-122"/>
                <a:cs typeface="Calibri" pitchFamily="34" charset="-120"/>
              </a:rPr>
              <a:t>The same idea applies to countries.</a:t>
            </a:r>
            <a:endParaRPr lang="en-US" sz="2200" dirty="0"/>
          </a:p>
          <a:p>
            <a:pPr marL="0" indent="0">
              <a:buNone/>
            </a:pPr>
            <a:r>
              <a:rPr lang="en-US" sz="2000" i="1" dirty="0">
                <a:solidFill>
                  <a:srgbClr val="FFD700"/>
                </a:solidFill>
                <a:latin typeface="Calibri" pitchFamily="34" charset="0"/>
                <a:ea typeface="Calibri" pitchFamily="34" charset="-122"/>
                <a:cs typeface="Calibri" pitchFamily="34" charset="-120"/>
              </a:rPr>
              <a:t>More trade partners → more opportunities → more gains.</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365760"/>
            <a:ext cx="7772400" cy="1097280"/>
          </a:xfrm>
          <a:prstGeom prst="rect">
            <a:avLst/>
          </a:prstGeom>
          <a:noFill/>
          <a:ln/>
        </p:spPr>
        <p:txBody>
          <a:bodyPr wrap="square" rtlCol="0" anchor="ctr"/>
          <a:lstStyle/>
          <a:p>
            <a:pPr marL="0" indent="0">
              <a:buNone/>
            </a:pPr>
            <a:r>
              <a:rPr lang="en-US" sz="4400" i="1" dirty="0">
                <a:solidFill>
                  <a:srgbClr val="FFFFFF"/>
                </a:solidFill>
                <a:latin typeface="Calibri" pitchFamily="34" charset="0"/>
                <a:ea typeface="Calibri" pitchFamily="34" charset="-122"/>
                <a:cs typeface="Calibri" pitchFamily="34" charset="-120"/>
              </a:rPr>
              <a:t>Tariff</a:t>
            </a:r>
            <a:endParaRPr lang="en-US" sz="4400" dirty="0"/>
          </a:p>
        </p:txBody>
      </p:sp>
      <p:sp>
        <p:nvSpPr>
          <p:cNvPr id="4" name="Text 2"/>
          <p:cNvSpPr/>
          <p:nvPr/>
        </p:nvSpPr>
        <p:spPr>
          <a:xfrm>
            <a:off x="685800" y="1472184"/>
            <a:ext cx="7772400" cy="950976"/>
          </a:xfrm>
          <a:prstGeom prst="rect">
            <a:avLst/>
          </a:prstGeom>
          <a:noFill/>
          <a:ln/>
        </p:spPr>
        <p:txBody>
          <a:bodyPr wrap="square" rtlCol="0" anchor="ctr"/>
          <a:lstStyle/>
          <a:p>
            <a:pPr marL="0" indent="0">
              <a:buNone/>
            </a:pPr>
            <a:r>
              <a:rPr lang="en-US" sz="2400" dirty="0">
                <a:solidFill>
                  <a:srgbClr val="FFFFFF"/>
                </a:solidFill>
                <a:latin typeface="Calibri" pitchFamily="34" charset="0"/>
                <a:ea typeface="Calibri" pitchFamily="34" charset="-122"/>
                <a:cs typeface="Calibri" pitchFamily="34" charset="-120"/>
              </a:rPr>
              <a:t>A tax on </a:t>
            </a:r>
            <a:r>
              <a:rPr lang="en-US" sz="2400" u="sng" dirty="0">
                <a:solidFill>
                  <a:srgbClr val="FFFFFF"/>
                </a:solidFill>
                <a:latin typeface="Calibri" pitchFamily="34" charset="0"/>
                <a:ea typeface="Calibri" pitchFamily="34" charset="-122"/>
                <a:cs typeface="Calibri" pitchFamily="34" charset="-120"/>
              </a:rPr>
              <a:t>imported</a:t>
            </a:r>
            <a:r>
              <a:rPr lang="en-US" sz="2400" dirty="0">
                <a:solidFill>
                  <a:srgbClr val="FFFFFF"/>
                </a:solidFill>
                <a:latin typeface="Calibri" pitchFamily="34" charset="0"/>
                <a:ea typeface="Calibri" pitchFamily="34" charset="-122"/>
                <a:cs typeface="Calibri" pitchFamily="34" charset="-120"/>
              </a:rPr>
              <a:t> goods</a:t>
            </a:r>
          </a:p>
        </p:txBody>
      </p:sp>
      <p:sp>
        <p:nvSpPr>
          <p:cNvPr id="5" name="Text 3"/>
          <p:cNvSpPr/>
          <p:nvPr/>
        </p:nvSpPr>
        <p:spPr>
          <a:xfrm>
            <a:off x="640080" y="2743200"/>
            <a:ext cx="7772400" cy="1865376"/>
          </a:xfrm>
          <a:prstGeom prst="rect">
            <a:avLst/>
          </a:prstGeom>
          <a:noFill/>
          <a:ln/>
        </p:spPr>
        <p:txBody>
          <a:bodyPr wrap="square" rtlCol="0" anchor="ctr"/>
          <a:lstStyle/>
          <a:p>
            <a:pPr marL="0" indent="0">
              <a:buNone/>
            </a:pPr>
            <a:r>
              <a:rPr lang="en-US" sz="2000" i="1" dirty="0">
                <a:solidFill>
                  <a:srgbClr val="FFD700"/>
                </a:solidFill>
                <a:latin typeface="Calibri" pitchFamily="34" charset="0"/>
                <a:ea typeface="Calibri" pitchFamily="34" charset="-122"/>
                <a:cs typeface="Calibri" pitchFamily="34" charset="-120"/>
              </a:rPr>
              <a:t>Paid at the border by the importer (typically a domestic firm)</a:t>
            </a:r>
          </a:p>
          <a:p>
            <a:pPr marL="0" indent="0">
              <a:buNone/>
            </a:pPr>
            <a:endParaRPr lang="en-US" sz="2000" dirty="0"/>
          </a:p>
          <a:p>
            <a:pPr marL="0" indent="0">
              <a:buNone/>
            </a:pPr>
            <a:r>
              <a:rPr lang="en-US" sz="2000" i="1" dirty="0">
                <a:solidFill>
                  <a:srgbClr val="B0C4DE"/>
                </a:solidFill>
                <a:latin typeface="Calibri" pitchFamily="34" charset="0"/>
                <a:ea typeface="Calibri" pitchFamily="34" charset="-122"/>
                <a:cs typeface="Calibri" pitchFamily="34" charset="-120"/>
              </a:rPr>
              <a:t>A tariff does not apply to goods that are produced and sold domestically</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74FEA70E-E081-C960-B651-D53CCFF50DA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C39DB85-F40D-483D-7266-97FAF6B63763}"/>
              </a:ext>
            </a:extLst>
          </p:cNvPr>
          <p:cNvSpPr/>
          <p:nvPr/>
        </p:nvSpPr>
        <p:spPr>
          <a:xfrm>
            <a:off x="309048" y="2188464"/>
            <a:ext cx="1846774" cy="539496"/>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Chinese firm makes the TV</a:t>
            </a:r>
          </a:p>
        </p:txBody>
      </p:sp>
      <p:sp>
        <p:nvSpPr>
          <p:cNvPr id="5" name="Text 3">
            <a:extLst>
              <a:ext uri="{FF2B5EF4-FFF2-40B4-BE49-F238E27FC236}">
                <a16:creationId xmlns:a16="http://schemas.microsoft.com/office/drawing/2014/main" id="{5E17C79E-670D-B365-05D2-2C9E9AE3D094}"/>
              </a:ext>
            </a:extLst>
          </p:cNvPr>
          <p:cNvSpPr/>
          <p:nvPr/>
        </p:nvSpPr>
        <p:spPr>
          <a:xfrm>
            <a:off x="1712344" y="4155115"/>
            <a:ext cx="5719312" cy="812546"/>
          </a:xfrm>
          <a:prstGeom prst="rect">
            <a:avLst/>
          </a:prstGeom>
          <a:noFill/>
          <a:ln/>
        </p:spPr>
        <p:txBody>
          <a:bodyPr wrap="square" rtlCol="0" anchor="ctr"/>
          <a:lstStyle/>
          <a:p>
            <a:pPr marL="0" indent="0">
              <a:buNone/>
            </a:pPr>
            <a:r>
              <a:rPr lang="en-US" sz="2000" dirty="0">
                <a:solidFill>
                  <a:srgbClr val="FF0000"/>
                </a:solidFill>
              </a:rPr>
              <a:t>The importer is required pay the tariff to the U.S. Customs and Border Protection Service </a:t>
            </a:r>
          </a:p>
        </p:txBody>
      </p:sp>
      <p:pic>
        <p:nvPicPr>
          <p:cNvPr id="7" name="Picture 6">
            <a:extLst>
              <a:ext uri="{FF2B5EF4-FFF2-40B4-BE49-F238E27FC236}">
                <a16:creationId xmlns:a16="http://schemas.microsoft.com/office/drawing/2014/main" id="{9EBA455D-46F4-5876-46CE-A2F970B5B619}"/>
              </a:ext>
            </a:extLst>
          </p:cNvPr>
          <p:cNvPicPr>
            <a:picLocks noChangeAspect="1"/>
          </p:cNvPicPr>
          <p:nvPr/>
        </p:nvPicPr>
        <p:blipFill>
          <a:blip r:embed="rId3"/>
          <a:stretch>
            <a:fillRect/>
          </a:stretch>
        </p:blipFill>
        <p:spPr>
          <a:xfrm>
            <a:off x="3615633" y="340932"/>
            <a:ext cx="1206113" cy="2352294"/>
          </a:xfrm>
          <a:prstGeom prst="rect">
            <a:avLst/>
          </a:prstGeom>
        </p:spPr>
      </p:pic>
      <p:pic>
        <p:nvPicPr>
          <p:cNvPr id="9" name="Picture 8">
            <a:extLst>
              <a:ext uri="{FF2B5EF4-FFF2-40B4-BE49-F238E27FC236}">
                <a16:creationId xmlns:a16="http://schemas.microsoft.com/office/drawing/2014/main" id="{C774B309-75D0-B493-7CE1-60B59796D672}"/>
              </a:ext>
            </a:extLst>
          </p:cNvPr>
          <p:cNvPicPr>
            <a:picLocks noChangeAspect="1"/>
          </p:cNvPicPr>
          <p:nvPr/>
        </p:nvPicPr>
        <p:blipFill>
          <a:blip r:embed="rId4"/>
          <a:stretch>
            <a:fillRect/>
          </a:stretch>
        </p:blipFill>
        <p:spPr>
          <a:xfrm>
            <a:off x="309048" y="650748"/>
            <a:ext cx="1634312" cy="1083564"/>
          </a:xfrm>
          <a:prstGeom prst="rect">
            <a:avLst/>
          </a:prstGeom>
        </p:spPr>
      </p:pic>
      <p:pic>
        <p:nvPicPr>
          <p:cNvPr id="11" name="Picture 10">
            <a:extLst>
              <a:ext uri="{FF2B5EF4-FFF2-40B4-BE49-F238E27FC236}">
                <a16:creationId xmlns:a16="http://schemas.microsoft.com/office/drawing/2014/main" id="{4210AE38-BF29-3A30-CC37-556F434E9F04}"/>
              </a:ext>
            </a:extLst>
          </p:cNvPr>
          <p:cNvPicPr>
            <a:picLocks noChangeAspect="1"/>
          </p:cNvPicPr>
          <p:nvPr/>
        </p:nvPicPr>
        <p:blipFill>
          <a:blip r:embed="rId5"/>
          <a:stretch>
            <a:fillRect/>
          </a:stretch>
        </p:blipFill>
        <p:spPr>
          <a:xfrm>
            <a:off x="6493989" y="1412240"/>
            <a:ext cx="2181916" cy="1159510"/>
          </a:xfrm>
          <a:prstGeom prst="rect">
            <a:avLst/>
          </a:prstGeom>
        </p:spPr>
      </p:pic>
      <p:sp>
        <p:nvSpPr>
          <p:cNvPr id="13" name="Text 2">
            <a:extLst>
              <a:ext uri="{FF2B5EF4-FFF2-40B4-BE49-F238E27FC236}">
                <a16:creationId xmlns:a16="http://schemas.microsoft.com/office/drawing/2014/main" id="{85C69F0A-5F8A-9533-5931-0F18CD833C37}"/>
              </a:ext>
            </a:extLst>
          </p:cNvPr>
          <p:cNvSpPr/>
          <p:nvPr/>
        </p:nvSpPr>
        <p:spPr>
          <a:xfrm>
            <a:off x="2999231" y="2880995"/>
            <a:ext cx="2715769" cy="539496"/>
          </a:xfrm>
          <a:prstGeom prst="rect">
            <a:avLst/>
          </a:prstGeom>
          <a:noFill/>
          <a:ln/>
        </p:spPr>
        <p:txBody>
          <a:bodyPr wrap="square" rtlCol="0" anchor="ctr"/>
          <a:lstStyle/>
          <a:p>
            <a:r>
              <a:rPr lang="en-US" sz="2000" i="1" dirty="0">
                <a:solidFill>
                  <a:srgbClr val="FFD700"/>
                </a:solidFill>
                <a:latin typeface="Calibri" pitchFamily="34" charset="0"/>
                <a:ea typeface="Calibri" pitchFamily="34" charset="-122"/>
                <a:cs typeface="Calibri" pitchFamily="34" charset="-120"/>
              </a:rPr>
              <a:t>Best Buy</a:t>
            </a:r>
            <a:r>
              <a:rPr lang="en-US" sz="2000" dirty="0">
                <a:solidFill>
                  <a:srgbClr val="FFFFFF"/>
                </a:solidFill>
                <a:latin typeface="Calibri" pitchFamily="34" charset="0"/>
                <a:ea typeface="Calibri" pitchFamily="34" charset="-122"/>
                <a:cs typeface="Calibri" pitchFamily="34" charset="-120"/>
              </a:rPr>
              <a:t> imports the TV</a:t>
            </a:r>
          </a:p>
        </p:txBody>
      </p:sp>
      <p:sp>
        <p:nvSpPr>
          <p:cNvPr id="14" name="Shape 10">
            <a:extLst>
              <a:ext uri="{FF2B5EF4-FFF2-40B4-BE49-F238E27FC236}">
                <a16:creationId xmlns:a16="http://schemas.microsoft.com/office/drawing/2014/main" id="{61F024F0-5879-C20B-DF6A-BE63411EBE17}"/>
              </a:ext>
            </a:extLst>
          </p:cNvPr>
          <p:cNvSpPr/>
          <p:nvPr/>
        </p:nvSpPr>
        <p:spPr>
          <a:xfrm flipV="1">
            <a:off x="1943360" y="1192530"/>
            <a:ext cx="1672273" cy="0"/>
          </a:xfrm>
          <a:prstGeom prst="line">
            <a:avLst/>
          </a:prstGeom>
          <a:noFill/>
          <a:ln w="25400">
            <a:solidFill>
              <a:srgbClr val="FFFFFF"/>
            </a:solidFill>
            <a:prstDash val="solid"/>
          </a:ln>
        </p:spPr>
        <p:txBody>
          <a:bodyPr/>
          <a:lstStyle/>
          <a:p>
            <a:endParaRPr lang="en-US"/>
          </a:p>
        </p:txBody>
      </p:sp>
      <p:sp>
        <p:nvSpPr>
          <p:cNvPr id="15" name="Shape 10">
            <a:extLst>
              <a:ext uri="{FF2B5EF4-FFF2-40B4-BE49-F238E27FC236}">
                <a16:creationId xmlns:a16="http://schemas.microsoft.com/office/drawing/2014/main" id="{A18459AF-CF49-0AA9-BDFC-D7A603E50765}"/>
              </a:ext>
            </a:extLst>
          </p:cNvPr>
          <p:cNvSpPr/>
          <p:nvPr/>
        </p:nvSpPr>
        <p:spPr>
          <a:xfrm flipV="1">
            <a:off x="4821746" y="1772285"/>
            <a:ext cx="1672273" cy="0"/>
          </a:xfrm>
          <a:prstGeom prst="line">
            <a:avLst/>
          </a:prstGeom>
          <a:noFill/>
          <a:ln w="25400">
            <a:solidFill>
              <a:srgbClr val="FFFFFF"/>
            </a:solidFill>
            <a:prstDash val="solid"/>
          </a:ln>
        </p:spPr>
        <p:txBody>
          <a:bodyPr/>
          <a:lstStyle/>
          <a:p>
            <a:endParaRPr lang="en-US" dirty="0"/>
          </a:p>
        </p:txBody>
      </p:sp>
      <p:sp>
        <p:nvSpPr>
          <p:cNvPr id="16" name="Text 2">
            <a:extLst>
              <a:ext uri="{FF2B5EF4-FFF2-40B4-BE49-F238E27FC236}">
                <a16:creationId xmlns:a16="http://schemas.microsoft.com/office/drawing/2014/main" id="{099FDB12-8A2D-7F3B-38EA-BDA32B276CAD}"/>
              </a:ext>
            </a:extLst>
          </p:cNvPr>
          <p:cNvSpPr/>
          <p:nvPr/>
        </p:nvSpPr>
        <p:spPr>
          <a:xfrm>
            <a:off x="6140195" y="3076123"/>
            <a:ext cx="2889505" cy="539496"/>
          </a:xfrm>
          <a:prstGeom prst="rect">
            <a:avLst/>
          </a:prstGeom>
          <a:noFill/>
          <a:ln/>
        </p:spPr>
        <p:txBody>
          <a:bodyPr wrap="square" rtlCol="0" anchor="ctr"/>
          <a:lstStyle/>
          <a:p>
            <a:r>
              <a:rPr lang="en-US" sz="2000" i="1" dirty="0">
                <a:solidFill>
                  <a:srgbClr val="FFD700"/>
                </a:solidFill>
                <a:latin typeface="Calibri" pitchFamily="34" charset="0"/>
                <a:ea typeface="Calibri" pitchFamily="34" charset="-122"/>
                <a:cs typeface="Calibri" pitchFamily="34" charset="-120"/>
              </a:rPr>
              <a:t>Best Buy</a:t>
            </a:r>
            <a:r>
              <a:rPr lang="en-US" sz="2000" dirty="0">
                <a:solidFill>
                  <a:srgbClr val="FFFFFF"/>
                </a:solidFill>
                <a:latin typeface="Calibri" pitchFamily="34" charset="0"/>
                <a:ea typeface="Calibri" pitchFamily="34" charset="-122"/>
                <a:cs typeface="Calibri" pitchFamily="34" charset="-120"/>
              </a:rPr>
              <a:t> sells to </a:t>
            </a:r>
            <a:r>
              <a:rPr lang="en-US" sz="2000" dirty="0">
                <a:solidFill>
                  <a:srgbClr val="00B0F0"/>
                </a:solidFill>
                <a:latin typeface="Calibri" pitchFamily="34" charset="0"/>
                <a:ea typeface="Calibri" pitchFamily="34" charset="-122"/>
                <a:cs typeface="Calibri" pitchFamily="34" charset="-120"/>
              </a:rPr>
              <a:t>U.S. customers</a:t>
            </a:r>
          </a:p>
        </p:txBody>
      </p:sp>
      <p:sp>
        <p:nvSpPr>
          <p:cNvPr id="17" name="Down Arrow 16">
            <a:extLst>
              <a:ext uri="{FF2B5EF4-FFF2-40B4-BE49-F238E27FC236}">
                <a16:creationId xmlns:a16="http://schemas.microsoft.com/office/drawing/2014/main" id="{0152EBD0-4A33-E956-9621-336E3BA99473}"/>
              </a:ext>
            </a:extLst>
          </p:cNvPr>
          <p:cNvSpPr/>
          <p:nvPr/>
        </p:nvSpPr>
        <p:spPr>
          <a:xfrm rot="10800000">
            <a:off x="4059936" y="3420491"/>
            <a:ext cx="429768" cy="660653"/>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2863285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C46C3A1E-13DC-C7AC-62A9-C9DAAD1EC53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64C63BB-909A-A6CC-CC0F-59A9CF115E1C}"/>
              </a:ext>
            </a:extLst>
          </p:cNvPr>
          <p:cNvSpPr/>
          <p:nvPr/>
        </p:nvSpPr>
        <p:spPr>
          <a:xfrm>
            <a:off x="309048" y="2188464"/>
            <a:ext cx="1846774" cy="539496"/>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Chinese firm makes the TV</a:t>
            </a:r>
          </a:p>
        </p:txBody>
      </p:sp>
      <p:pic>
        <p:nvPicPr>
          <p:cNvPr id="7" name="Picture 6">
            <a:extLst>
              <a:ext uri="{FF2B5EF4-FFF2-40B4-BE49-F238E27FC236}">
                <a16:creationId xmlns:a16="http://schemas.microsoft.com/office/drawing/2014/main" id="{146F41AC-3A8E-7CCE-4227-EEC2F4B55807}"/>
              </a:ext>
            </a:extLst>
          </p:cNvPr>
          <p:cNvPicPr>
            <a:picLocks noChangeAspect="1"/>
          </p:cNvPicPr>
          <p:nvPr/>
        </p:nvPicPr>
        <p:blipFill>
          <a:blip r:embed="rId3"/>
          <a:stretch>
            <a:fillRect/>
          </a:stretch>
        </p:blipFill>
        <p:spPr>
          <a:xfrm>
            <a:off x="3615633" y="340932"/>
            <a:ext cx="1206113" cy="2352294"/>
          </a:xfrm>
          <a:prstGeom prst="rect">
            <a:avLst/>
          </a:prstGeom>
        </p:spPr>
      </p:pic>
      <p:pic>
        <p:nvPicPr>
          <p:cNvPr id="9" name="Picture 8">
            <a:extLst>
              <a:ext uri="{FF2B5EF4-FFF2-40B4-BE49-F238E27FC236}">
                <a16:creationId xmlns:a16="http://schemas.microsoft.com/office/drawing/2014/main" id="{75C0EAE5-0922-7EC2-ED3B-6BF386EADF33}"/>
              </a:ext>
            </a:extLst>
          </p:cNvPr>
          <p:cNvPicPr>
            <a:picLocks noChangeAspect="1"/>
          </p:cNvPicPr>
          <p:nvPr/>
        </p:nvPicPr>
        <p:blipFill>
          <a:blip r:embed="rId4"/>
          <a:stretch>
            <a:fillRect/>
          </a:stretch>
        </p:blipFill>
        <p:spPr>
          <a:xfrm>
            <a:off x="309048" y="650748"/>
            <a:ext cx="1634312" cy="1083564"/>
          </a:xfrm>
          <a:prstGeom prst="rect">
            <a:avLst/>
          </a:prstGeom>
        </p:spPr>
      </p:pic>
      <p:pic>
        <p:nvPicPr>
          <p:cNvPr id="11" name="Picture 10">
            <a:extLst>
              <a:ext uri="{FF2B5EF4-FFF2-40B4-BE49-F238E27FC236}">
                <a16:creationId xmlns:a16="http://schemas.microsoft.com/office/drawing/2014/main" id="{93876498-F25B-8BD9-7A35-51F88188F730}"/>
              </a:ext>
            </a:extLst>
          </p:cNvPr>
          <p:cNvPicPr>
            <a:picLocks noChangeAspect="1"/>
          </p:cNvPicPr>
          <p:nvPr/>
        </p:nvPicPr>
        <p:blipFill>
          <a:blip r:embed="rId5"/>
          <a:stretch>
            <a:fillRect/>
          </a:stretch>
        </p:blipFill>
        <p:spPr>
          <a:xfrm>
            <a:off x="6493989" y="1412240"/>
            <a:ext cx="2181916" cy="1159510"/>
          </a:xfrm>
          <a:prstGeom prst="rect">
            <a:avLst/>
          </a:prstGeom>
        </p:spPr>
      </p:pic>
      <p:sp>
        <p:nvSpPr>
          <p:cNvPr id="13" name="Text 2">
            <a:extLst>
              <a:ext uri="{FF2B5EF4-FFF2-40B4-BE49-F238E27FC236}">
                <a16:creationId xmlns:a16="http://schemas.microsoft.com/office/drawing/2014/main" id="{C4D13D15-57B2-5B22-4F7F-7E6639203E4E}"/>
              </a:ext>
            </a:extLst>
          </p:cNvPr>
          <p:cNvSpPr/>
          <p:nvPr/>
        </p:nvSpPr>
        <p:spPr>
          <a:xfrm>
            <a:off x="2999231" y="2880995"/>
            <a:ext cx="2715769" cy="539496"/>
          </a:xfrm>
          <a:prstGeom prst="rect">
            <a:avLst/>
          </a:prstGeom>
          <a:noFill/>
          <a:ln/>
        </p:spPr>
        <p:txBody>
          <a:bodyPr wrap="square" rtlCol="0" anchor="ctr"/>
          <a:lstStyle/>
          <a:p>
            <a:r>
              <a:rPr lang="en-US" sz="2000" i="1" dirty="0">
                <a:solidFill>
                  <a:srgbClr val="FFD700"/>
                </a:solidFill>
                <a:latin typeface="Calibri" pitchFamily="34" charset="0"/>
                <a:ea typeface="Calibri" pitchFamily="34" charset="-122"/>
                <a:cs typeface="Calibri" pitchFamily="34" charset="-120"/>
              </a:rPr>
              <a:t>Best Buy</a:t>
            </a:r>
            <a:r>
              <a:rPr lang="en-US" sz="2000" dirty="0">
                <a:solidFill>
                  <a:srgbClr val="FFFFFF"/>
                </a:solidFill>
                <a:latin typeface="Calibri" pitchFamily="34" charset="0"/>
                <a:ea typeface="Calibri" pitchFamily="34" charset="-122"/>
                <a:cs typeface="Calibri" pitchFamily="34" charset="-120"/>
              </a:rPr>
              <a:t> imports the TV</a:t>
            </a:r>
          </a:p>
        </p:txBody>
      </p:sp>
      <p:sp>
        <p:nvSpPr>
          <p:cNvPr id="14" name="Shape 10">
            <a:extLst>
              <a:ext uri="{FF2B5EF4-FFF2-40B4-BE49-F238E27FC236}">
                <a16:creationId xmlns:a16="http://schemas.microsoft.com/office/drawing/2014/main" id="{47D49E5F-F2EA-393F-A61A-6D60DA6C699D}"/>
              </a:ext>
            </a:extLst>
          </p:cNvPr>
          <p:cNvSpPr/>
          <p:nvPr/>
        </p:nvSpPr>
        <p:spPr>
          <a:xfrm flipV="1">
            <a:off x="1943360" y="1192530"/>
            <a:ext cx="1672273" cy="0"/>
          </a:xfrm>
          <a:prstGeom prst="line">
            <a:avLst/>
          </a:prstGeom>
          <a:noFill/>
          <a:ln w="25400">
            <a:solidFill>
              <a:srgbClr val="FFFFFF"/>
            </a:solidFill>
            <a:prstDash val="solid"/>
          </a:ln>
        </p:spPr>
        <p:txBody>
          <a:bodyPr/>
          <a:lstStyle/>
          <a:p>
            <a:endParaRPr lang="en-US"/>
          </a:p>
        </p:txBody>
      </p:sp>
      <p:sp>
        <p:nvSpPr>
          <p:cNvPr id="15" name="Shape 10">
            <a:extLst>
              <a:ext uri="{FF2B5EF4-FFF2-40B4-BE49-F238E27FC236}">
                <a16:creationId xmlns:a16="http://schemas.microsoft.com/office/drawing/2014/main" id="{D457C3A8-F09E-888A-55DF-A13FD95BE960}"/>
              </a:ext>
            </a:extLst>
          </p:cNvPr>
          <p:cNvSpPr/>
          <p:nvPr/>
        </p:nvSpPr>
        <p:spPr>
          <a:xfrm flipV="1">
            <a:off x="4821746" y="1772285"/>
            <a:ext cx="1672273" cy="0"/>
          </a:xfrm>
          <a:prstGeom prst="line">
            <a:avLst/>
          </a:prstGeom>
          <a:noFill/>
          <a:ln w="25400">
            <a:solidFill>
              <a:srgbClr val="FFFFFF"/>
            </a:solidFill>
            <a:prstDash val="solid"/>
          </a:ln>
        </p:spPr>
        <p:txBody>
          <a:bodyPr/>
          <a:lstStyle/>
          <a:p>
            <a:endParaRPr lang="en-US" dirty="0"/>
          </a:p>
        </p:txBody>
      </p:sp>
      <p:sp>
        <p:nvSpPr>
          <p:cNvPr id="16" name="Text 2">
            <a:extLst>
              <a:ext uri="{FF2B5EF4-FFF2-40B4-BE49-F238E27FC236}">
                <a16:creationId xmlns:a16="http://schemas.microsoft.com/office/drawing/2014/main" id="{95FC0B17-EF61-F8BF-9972-F5CF371B8CBE}"/>
              </a:ext>
            </a:extLst>
          </p:cNvPr>
          <p:cNvSpPr/>
          <p:nvPr/>
        </p:nvSpPr>
        <p:spPr>
          <a:xfrm>
            <a:off x="6140195" y="3076123"/>
            <a:ext cx="2889505" cy="539496"/>
          </a:xfrm>
          <a:prstGeom prst="rect">
            <a:avLst/>
          </a:prstGeom>
          <a:noFill/>
          <a:ln/>
        </p:spPr>
        <p:txBody>
          <a:bodyPr wrap="square" rtlCol="0" anchor="ctr"/>
          <a:lstStyle/>
          <a:p>
            <a:r>
              <a:rPr lang="en-US" sz="2000" i="1" dirty="0">
                <a:solidFill>
                  <a:srgbClr val="FFD700"/>
                </a:solidFill>
                <a:latin typeface="Calibri" pitchFamily="34" charset="0"/>
                <a:ea typeface="Calibri" pitchFamily="34" charset="-122"/>
                <a:cs typeface="Calibri" pitchFamily="34" charset="-120"/>
              </a:rPr>
              <a:t>Best Buy</a:t>
            </a:r>
            <a:r>
              <a:rPr lang="en-US" sz="2000" dirty="0">
                <a:solidFill>
                  <a:srgbClr val="FFFFFF"/>
                </a:solidFill>
                <a:latin typeface="Calibri" pitchFamily="34" charset="0"/>
                <a:ea typeface="Calibri" pitchFamily="34" charset="-122"/>
                <a:cs typeface="Calibri" pitchFamily="34" charset="-120"/>
              </a:rPr>
              <a:t> sells to </a:t>
            </a:r>
            <a:r>
              <a:rPr lang="en-US" sz="2000" dirty="0">
                <a:solidFill>
                  <a:srgbClr val="00B0F0"/>
                </a:solidFill>
                <a:latin typeface="Calibri" pitchFamily="34" charset="0"/>
                <a:ea typeface="Calibri" pitchFamily="34" charset="-122"/>
                <a:cs typeface="Calibri" pitchFamily="34" charset="-120"/>
              </a:rPr>
              <a:t>U.S. customers</a:t>
            </a:r>
          </a:p>
        </p:txBody>
      </p:sp>
      <p:sp>
        <p:nvSpPr>
          <p:cNvPr id="3" name="Text 1">
            <a:extLst>
              <a:ext uri="{FF2B5EF4-FFF2-40B4-BE49-F238E27FC236}">
                <a16:creationId xmlns:a16="http://schemas.microsoft.com/office/drawing/2014/main" id="{4689A930-206B-A879-735D-2D1044956706}"/>
              </a:ext>
            </a:extLst>
          </p:cNvPr>
          <p:cNvSpPr/>
          <p:nvPr/>
        </p:nvSpPr>
        <p:spPr>
          <a:xfrm>
            <a:off x="285450" y="4254881"/>
            <a:ext cx="9059718" cy="731520"/>
          </a:xfrm>
          <a:prstGeom prst="rect">
            <a:avLst/>
          </a:prstGeom>
          <a:noFill/>
          <a:ln/>
        </p:spPr>
        <p:txBody>
          <a:bodyPr wrap="square" lIns="91440" tIns="45720" rIns="91440" bIns="45720" rtlCol="0" anchor="ctr"/>
          <a:lstStyle/>
          <a:p>
            <a:r>
              <a:rPr lang="en-US" sz="3600" i="1" dirty="0">
                <a:solidFill>
                  <a:srgbClr val="FA8485"/>
                </a:solidFill>
                <a:latin typeface="Calibri"/>
                <a:ea typeface="Calibri"/>
                <a:cs typeface="Calibri"/>
              </a:rPr>
              <a:t>Who ultimately bears the cost of the tariff?</a:t>
            </a:r>
            <a:endParaRPr lang="en-US" sz="3600" dirty="0">
              <a:solidFill>
                <a:srgbClr val="FA8485"/>
              </a:solidFill>
              <a:latin typeface="Calibri"/>
              <a:ea typeface="Calibri"/>
              <a:cs typeface="Calibri"/>
            </a:endParaRPr>
          </a:p>
        </p:txBody>
      </p:sp>
    </p:spTree>
    <p:extLst>
      <p:ext uri="{BB962C8B-B14F-4D97-AF65-F5344CB8AC3E}">
        <p14:creationId xmlns:p14="http://schemas.microsoft.com/office/powerpoint/2010/main" val="2338169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39AA328B-629C-CEFE-C21D-CDF545AB6CD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E3E376C-145F-852D-B27F-E0F2BC9D0EED}"/>
              </a:ext>
            </a:extLst>
          </p:cNvPr>
          <p:cNvSpPr/>
          <p:nvPr/>
        </p:nvSpPr>
        <p:spPr>
          <a:xfrm>
            <a:off x="309048" y="2188464"/>
            <a:ext cx="1846774" cy="539496"/>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Chinese firm makes the TV</a:t>
            </a:r>
          </a:p>
        </p:txBody>
      </p:sp>
      <p:pic>
        <p:nvPicPr>
          <p:cNvPr id="7" name="Picture 6">
            <a:extLst>
              <a:ext uri="{FF2B5EF4-FFF2-40B4-BE49-F238E27FC236}">
                <a16:creationId xmlns:a16="http://schemas.microsoft.com/office/drawing/2014/main" id="{E1E0E5FD-B96A-6F33-0B91-657AF7412D7F}"/>
              </a:ext>
            </a:extLst>
          </p:cNvPr>
          <p:cNvPicPr>
            <a:picLocks noChangeAspect="1"/>
          </p:cNvPicPr>
          <p:nvPr/>
        </p:nvPicPr>
        <p:blipFill>
          <a:blip r:embed="rId3"/>
          <a:stretch>
            <a:fillRect/>
          </a:stretch>
        </p:blipFill>
        <p:spPr>
          <a:xfrm>
            <a:off x="3615633" y="340932"/>
            <a:ext cx="1206113" cy="2352294"/>
          </a:xfrm>
          <a:prstGeom prst="rect">
            <a:avLst/>
          </a:prstGeom>
        </p:spPr>
      </p:pic>
      <p:pic>
        <p:nvPicPr>
          <p:cNvPr id="9" name="Picture 8">
            <a:extLst>
              <a:ext uri="{FF2B5EF4-FFF2-40B4-BE49-F238E27FC236}">
                <a16:creationId xmlns:a16="http://schemas.microsoft.com/office/drawing/2014/main" id="{C49D6A4F-9D69-8D64-2FA9-A3D5EF8E92A6}"/>
              </a:ext>
            </a:extLst>
          </p:cNvPr>
          <p:cNvPicPr>
            <a:picLocks noChangeAspect="1"/>
          </p:cNvPicPr>
          <p:nvPr/>
        </p:nvPicPr>
        <p:blipFill>
          <a:blip r:embed="rId4"/>
          <a:stretch>
            <a:fillRect/>
          </a:stretch>
        </p:blipFill>
        <p:spPr>
          <a:xfrm>
            <a:off x="309048" y="650748"/>
            <a:ext cx="1634312" cy="1083564"/>
          </a:xfrm>
          <a:prstGeom prst="rect">
            <a:avLst/>
          </a:prstGeom>
        </p:spPr>
      </p:pic>
      <p:pic>
        <p:nvPicPr>
          <p:cNvPr id="11" name="Picture 10">
            <a:extLst>
              <a:ext uri="{FF2B5EF4-FFF2-40B4-BE49-F238E27FC236}">
                <a16:creationId xmlns:a16="http://schemas.microsoft.com/office/drawing/2014/main" id="{AB4297B0-97F7-64BF-0371-F69A52417FA1}"/>
              </a:ext>
            </a:extLst>
          </p:cNvPr>
          <p:cNvPicPr>
            <a:picLocks noChangeAspect="1"/>
          </p:cNvPicPr>
          <p:nvPr/>
        </p:nvPicPr>
        <p:blipFill>
          <a:blip r:embed="rId5"/>
          <a:stretch>
            <a:fillRect/>
          </a:stretch>
        </p:blipFill>
        <p:spPr>
          <a:xfrm>
            <a:off x="6493989" y="1412240"/>
            <a:ext cx="2181916" cy="1159510"/>
          </a:xfrm>
          <a:prstGeom prst="rect">
            <a:avLst/>
          </a:prstGeom>
        </p:spPr>
      </p:pic>
      <p:sp>
        <p:nvSpPr>
          <p:cNvPr id="13" name="Text 2">
            <a:extLst>
              <a:ext uri="{FF2B5EF4-FFF2-40B4-BE49-F238E27FC236}">
                <a16:creationId xmlns:a16="http://schemas.microsoft.com/office/drawing/2014/main" id="{D212B39E-2C8A-F954-BA7D-4A90F9A98BBC}"/>
              </a:ext>
            </a:extLst>
          </p:cNvPr>
          <p:cNvSpPr/>
          <p:nvPr/>
        </p:nvSpPr>
        <p:spPr>
          <a:xfrm>
            <a:off x="2999231" y="2880995"/>
            <a:ext cx="2715769" cy="539496"/>
          </a:xfrm>
          <a:prstGeom prst="rect">
            <a:avLst/>
          </a:prstGeom>
          <a:noFill/>
          <a:ln/>
        </p:spPr>
        <p:txBody>
          <a:bodyPr wrap="square" rtlCol="0" anchor="ctr"/>
          <a:lstStyle/>
          <a:p>
            <a:r>
              <a:rPr lang="en-US" sz="2000" i="1" dirty="0">
                <a:solidFill>
                  <a:srgbClr val="FFD700"/>
                </a:solidFill>
                <a:latin typeface="Calibri" pitchFamily="34" charset="0"/>
                <a:ea typeface="Calibri" pitchFamily="34" charset="-122"/>
                <a:cs typeface="Calibri" pitchFamily="34" charset="-120"/>
              </a:rPr>
              <a:t>Best Buy</a:t>
            </a:r>
            <a:r>
              <a:rPr lang="en-US" sz="2000" dirty="0">
                <a:solidFill>
                  <a:srgbClr val="FFFFFF"/>
                </a:solidFill>
                <a:latin typeface="Calibri" pitchFamily="34" charset="0"/>
                <a:ea typeface="Calibri" pitchFamily="34" charset="-122"/>
                <a:cs typeface="Calibri" pitchFamily="34" charset="-120"/>
              </a:rPr>
              <a:t> imports the TV</a:t>
            </a:r>
          </a:p>
        </p:txBody>
      </p:sp>
      <p:sp>
        <p:nvSpPr>
          <p:cNvPr id="14" name="Shape 10">
            <a:extLst>
              <a:ext uri="{FF2B5EF4-FFF2-40B4-BE49-F238E27FC236}">
                <a16:creationId xmlns:a16="http://schemas.microsoft.com/office/drawing/2014/main" id="{B26DD44D-7EBC-4D9B-1FA3-03715154A7EC}"/>
              </a:ext>
            </a:extLst>
          </p:cNvPr>
          <p:cNvSpPr/>
          <p:nvPr/>
        </p:nvSpPr>
        <p:spPr>
          <a:xfrm flipV="1">
            <a:off x="1943360" y="1192530"/>
            <a:ext cx="1672273" cy="0"/>
          </a:xfrm>
          <a:prstGeom prst="line">
            <a:avLst/>
          </a:prstGeom>
          <a:noFill/>
          <a:ln w="25400">
            <a:solidFill>
              <a:srgbClr val="FFFFFF"/>
            </a:solidFill>
            <a:prstDash val="solid"/>
          </a:ln>
        </p:spPr>
        <p:txBody>
          <a:bodyPr/>
          <a:lstStyle/>
          <a:p>
            <a:endParaRPr lang="en-US"/>
          </a:p>
        </p:txBody>
      </p:sp>
      <p:sp>
        <p:nvSpPr>
          <p:cNvPr id="15" name="Shape 10">
            <a:extLst>
              <a:ext uri="{FF2B5EF4-FFF2-40B4-BE49-F238E27FC236}">
                <a16:creationId xmlns:a16="http://schemas.microsoft.com/office/drawing/2014/main" id="{328BC55C-BB9B-7311-71B7-7C64691F150A}"/>
              </a:ext>
            </a:extLst>
          </p:cNvPr>
          <p:cNvSpPr/>
          <p:nvPr/>
        </p:nvSpPr>
        <p:spPr>
          <a:xfrm flipV="1">
            <a:off x="4821746" y="1772285"/>
            <a:ext cx="1672273" cy="0"/>
          </a:xfrm>
          <a:prstGeom prst="line">
            <a:avLst/>
          </a:prstGeom>
          <a:noFill/>
          <a:ln w="25400">
            <a:solidFill>
              <a:srgbClr val="FFFFFF"/>
            </a:solidFill>
            <a:prstDash val="solid"/>
          </a:ln>
        </p:spPr>
        <p:txBody>
          <a:bodyPr/>
          <a:lstStyle/>
          <a:p>
            <a:endParaRPr lang="en-US" dirty="0"/>
          </a:p>
        </p:txBody>
      </p:sp>
      <p:sp>
        <p:nvSpPr>
          <p:cNvPr id="16" name="Text 2">
            <a:extLst>
              <a:ext uri="{FF2B5EF4-FFF2-40B4-BE49-F238E27FC236}">
                <a16:creationId xmlns:a16="http://schemas.microsoft.com/office/drawing/2014/main" id="{2B578CE9-364E-CE66-397A-8B60D813B161}"/>
              </a:ext>
            </a:extLst>
          </p:cNvPr>
          <p:cNvSpPr/>
          <p:nvPr/>
        </p:nvSpPr>
        <p:spPr>
          <a:xfrm>
            <a:off x="6140195" y="3076123"/>
            <a:ext cx="2889505" cy="539496"/>
          </a:xfrm>
          <a:prstGeom prst="rect">
            <a:avLst/>
          </a:prstGeom>
          <a:noFill/>
          <a:ln/>
        </p:spPr>
        <p:txBody>
          <a:bodyPr wrap="square" rtlCol="0" anchor="ctr"/>
          <a:lstStyle/>
          <a:p>
            <a:r>
              <a:rPr lang="en-US" sz="2000" i="1" dirty="0">
                <a:solidFill>
                  <a:srgbClr val="FFD700"/>
                </a:solidFill>
                <a:latin typeface="Calibri" pitchFamily="34" charset="0"/>
                <a:ea typeface="Calibri" pitchFamily="34" charset="-122"/>
                <a:cs typeface="Calibri" pitchFamily="34" charset="-120"/>
              </a:rPr>
              <a:t>Best Buy</a:t>
            </a:r>
            <a:r>
              <a:rPr lang="en-US" sz="2000" dirty="0">
                <a:solidFill>
                  <a:srgbClr val="FFFFFF"/>
                </a:solidFill>
                <a:latin typeface="Calibri" pitchFamily="34" charset="0"/>
                <a:ea typeface="Calibri" pitchFamily="34" charset="-122"/>
                <a:cs typeface="Calibri" pitchFamily="34" charset="-120"/>
              </a:rPr>
              <a:t> sells to </a:t>
            </a:r>
            <a:r>
              <a:rPr lang="en-US" sz="2000" dirty="0">
                <a:solidFill>
                  <a:srgbClr val="00B0F0"/>
                </a:solidFill>
                <a:latin typeface="Calibri" pitchFamily="34" charset="0"/>
                <a:ea typeface="Calibri" pitchFamily="34" charset="-122"/>
                <a:cs typeface="Calibri" pitchFamily="34" charset="-120"/>
              </a:rPr>
              <a:t>U.S. customers</a:t>
            </a:r>
          </a:p>
        </p:txBody>
      </p:sp>
      <p:sp>
        <p:nvSpPr>
          <p:cNvPr id="3" name="Text 1">
            <a:extLst>
              <a:ext uri="{FF2B5EF4-FFF2-40B4-BE49-F238E27FC236}">
                <a16:creationId xmlns:a16="http://schemas.microsoft.com/office/drawing/2014/main" id="{F842557F-7D9B-D2BB-A296-6BFE539F2077}"/>
              </a:ext>
            </a:extLst>
          </p:cNvPr>
          <p:cNvSpPr/>
          <p:nvPr/>
        </p:nvSpPr>
        <p:spPr>
          <a:xfrm>
            <a:off x="396240" y="4254881"/>
            <a:ext cx="8948928" cy="731520"/>
          </a:xfrm>
          <a:prstGeom prst="rect">
            <a:avLst/>
          </a:prstGeom>
          <a:noFill/>
          <a:ln/>
        </p:spPr>
        <p:txBody>
          <a:bodyPr wrap="square" rtlCol="0" anchor="ctr"/>
          <a:lstStyle/>
          <a:p>
            <a:pPr marL="0" indent="0">
              <a:buNone/>
            </a:pPr>
            <a:r>
              <a:rPr lang="en-US" sz="3600" i="1" dirty="0">
                <a:solidFill>
                  <a:srgbClr val="FA8485"/>
                </a:solidFill>
                <a:latin typeface="Calibri" pitchFamily="34" charset="0"/>
                <a:ea typeface="Calibri" pitchFamily="34" charset="-122"/>
                <a:cs typeface="Calibri" pitchFamily="34" charset="-120"/>
              </a:rPr>
              <a:t>How might the two firms adjust their prices?</a:t>
            </a:r>
            <a:endParaRPr lang="en-US" sz="3600" dirty="0">
              <a:solidFill>
                <a:srgbClr val="FA8485"/>
              </a:solidFill>
            </a:endParaRPr>
          </a:p>
        </p:txBody>
      </p:sp>
    </p:spTree>
    <p:extLst>
      <p:ext uri="{BB962C8B-B14F-4D97-AF65-F5344CB8AC3E}">
        <p14:creationId xmlns:p14="http://schemas.microsoft.com/office/powerpoint/2010/main" val="912391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3835C452-9611-580F-E86E-D8BCE1EEC4A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BB41A005-4CC1-B2D6-C76F-E2C2AD23644F}"/>
              </a:ext>
            </a:extLst>
          </p:cNvPr>
          <p:cNvSpPr/>
          <p:nvPr/>
        </p:nvSpPr>
        <p:spPr>
          <a:xfrm>
            <a:off x="309048" y="2188464"/>
            <a:ext cx="1846774" cy="539496"/>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Chinese firm makes the TV</a:t>
            </a:r>
          </a:p>
        </p:txBody>
      </p:sp>
      <p:pic>
        <p:nvPicPr>
          <p:cNvPr id="7" name="Picture 6">
            <a:extLst>
              <a:ext uri="{FF2B5EF4-FFF2-40B4-BE49-F238E27FC236}">
                <a16:creationId xmlns:a16="http://schemas.microsoft.com/office/drawing/2014/main" id="{3C94D38E-ECD1-71F8-C7E7-6BE1A05AB962}"/>
              </a:ext>
            </a:extLst>
          </p:cNvPr>
          <p:cNvPicPr>
            <a:picLocks noChangeAspect="1"/>
          </p:cNvPicPr>
          <p:nvPr/>
        </p:nvPicPr>
        <p:blipFill>
          <a:blip r:embed="rId3"/>
          <a:stretch>
            <a:fillRect/>
          </a:stretch>
        </p:blipFill>
        <p:spPr>
          <a:xfrm>
            <a:off x="3615633" y="340932"/>
            <a:ext cx="1206113" cy="2352294"/>
          </a:xfrm>
          <a:prstGeom prst="rect">
            <a:avLst/>
          </a:prstGeom>
        </p:spPr>
      </p:pic>
      <p:pic>
        <p:nvPicPr>
          <p:cNvPr id="9" name="Picture 8">
            <a:extLst>
              <a:ext uri="{FF2B5EF4-FFF2-40B4-BE49-F238E27FC236}">
                <a16:creationId xmlns:a16="http://schemas.microsoft.com/office/drawing/2014/main" id="{B15CA5F1-6EC7-2679-284B-227824FF0A61}"/>
              </a:ext>
            </a:extLst>
          </p:cNvPr>
          <p:cNvPicPr>
            <a:picLocks noChangeAspect="1"/>
          </p:cNvPicPr>
          <p:nvPr/>
        </p:nvPicPr>
        <p:blipFill>
          <a:blip r:embed="rId4"/>
          <a:stretch>
            <a:fillRect/>
          </a:stretch>
        </p:blipFill>
        <p:spPr>
          <a:xfrm>
            <a:off x="309048" y="650748"/>
            <a:ext cx="1634312" cy="1083564"/>
          </a:xfrm>
          <a:prstGeom prst="rect">
            <a:avLst/>
          </a:prstGeom>
        </p:spPr>
      </p:pic>
      <p:pic>
        <p:nvPicPr>
          <p:cNvPr id="11" name="Picture 10">
            <a:extLst>
              <a:ext uri="{FF2B5EF4-FFF2-40B4-BE49-F238E27FC236}">
                <a16:creationId xmlns:a16="http://schemas.microsoft.com/office/drawing/2014/main" id="{5B20B5E6-05F7-FE26-6CC8-DC55B5BBCFC6}"/>
              </a:ext>
            </a:extLst>
          </p:cNvPr>
          <p:cNvPicPr>
            <a:picLocks noChangeAspect="1"/>
          </p:cNvPicPr>
          <p:nvPr/>
        </p:nvPicPr>
        <p:blipFill>
          <a:blip r:embed="rId5"/>
          <a:stretch>
            <a:fillRect/>
          </a:stretch>
        </p:blipFill>
        <p:spPr>
          <a:xfrm>
            <a:off x="6493989" y="1412240"/>
            <a:ext cx="2181916" cy="1159510"/>
          </a:xfrm>
          <a:prstGeom prst="rect">
            <a:avLst/>
          </a:prstGeom>
        </p:spPr>
      </p:pic>
      <p:sp>
        <p:nvSpPr>
          <p:cNvPr id="13" name="Text 2">
            <a:extLst>
              <a:ext uri="{FF2B5EF4-FFF2-40B4-BE49-F238E27FC236}">
                <a16:creationId xmlns:a16="http://schemas.microsoft.com/office/drawing/2014/main" id="{FD542032-C8DD-474D-E91D-AC24DB28CCCB}"/>
              </a:ext>
            </a:extLst>
          </p:cNvPr>
          <p:cNvSpPr/>
          <p:nvPr/>
        </p:nvSpPr>
        <p:spPr>
          <a:xfrm>
            <a:off x="2999231" y="2880995"/>
            <a:ext cx="2715769" cy="539496"/>
          </a:xfrm>
          <a:prstGeom prst="rect">
            <a:avLst/>
          </a:prstGeom>
          <a:noFill/>
          <a:ln/>
        </p:spPr>
        <p:txBody>
          <a:bodyPr wrap="square" rtlCol="0" anchor="ctr"/>
          <a:lstStyle/>
          <a:p>
            <a:r>
              <a:rPr lang="en-US" sz="2000" i="1" dirty="0">
                <a:solidFill>
                  <a:srgbClr val="FFD700"/>
                </a:solidFill>
                <a:latin typeface="Calibri" pitchFamily="34" charset="0"/>
                <a:ea typeface="Calibri" pitchFamily="34" charset="-122"/>
                <a:cs typeface="Calibri" pitchFamily="34" charset="-120"/>
              </a:rPr>
              <a:t>Best Buy</a:t>
            </a:r>
            <a:r>
              <a:rPr lang="en-US" sz="2000" dirty="0">
                <a:solidFill>
                  <a:srgbClr val="FFFFFF"/>
                </a:solidFill>
                <a:latin typeface="Calibri" pitchFamily="34" charset="0"/>
                <a:ea typeface="Calibri" pitchFamily="34" charset="-122"/>
                <a:cs typeface="Calibri" pitchFamily="34" charset="-120"/>
              </a:rPr>
              <a:t> imports the TV</a:t>
            </a:r>
          </a:p>
        </p:txBody>
      </p:sp>
      <p:sp>
        <p:nvSpPr>
          <p:cNvPr id="14" name="Shape 10">
            <a:extLst>
              <a:ext uri="{FF2B5EF4-FFF2-40B4-BE49-F238E27FC236}">
                <a16:creationId xmlns:a16="http://schemas.microsoft.com/office/drawing/2014/main" id="{B7F8DC78-FF75-413F-1896-1D8A9F0709E4}"/>
              </a:ext>
            </a:extLst>
          </p:cNvPr>
          <p:cNvSpPr/>
          <p:nvPr/>
        </p:nvSpPr>
        <p:spPr>
          <a:xfrm flipV="1">
            <a:off x="1943360" y="1192530"/>
            <a:ext cx="1672273" cy="0"/>
          </a:xfrm>
          <a:prstGeom prst="line">
            <a:avLst/>
          </a:prstGeom>
          <a:noFill/>
          <a:ln w="25400">
            <a:solidFill>
              <a:srgbClr val="FFFFFF"/>
            </a:solidFill>
            <a:prstDash val="solid"/>
          </a:ln>
        </p:spPr>
        <p:txBody>
          <a:bodyPr/>
          <a:lstStyle/>
          <a:p>
            <a:endParaRPr lang="en-US"/>
          </a:p>
        </p:txBody>
      </p:sp>
      <p:sp>
        <p:nvSpPr>
          <p:cNvPr id="15" name="Shape 10">
            <a:extLst>
              <a:ext uri="{FF2B5EF4-FFF2-40B4-BE49-F238E27FC236}">
                <a16:creationId xmlns:a16="http://schemas.microsoft.com/office/drawing/2014/main" id="{5D14148C-3FFA-2FFB-3077-B424F5CAB071}"/>
              </a:ext>
            </a:extLst>
          </p:cNvPr>
          <p:cNvSpPr/>
          <p:nvPr/>
        </p:nvSpPr>
        <p:spPr>
          <a:xfrm flipV="1">
            <a:off x="4821746" y="1772285"/>
            <a:ext cx="1672273" cy="0"/>
          </a:xfrm>
          <a:prstGeom prst="line">
            <a:avLst/>
          </a:prstGeom>
          <a:noFill/>
          <a:ln w="25400">
            <a:solidFill>
              <a:srgbClr val="FFFFFF"/>
            </a:solidFill>
            <a:prstDash val="solid"/>
          </a:ln>
        </p:spPr>
        <p:txBody>
          <a:bodyPr/>
          <a:lstStyle/>
          <a:p>
            <a:endParaRPr lang="en-US" dirty="0"/>
          </a:p>
        </p:txBody>
      </p:sp>
      <p:sp>
        <p:nvSpPr>
          <p:cNvPr id="16" name="Text 2">
            <a:extLst>
              <a:ext uri="{FF2B5EF4-FFF2-40B4-BE49-F238E27FC236}">
                <a16:creationId xmlns:a16="http://schemas.microsoft.com/office/drawing/2014/main" id="{9C8991F4-4651-ECD5-A859-1196BA69A474}"/>
              </a:ext>
            </a:extLst>
          </p:cNvPr>
          <p:cNvSpPr/>
          <p:nvPr/>
        </p:nvSpPr>
        <p:spPr>
          <a:xfrm>
            <a:off x="6140195" y="3076123"/>
            <a:ext cx="2889505" cy="539496"/>
          </a:xfrm>
          <a:prstGeom prst="rect">
            <a:avLst/>
          </a:prstGeom>
          <a:noFill/>
          <a:ln/>
        </p:spPr>
        <p:txBody>
          <a:bodyPr wrap="square" rtlCol="0" anchor="ctr"/>
          <a:lstStyle/>
          <a:p>
            <a:r>
              <a:rPr lang="en-US" sz="2000" i="1" dirty="0">
                <a:solidFill>
                  <a:srgbClr val="FFD700"/>
                </a:solidFill>
                <a:latin typeface="Calibri" pitchFamily="34" charset="0"/>
                <a:ea typeface="Calibri" pitchFamily="34" charset="-122"/>
                <a:cs typeface="Calibri" pitchFamily="34" charset="-120"/>
              </a:rPr>
              <a:t>Best Buy</a:t>
            </a:r>
            <a:r>
              <a:rPr lang="en-US" sz="2000" dirty="0">
                <a:solidFill>
                  <a:srgbClr val="FFFFFF"/>
                </a:solidFill>
                <a:latin typeface="Calibri" pitchFamily="34" charset="0"/>
                <a:ea typeface="Calibri" pitchFamily="34" charset="-122"/>
                <a:cs typeface="Calibri" pitchFamily="34" charset="-120"/>
              </a:rPr>
              <a:t> sells to </a:t>
            </a:r>
            <a:r>
              <a:rPr lang="en-US" sz="2000" dirty="0">
                <a:solidFill>
                  <a:srgbClr val="00B0F0"/>
                </a:solidFill>
                <a:latin typeface="Calibri" pitchFamily="34" charset="0"/>
                <a:ea typeface="Calibri" pitchFamily="34" charset="-122"/>
                <a:cs typeface="Calibri" pitchFamily="34" charset="-120"/>
              </a:rPr>
              <a:t>U.S. customers</a:t>
            </a:r>
          </a:p>
        </p:txBody>
      </p:sp>
      <p:sp>
        <p:nvSpPr>
          <p:cNvPr id="3" name="Text 1">
            <a:extLst>
              <a:ext uri="{FF2B5EF4-FFF2-40B4-BE49-F238E27FC236}">
                <a16:creationId xmlns:a16="http://schemas.microsoft.com/office/drawing/2014/main" id="{57022B60-BBCD-DED0-F776-FA70E117D9B0}"/>
              </a:ext>
            </a:extLst>
          </p:cNvPr>
          <p:cNvSpPr/>
          <p:nvPr/>
        </p:nvSpPr>
        <p:spPr>
          <a:xfrm>
            <a:off x="396240" y="4254881"/>
            <a:ext cx="8948928" cy="731520"/>
          </a:xfrm>
          <a:prstGeom prst="rect">
            <a:avLst/>
          </a:prstGeom>
          <a:noFill/>
          <a:ln/>
        </p:spPr>
        <p:txBody>
          <a:bodyPr wrap="square" lIns="91440" tIns="45720" rIns="91440" bIns="45720" rtlCol="0" anchor="ctr"/>
          <a:lstStyle/>
          <a:p>
            <a:r>
              <a:rPr lang="en-US" sz="2400" i="1" dirty="0">
                <a:solidFill>
                  <a:srgbClr val="FF0000"/>
                </a:solidFill>
                <a:latin typeface="Calibri"/>
                <a:ea typeface="Calibri"/>
                <a:cs typeface="Calibri"/>
              </a:rPr>
              <a:t>How might other US TV manufacturers adjust their prices in </a:t>
            </a:r>
            <a:r>
              <a:rPr lang="en-US" sz="2400" i="1">
                <a:solidFill>
                  <a:srgbClr val="FF0000"/>
                </a:solidFill>
                <a:latin typeface="Calibri"/>
                <a:ea typeface="Calibri"/>
                <a:cs typeface="Calibri"/>
              </a:rPr>
              <a:t>response</a:t>
            </a:r>
            <a:r>
              <a:rPr lang="en-US" sz="3600" i="1" dirty="0">
                <a:solidFill>
                  <a:srgbClr val="FA8485"/>
                </a:solidFill>
                <a:latin typeface="Calibri"/>
                <a:ea typeface="Calibri"/>
                <a:cs typeface="Calibri"/>
              </a:rPr>
              <a:t> </a:t>
            </a:r>
          </a:p>
        </p:txBody>
      </p:sp>
    </p:spTree>
    <p:extLst>
      <p:ext uri="{BB962C8B-B14F-4D97-AF65-F5344CB8AC3E}">
        <p14:creationId xmlns:p14="http://schemas.microsoft.com/office/powerpoint/2010/main" val="1919927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lIns="91440" tIns="45720" rIns="91440" bIns="45720" rtlCol="0" anchor="ctr"/>
          <a:lstStyle/>
          <a:p>
            <a:r>
              <a:rPr lang="en-US" sz="3600" i="1" dirty="0">
                <a:solidFill>
                  <a:srgbClr val="FFFFFF"/>
                </a:solidFill>
                <a:latin typeface="Calibri"/>
                <a:ea typeface="Calibri"/>
                <a:cs typeface="Calibri"/>
              </a:rPr>
              <a:t>Who bears the cost of the </a:t>
            </a:r>
            <a:r>
              <a:rPr lang="en-US" sz="3600" i="1" dirty="0" err="1">
                <a:solidFill>
                  <a:srgbClr val="FFFFFF"/>
                </a:solidFill>
                <a:latin typeface="Calibri"/>
                <a:ea typeface="Calibri"/>
                <a:cs typeface="Calibri"/>
              </a:rPr>
              <a:t>tarrif</a:t>
            </a:r>
            <a:r>
              <a:rPr lang="en-US" sz="3600" i="1" dirty="0">
                <a:solidFill>
                  <a:srgbClr val="FFFFFF"/>
                </a:solidFill>
                <a:latin typeface="Calibri"/>
                <a:ea typeface="Calibri"/>
                <a:cs typeface="Calibri"/>
              </a:rPr>
              <a:t>?</a:t>
            </a:r>
            <a:endParaRPr lang="en-US" sz="3600" dirty="0"/>
          </a:p>
        </p:txBody>
      </p:sp>
      <p:sp>
        <p:nvSpPr>
          <p:cNvPr id="4" name="Text 2"/>
          <p:cNvSpPr/>
          <p:nvPr/>
        </p:nvSpPr>
        <p:spPr>
          <a:xfrm>
            <a:off x="640080" y="1706418"/>
            <a:ext cx="7772400" cy="3162762"/>
          </a:xfrm>
          <a:prstGeom prst="rect">
            <a:avLst/>
          </a:prstGeom>
          <a:noFill/>
          <a:ln/>
        </p:spPr>
        <p:txBody>
          <a:bodyPr wrap="square" lIns="91440" tIns="45720" rIns="91440" bIns="45720" rtlCol="0" anchor="ctr"/>
          <a:lstStyle/>
          <a:p>
            <a:pPr marL="0" indent="0">
              <a:buNone/>
            </a:pPr>
            <a:endParaRPr lang="en-US" dirty="0">
              <a:solidFill>
                <a:schemeClr val="bg1"/>
              </a:solidFill>
              <a:ea typeface="Calibri"/>
              <a:cs typeface="Calibri"/>
            </a:endParaRPr>
          </a:p>
          <a:p>
            <a:pPr marL="0" indent="0">
              <a:buNone/>
            </a:pPr>
            <a:endParaRPr lang="en-US" dirty="0">
              <a:solidFill>
                <a:schemeClr val="bg1"/>
              </a:solidFill>
              <a:ea typeface="Calibri"/>
              <a:cs typeface="Calibri"/>
            </a:endParaRPr>
          </a:p>
          <a:p>
            <a:pPr marL="285750" indent="-285750">
              <a:buFont typeface="Arial"/>
              <a:buChar char="•"/>
            </a:pPr>
            <a:r>
              <a:rPr lang="en-US">
                <a:solidFill>
                  <a:schemeClr val="bg1"/>
                </a:solidFill>
                <a:latin typeface="Calibri"/>
                <a:ea typeface="Calibri"/>
                <a:cs typeface="Calibri"/>
              </a:rPr>
              <a:t>Best</a:t>
            </a:r>
            <a:r>
              <a:rPr lang="en-US">
                <a:solidFill>
                  <a:schemeClr val="bg1"/>
                </a:solidFill>
                <a:ea typeface="+mn-lt"/>
                <a:cs typeface="+mn-lt"/>
              </a:rPr>
              <a:t> Buy </a:t>
            </a:r>
            <a:r>
              <a:rPr lang="en-US" b="1">
                <a:solidFill>
                  <a:schemeClr val="bg1"/>
                </a:solidFill>
                <a:ea typeface="+mn-lt"/>
                <a:cs typeface="+mn-lt"/>
              </a:rPr>
              <a:t>pays the tariff</a:t>
            </a:r>
            <a:r>
              <a:rPr lang="en-US">
                <a:solidFill>
                  <a:schemeClr val="bg1"/>
                </a:solidFill>
                <a:ea typeface="+mn-lt"/>
                <a:cs typeface="+mn-lt"/>
              </a:rPr>
              <a:t> at the border when the TVs enter the U.S., raising their cost per unit</a:t>
            </a:r>
            <a:endParaRPr lang="en-US" dirty="0">
              <a:solidFill>
                <a:schemeClr val="bg1"/>
              </a:solidFill>
              <a:latin typeface="Calibri" panose="020F0502020204030204"/>
              <a:ea typeface="Calibri" panose="020F0502020204030204"/>
              <a:cs typeface="Calibri" panose="020F0502020204030204"/>
            </a:endParaRPr>
          </a:p>
          <a:p>
            <a:pPr marL="285750" indent="-285750">
              <a:buFont typeface="Arial"/>
              <a:buChar char="•"/>
            </a:pPr>
            <a:endParaRPr lang="en-US" dirty="0">
              <a:solidFill>
                <a:schemeClr val="bg1"/>
              </a:solidFill>
              <a:ea typeface="+mn-lt"/>
              <a:cs typeface="+mn-lt"/>
            </a:endParaRPr>
          </a:p>
          <a:p>
            <a:pPr marL="285750" indent="-285750">
              <a:buFont typeface="Arial"/>
              <a:buChar char="•"/>
            </a:pPr>
            <a:r>
              <a:rPr lang="en-US">
                <a:solidFill>
                  <a:schemeClr val="bg1"/>
                </a:solidFill>
                <a:ea typeface="+mn-lt"/>
                <a:cs typeface="+mn-lt"/>
              </a:rPr>
              <a:t>Best Buy passes that higher cost to shoppers by raising their prices</a:t>
            </a:r>
            <a:r>
              <a:rPr lang="en-US" b="1" dirty="0">
                <a:solidFill>
                  <a:schemeClr val="bg1"/>
                </a:solidFill>
                <a:ea typeface="+mn-lt"/>
                <a:cs typeface="+mn-lt"/>
              </a:rPr>
              <a:t> </a:t>
            </a:r>
            <a:r>
              <a:rPr lang="en-US">
                <a:solidFill>
                  <a:schemeClr val="bg1"/>
                </a:solidFill>
                <a:ea typeface="+mn-lt"/>
                <a:cs typeface="+mn-lt"/>
              </a:rPr>
              <a:t>— American consumers </a:t>
            </a:r>
            <a:r>
              <a:rPr lang="en-US" b="1" dirty="0">
                <a:solidFill>
                  <a:schemeClr val="bg1"/>
                </a:solidFill>
                <a:ea typeface="+mn-lt"/>
                <a:cs typeface="+mn-lt"/>
              </a:rPr>
              <a:t>pay more</a:t>
            </a:r>
            <a:endParaRPr lang="en-US" dirty="0">
              <a:solidFill>
                <a:schemeClr val="bg1"/>
              </a:solidFill>
              <a:ea typeface="+mn-lt"/>
              <a:cs typeface="+mn-lt"/>
            </a:endParaRPr>
          </a:p>
          <a:p>
            <a:pPr marL="285750" indent="-285750">
              <a:buFont typeface="Arial"/>
              <a:buChar char="•"/>
            </a:pPr>
            <a:endParaRPr lang="en-US" b="1" dirty="0">
              <a:solidFill>
                <a:schemeClr val="bg1"/>
              </a:solidFill>
              <a:ea typeface="+mn-lt"/>
              <a:cs typeface="+mn-lt"/>
            </a:endParaRPr>
          </a:p>
          <a:p>
            <a:pPr marL="285750" indent="-285750">
              <a:buFont typeface="Arial"/>
              <a:buChar char="•"/>
            </a:pPr>
            <a:r>
              <a:rPr lang="en-US">
                <a:solidFill>
                  <a:schemeClr val="bg1"/>
                </a:solidFill>
                <a:ea typeface="+mn-lt"/>
                <a:cs typeface="+mn-lt"/>
              </a:rPr>
              <a:t>Hisense may feel pressure to lower their prices to stay competitive, squeezing their profit margins — but they may not have much room to lower their prices if their margins are already thin</a:t>
            </a:r>
            <a:endParaRPr lang="en-US" dirty="0">
              <a:solidFill>
                <a:schemeClr val="bg1"/>
              </a:solidFill>
              <a:ea typeface="Calibri"/>
              <a:cs typeface="Calibri"/>
            </a:endParaRPr>
          </a:p>
          <a:p>
            <a:pPr marL="285750" indent="-285750">
              <a:buFont typeface="Arial"/>
              <a:buChar char="•"/>
            </a:pPr>
            <a:endParaRPr lang="en-US" dirty="0">
              <a:solidFill>
                <a:schemeClr val="bg1"/>
              </a:solidFill>
              <a:ea typeface="Calibri"/>
              <a:cs typeface="Calibri"/>
            </a:endParaRPr>
          </a:p>
          <a:p>
            <a:pPr marL="285750" indent="-285750">
              <a:buFont typeface="Arial"/>
              <a:buChar char="•"/>
            </a:pPr>
            <a:r>
              <a:rPr lang="en-US" dirty="0">
                <a:solidFill>
                  <a:schemeClr val="bg1"/>
                </a:solidFill>
                <a:ea typeface="+mn-lt"/>
                <a:cs typeface="+mn-lt"/>
              </a:rPr>
              <a:t>Unlike a sales tax you can see on your receipt, </a:t>
            </a:r>
            <a:r>
              <a:rPr lang="en-US" b="1" dirty="0">
                <a:solidFill>
                  <a:srgbClr val="00B0F0"/>
                </a:solidFill>
                <a:ea typeface="+mn-lt"/>
                <a:cs typeface="+mn-lt"/>
              </a:rPr>
              <a:t>tariff costs are hidden inside the sticker price</a:t>
            </a:r>
            <a:r>
              <a:rPr lang="en-US" dirty="0">
                <a:solidFill>
                  <a:schemeClr val="bg1"/>
                </a:solidFill>
                <a:ea typeface="+mn-lt"/>
                <a:cs typeface="+mn-lt"/>
              </a:rPr>
              <a:t> — consumers often don't realize they're paying it</a:t>
            </a:r>
            <a:endParaRPr lang="en-US" dirty="0">
              <a:solidFill>
                <a:schemeClr val="bg1"/>
              </a:solidFill>
              <a:ea typeface="Calibri"/>
              <a:cs typeface="Calibri"/>
            </a:endParaRPr>
          </a:p>
          <a:p>
            <a:pPr marL="285750" indent="-285750">
              <a:buFont typeface="Arial"/>
              <a:buChar char="•"/>
            </a:pPr>
            <a:endParaRPr lang="en-US" dirty="0">
              <a:solidFill>
                <a:schemeClr val="bg1"/>
              </a:solidFill>
              <a:ea typeface="Calibri"/>
              <a:cs typeface="Calibri"/>
            </a:endParaRPr>
          </a:p>
          <a:p>
            <a:br>
              <a:rPr lang="en-US" dirty="0"/>
            </a:br>
            <a:endParaRPr lang="en-US" dirty="0">
              <a:solidFill>
                <a:schemeClr val="bg1"/>
              </a:solidFill>
              <a:ea typeface="Calibri"/>
              <a:cs typeface="Calibri"/>
            </a:endParaRPr>
          </a:p>
          <a:p>
            <a:pPr marL="0" indent="0">
              <a:buNone/>
            </a:pPr>
            <a:endParaRPr lang="en-US" dirty="0">
              <a:solidFill>
                <a:schemeClr val="bg1"/>
              </a:solidFill>
              <a:latin typeface="Calibri"/>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9CC1C693-A470-02AA-56ED-6DA4C437241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F273FD5-2B86-35EC-0B37-FB4C18F7299B}"/>
              </a:ext>
            </a:extLst>
          </p:cNvPr>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a:extLst>
              <a:ext uri="{FF2B5EF4-FFF2-40B4-BE49-F238E27FC236}">
                <a16:creationId xmlns:a16="http://schemas.microsoft.com/office/drawing/2014/main" id="{F32A62B4-8C86-9B2A-CC17-985D935FCF6A}"/>
              </a:ext>
            </a:extLst>
          </p:cNvPr>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Why governments use tariffs</a:t>
            </a:r>
            <a:endParaRPr lang="en-US" sz="3600" dirty="0"/>
          </a:p>
        </p:txBody>
      </p:sp>
      <p:sp>
        <p:nvSpPr>
          <p:cNvPr id="4" name="Text 2">
            <a:extLst>
              <a:ext uri="{FF2B5EF4-FFF2-40B4-BE49-F238E27FC236}">
                <a16:creationId xmlns:a16="http://schemas.microsoft.com/office/drawing/2014/main" id="{B3D10656-6AE7-8697-3C58-8A771A9C0666}"/>
              </a:ext>
            </a:extLst>
          </p:cNvPr>
          <p:cNvSpPr/>
          <p:nvPr/>
        </p:nvSpPr>
        <p:spPr>
          <a:xfrm>
            <a:off x="640080" y="1371600"/>
            <a:ext cx="7772400" cy="3497580"/>
          </a:xfrm>
          <a:prstGeom prst="rect">
            <a:avLst/>
          </a:prstGeom>
          <a:noFill/>
          <a:ln/>
        </p:spPr>
        <p:txBody>
          <a:bodyPr wrap="square" rtlCol="0" anchor="ctr"/>
          <a:lstStyle/>
          <a:p>
            <a:pPr marL="0" indent="0">
              <a:buNone/>
            </a:pPr>
            <a:endParaRPr lang="en-US" sz="2000" dirty="0"/>
          </a:p>
          <a:p>
            <a:pPr marL="0" indent="0">
              <a:buNone/>
            </a:pPr>
            <a:endParaRPr lang="en-US" sz="2000" dirty="0"/>
          </a:p>
          <a:p>
            <a:pPr marL="0" indent="0">
              <a:buNone/>
            </a:pPr>
            <a:r>
              <a:rPr lang="en-US" sz="2000" b="1" dirty="0">
                <a:solidFill>
                  <a:srgbClr val="FF69B4"/>
                </a:solidFill>
                <a:latin typeface="Calibri" pitchFamily="34" charset="0"/>
                <a:ea typeface="Calibri" pitchFamily="34" charset="-122"/>
                <a:cs typeface="Calibri" pitchFamily="34" charset="-120"/>
              </a:rPr>
              <a:t>1. Protect domestic industries </a:t>
            </a:r>
            <a:endParaRPr lang="en-US" sz="2000" dirty="0"/>
          </a:p>
          <a:p>
            <a:pPr marL="0" indent="0">
              <a:buNone/>
            </a:pPr>
            <a:r>
              <a:rPr lang="en-US" sz="1800" dirty="0">
                <a:solidFill>
                  <a:srgbClr val="FFFFFF"/>
                </a:solidFill>
                <a:latin typeface="Calibri" pitchFamily="34" charset="0"/>
                <a:ea typeface="Calibri" pitchFamily="34" charset="-122"/>
                <a:cs typeface="Calibri" pitchFamily="34" charset="-120"/>
              </a:rPr>
              <a:t>   Make foreign goods more expensive so people buy American</a:t>
            </a:r>
            <a:endParaRPr lang="en-US" sz="2000" dirty="0"/>
          </a:p>
          <a:p>
            <a:pPr marL="0" indent="0">
              <a:buNone/>
            </a:pPr>
            <a:endParaRPr lang="en-US" sz="2000" dirty="0"/>
          </a:p>
          <a:p>
            <a:pPr marL="0" indent="0">
              <a:buNone/>
            </a:pPr>
            <a:endParaRPr lang="en-US" sz="2000" dirty="0"/>
          </a:p>
          <a:p>
            <a:pPr marL="0" indent="0">
              <a:buNone/>
            </a:pPr>
            <a:r>
              <a:rPr lang="en-US" sz="2000" b="1" dirty="0">
                <a:solidFill>
                  <a:srgbClr val="7CFC00"/>
                </a:solidFill>
                <a:latin typeface="Calibri" pitchFamily="34" charset="0"/>
                <a:ea typeface="Calibri" pitchFamily="34" charset="-122"/>
                <a:cs typeface="Calibri" pitchFamily="34" charset="-120"/>
              </a:rPr>
              <a:t>2. National security </a:t>
            </a:r>
            <a:endParaRPr lang="en-US" sz="2000" dirty="0"/>
          </a:p>
          <a:p>
            <a:pPr marL="0" indent="0">
              <a:buNone/>
            </a:pPr>
            <a:r>
              <a:rPr lang="en-US" sz="1800" dirty="0">
                <a:solidFill>
                  <a:srgbClr val="FFFFFF"/>
                </a:solidFill>
                <a:latin typeface="Calibri" pitchFamily="34" charset="0"/>
                <a:ea typeface="Calibri" pitchFamily="34" charset="-122"/>
                <a:cs typeface="Calibri" pitchFamily="34" charset="-120"/>
              </a:rPr>
              <a:t>   Keep critical industries (steel, chips) alive at home</a:t>
            </a:r>
          </a:p>
          <a:p>
            <a:pPr marL="0" indent="0">
              <a:buNone/>
            </a:pPr>
            <a:endParaRPr lang="en-US" dirty="0">
              <a:solidFill>
                <a:srgbClr val="FFFFFF"/>
              </a:solidFill>
              <a:latin typeface="Calibri" pitchFamily="34" charset="0"/>
              <a:cs typeface="Calibri" pitchFamily="34" charset="-120"/>
            </a:endParaRPr>
          </a:p>
          <a:p>
            <a:pPr marL="0" indent="0">
              <a:buNone/>
            </a:pPr>
            <a:endParaRPr lang="en-US" dirty="0">
              <a:solidFill>
                <a:srgbClr val="FFFFFF"/>
              </a:solidFill>
              <a:latin typeface="Calibri" pitchFamily="34" charset="0"/>
              <a:cs typeface="Calibri" pitchFamily="34" charset="-120"/>
            </a:endParaRPr>
          </a:p>
          <a:p>
            <a:r>
              <a:rPr lang="en-US" sz="2000" b="1" dirty="0">
                <a:solidFill>
                  <a:srgbClr val="00BFFF"/>
                </a:solidFill>
                <a:latin typeface="Calibri" pitchFamily="34" charset="0"/>
                <a:ea typeface="Calibri" pitchFamily="34" charset="-122"/>
                <a:cs typeface="Calibri" pitchFamily="34" charset="-120"/>
              </a:rPr>
              <a:t>3. Raise revenue </a:t>
            </a:r>
            <a:endParaRPr lang="en-US" sz="2000" dirty="0"/>
          </a:p>
          <a:p>
            <a:r>
              <a:rPr lang="en-US" sz="2000" dirty="0">
                <a:solidFill>
                  <a:srgbClr val="FFFFFF"/>
                </a:solidFill>
                <a:latin typeface="Calibri" pitchFamily="34" charset="0"/>
                <a:ea typeface="Calibri" pitchFamily="34" charset="-122"/>
                <a:cs typeface="Calibri" pitchFamily="34" charset="-120"/>
              </a:rPr>
              <a:t>   Government collects money from the tax</a:t>
            </a: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1834727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1828800"/>
            <a:ext cx="7772400" cy="1371600"/>
          </a:xfrm>
          <a:prstGeom prst="rect">
            <a:avLst/>
          </a:prstGeom>
          <a:noFill/>
          <a:ln/>
        </p:spPr>
        <p:txBody>
          <a:bodyPr wrap="square" rtlCol="0" anchor="ctr"/>
          <a:lstStyle/>
          <a:p>
            <a:pPr marL="0" indent="0" algn="ctr">
              <a:buNone/>
            </a:pPr>
            <a:r>
              <a:rPr lang="en-US" sz="4000" i="1" dirty="0">
                <a:solidFill>
                  <a:srgbClr val="FFFFFF"/>
                </a:solidFill>
                <a:latin typeface="Calibri" pitchFamily="34" charset="0"/>
                <a:ea typeface="Calibri" pitchFamily="34" charset="-122"/>
                <a:cs typeface="Calibri" pitchFamily="34" charset="-120"/>
              </a:rPr>
              <a:t>☕  5-minute break</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548640"/>
            <a:ext cx="7772400" cy="731520"/>
          </a:xfrm>
          <a:prstGeom prst="rect">
            <a:avLst/>
          </a:prstGeom>
          <a:noFill/>
          <a:ln/>
        </p:spPr>
        <p:txBody>
          <a:bodyPr wrap="square" rtlCol="0" anchor="ctr"/>
          <a:lstStyle/>
          <a:p>
            <a:pPr marL="0" indent="0">
              <a:buNone/>
            </a:pPr>
            <a:r>
              <a:rPr lang="en-US" sz="2400" i="1" dirty="0">
                <a:solidFill>
                  <a:srgbClr val="B0C4DE"/>
                </a:solidFill>
                <a:latin typeface="Calibri" pitchFamily="34" charset="0"/>
                <a:ea typeface="Calibri" pitchFamily="34" charset="-122"/>
                <a:cs typeface="Calibri" pitchFamily="34" charset="-120"/>
              </a:rPr>
              <a:t>Economic analysis:</a:t>
            </a:r>
            <a:endParaRPr lang="en-US" sz="2400" dirty="0"/>
          </a:p>
        </p:txBody>
      </p:sp>
      <p:sp>
        <p:nvSpPr>
          <p:cNvPr id="4" name="Text 2"/>
          <p:cNvSpPr/>
          <p:nvPr/>
        </p:nvSpPr>
        <p:spPr>
          <a:xfrm>
            <a:off x="640080" y="1280160"/>
            <a:ext cx="7772400" cy="16459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Should the U.S. keep tariffs on imported steel?</a:t>
            </a:r>
            <a:endParaRPr lang="en-US" sz="3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The steel tariff story</a:t>
            </a:r>
            <a:endParaRPr lang="en-US" sz="3600" dirty="0"/>
          </a:p>
        </p:txBody>
      </p:sp>
      <p:sp>
        <p:nvSpPr>
          <p:cNvPr id="4" name="Text 2"/>
          <p:cNvSpPr/>
          <p:nvPr/>
        </p:nvSpPr>
        <p:spPr>
          <a:xfrm>
            <a:off x="640080" y="1097280"/>
            <a:ext cx="7772400" cy="3474720"/>
          </a:xfrm>
          <a:prstGeom prst="rect">
            <a:avLst/>
          </a:prstGeom>
          <a:noFill/>
          <a:ln/>
        </p:spPr>
        <p:txBody>
          <a:bodyPr wrap="square" rtlCol="0" anchor="ctr"/>
          <a:lstStyle/>
          <a:p>
            <a:pPr marL="0" indent="0">
              <a:buNone/>
            </a:pPr>
            <a:r>
              <a:rPr lang="en-US" sz="1800" b="1" dirty="0">
                <a:solidFill>
                  <a:srgbClr val="FFD700"/>
                </a:solidFill>
                <a:latin typeface="Calibri" pitchFamily="34" charset="0"/>
                <a:ea typeface="Calibri" pitchFamily="34" charset="-122"/>
                <a:cs typeface="Calibri" pitchFamily="34" charset="-120"/>
              </a:rPr>
              <a:t>2018: </a:t>
            </a:r>
            <a:r>
              <a:rPr lang="en-US" sz="1800" dirty="0">
                <a:solidFill>
                  <a:srgbClr val="FFFFFF"/>
                </a:solidFill>
                <a:latin typeface="Calibri" pitchFamily="34" charset="0"/>
                <a:ea typeface="Calibri" pitchFamily="34" charset="-122"/>
                <a:cs typeface="Calibri" pitchFamily="34" charset="-120"/>
              </a:rPr>
              <a:t>U.S. places 25% tariff on imported steel</a:t>
            </a:r>
            <a:endParaRPr lang="en-US" sz="1800" dirty="0"/>
          </a:p>
          <a:p>
            <a:pPr marL="0" indent="0">
              <a:buNone/>
            </a:pPr>
            <a:endParaRPr lang="en-US" sz="1800" dirty="0"/>
          </a:p>
          <a:p>
            <a:pPr marL="0" indent="0">
              <a:buNone/>
            </a:pPr>
            <a:r>
              <a:rPr lang="en-US" sz="1800" b="1" dirty="0">
                <a:solidFill>
                  <a:srgbClr val="00BFFF"/>
                </a:solidFill>
                <a:latin typeface="Calibri" pitchFamily="34" charset="0"/>
                <a:ea typeface="Calibri" pitchFamily="34" charset="-122"/>
                <a:cs typeface="Calibri" pitchFamily="34" charset="-120"/>
              </a:rPr>
              <a:t>Reason: </a:t>
            </a:r>
            <a:r>
              <a:rPr lang="en-US" sz="1800" dirty="0">
                <a:solidFill>
                  <a:srgbClr val="FFFFFF"/>
                </a:solidFill>
                <a:latin typeface="Calibri" pitchFamily="34" charset="0"/>
                <a:ea typeface="Calibri" pitchFamily="34" charset="-122"/>
                <a:cs typeface="Calibri" pitchFamily="34" charset="-120"/>
              </a:rPr>
              <a:t>"Protect American steel jobs" + national security</a:t>
            </a:r>
            <a:endParaRPr lang="en-US" sz="1800" dirty="0"/>
          </a:p>
          <a:p>
            <a:pPr marL="0" indent="0">
              <a:buNone/>
            </a:pPr>
            <a:endParaRPr lang="en-US" sz="1800" dirty="0"/>
          </a:p>
          <a:p>
            <a:pPr marL="0" indent="0">
              <a:buNone/>
            </a:pPr>
            <a:r>
              <a:rPr lang="en-US" sz="1800" b="1" dirty="0">
                <a:solidFill>
                  <a:srgbClr val="FF69B4"/>
                </a:solidFill>
                <a:latin typeface="Calibri" pitchFamily="34" charset="0"/>
                <a:ea typeface="Calibri" pitchFamily="34" charset="-122"/>
                <a:cs typeface="Calibri" pitchFamily="34" charset="-120"/>
              </a:rPr>
              <a:t>Result: </a:t>
            </a:r>
            <a:r>
              <a:rPr lang="en-US" sz="1800" dirty="0">
                <a:solidFill>
                  <a:srgbClr val="FFFFFF"/>
                </a:solidFill>
                <a:latin typeface="Calibri" pitchFamily="34" charset="0"/>
                <a:ea typeface="Calibri" pitchFamily="34" charset="-122"/>
                <a:cs typeface="Calibri" pitchFamily="34" charset="-120"/>
              </a:rPr>
              <a:t>Steel prices in the U.S. went up ~20% in 2018</a:t>
            </a:r>
            <a:endParaRPr lang="en-US" sz="1800" dirty="0"/>
          </a:p>
          <a:p>
            <a:pPr marL="0" indent="0">
              <a:buNone/>
            </a:pPr>
            <a:endParaRPr lang="en-US" sz="1800" dirty="0"/>
          </a:p>
          <a:p>
            <a:pPr marL="0" indent="0">
              <a:buNone/>
            </a:pPr>
            <a:r>
              <a:rPr lang="en-US" sz="1800" b="1" dirty="0">
                <a:solidFill>
                  <a:srgbClr val="7CFC00"/>
                </a:solidFill>
                <a:latin typeface="Calibri" pitchFamily="34" charset="0"/>
                <a:ea typeface="Calibri" pitchFamily="34" charset="-122"/>
                <a:cs typeface="Calibri" pitchFamily="34" charset="-120"/>
              </a:rPr>
              <a:t>But... </a:t>
            </a:r>
            <a:r>
              <a:rPr lang="en-US" sz="1800" dirty="0">
                <a:solidFill>
                  <a:srgbClr val="FFFFFF"/>
                </a:solidFill>
                <a:latin typeface="Calibri" pitchFamily="34" charset="0"/>
                <a:ea typeface="Calibri" pitchFamily="34" charset="-122"/>
                <a:cs typeface="Calibri" pitchFamily="34" charset="-120"/>
              </a:rPr>
              <a:t>Steel is an INPUT for other industries</a:t>
            </a:r>
            <a:endParaRPr lang="en-US" sz="1800" dirty="0"/>
          </a:p>
          <a:p>
            <a:pPr marL="0" indent="0">
              <a:buNone/>
            </a:pPr>
            <a:r>
              <a:rPr lang="en-US" sz="1600" i="1" dirty="0">
                <a:solidFill>
                  <a:srgbClr val="B0C4DE"/>
                </a:solidFill>
                <a:latin typeface="Calibri" pitchFamily="34" charset="0"/>
                <a:ea typeface="Calibri" pitchFamily="34" charset="-122"/>
                <a:cs typeface="Calibri" pitchFamily="34" charset="-120"/>
              </a:rPr>
              <a:t>(cars, construction, appliances, cans)</a:t>
            </a:r>
            <a:endParaRPr lang="en-US" sz="1800" dirty="0"/>
          </a:p>
          <a:p>
            <a:pPr marL="0" indent="0">
              <a:buNone/>
            </a:pPr>
            <a:endParaRPr lang="en-US" sz="1800" dirty="0"/>
          </a:p>
          <a:p>
            <a:pPr marL="0" indent="0">
              <a:buNone/>
            </a:pPr>
            <a:r>
              <a:rPr lang="en-US" sz="1800" i="1" dirty="0">
                <a:solidFill>
                  <a:srgbClr val="FFD700"/>
                </a:solidFill>
                <a:latin typeface="Calibri" pitchFamily="34" charset="0"/>
                <a:ea typeface="Calibri" pitchFamily="34" charset="-122"/>
                <a:cs typeface="Calibri" pitchFamily="34" charset="-120"/>
              </a:rPr>
              <a:t>Those industries now pay MORE for steel → higher costs → higher prices for you</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Your analysis framework</a:t>
            </a:r>
            <a:endParaRPr lang="en-US" sz="3600" dirty="0"/>
          </a:p>
        </p:txBody>
      </p:sp>
      <p:sp>
        <p:nvSpPr>
          <p:cNvPr id="4" name="Shape 2"/>
          <p:cNvSpPr/>
          <p:nvPr/>
        </p:nvSpPr>
        <p:spPr>
          <a:xfrm>
            <a:off x="640080" y="1188720"/>
            <a:ext cx="3657600" cy="548640"/>
          </a:xfrm>
          <a:prstGeom prst="rect">
            <a:avLst/>
          </a:prstGeom>
          <a:solidFill>
            <a:srgbClr val="1B4332"/>
          </a:solidFill>
          <a:ln/>
        </p:spPr>
        <p:txBody>
          <a:bodyPr/>
          <a:lstStyle/>
          <a:p>
            <a:endParaRPr lang="en-US"/>
          </a:p>
        </p:txBody>
      </p:sp>
      <p:sp>
        <p:nvSpPr>
          <p:cNvPr id="5" name="Text 3"/>
          <p:cNvSpPr/>
          <p:nvPr/>
        </p:nvSpPr>
        <p:spPr>
          <a:xfrm>
            <a:off x="640080" y="1188720"/>
            <a:ext cx="365760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COSTS of steel tariffs</a:t>
            </a:r>
            <a:endParaRPr lang="en-US" sz="1600" dirty="0"/>
          </a:p>
        </p:txBody>
      </p:sp>
      <p:sp>
        <p:nvSpPr>
          <p:cNvPr id="6" name="Shape 4"/>
          <p:cNvSpPr/>
          <p:nvPr/>
        </p:nvSpPr>
        <p:spPr>
          <a:xfrm>
            <a:off x="640080" y="1737360"/>
            <a:ext cx="3657600" cy="2377440"/>
          </a:xfrm>
          <a:prstGeom prst="rect">
            <a:avLst/>
          </a:prstGeom>
          <a:solidFill>
            <a:srgbClr val="2C3E6B"/>
          </a:solidFill>
          <a:ln/>
        </p:spPr>
        <p:txBody>
          <a:bodyPr/>
          <a:lstStyle/>
          <a:p>
            <a:endParaRPr lang="en-US"/>
          </a:p>
        </p:txBody>
      </p:sp>
      <p:sp>
        <p:nvSpPr>
          <p:cNvPr id="7" name="Text 5"/>
          <p:cNvSpPr/>
          <p:nvPr/>
        </p:nvSpPr>
        <p:spPr>
          <a:xfrm>
            <a:off x="640080" y="1737360"/>
            <a:ext cx="3657600" cy="2377440"/>
          </a:xfrm>
          <a:prstGeom prst="rect">
            <a:avLst/>
          </a:prstGeom>
          <a:noFill/>
          <a:ln/>
        </p:spPr>
        <p:txBody>
          <a:bodyPr wrap="square" rtlCol="0" anchor="ctr"/>
          <a:lstStyle/>
          <a:p>
            <a:pPr marL="0" indent="0" algn="ctr">
              <a:buNone/>
            </a:pPr>
            <a:r>
              <a:rPr lang="en-US" sz="1400" i="1" dirty="0">
                <a:solidFill>
                  <a:srgbClr val="B0C4DE"/>
                </a:solidFill>
                <a:latin typeface="Calibri" pitchFamily="34" charset="0"/>
                <a:ea typeface="Calibri" pitchFamily="34" charset="-122"/>
                <a:cs typeface="Calibri" pitchFamily="34" charset="-120"/>
              </a:rPr>
              <a:t>(fill this in with your group)</a:t>
            </a:r>
            <a:endParaRPr lang="en-US" sz="1400" dirty="0"/>
          </a:p>
        </p:txBody>
      </p:sp>
      <p:sp>
        <p:nvSpPr>
          <p:cNvPr id="8" name="Shape 6"/>
          <p:cNvSpPr/>
          <p:nvPr/>
        </p:nvSpPr>
        <p:spPr>
          <a:xfrm>
            <a:off x="4754880" y="1188720"/>
            <a:ext cx="3657600" cy="548640"/>
          </a:xfrm>
          <a:prstGeom prst="rect">
            <a:avLst/>
          </a:prstGeom>
          <a:solidFill>
            <a:srgbClr val="5B1A1A"/>
          </a:solidFill>
          <a:ln/>
        </p:spPr>
        <p:txBody>
          <a:bodyPr/>
          <a:lstStyle/>
          <a:p>
            <a:endParaRPr lang="en-US"/>
          </a:p>
        </p:txBody>
      </p:sp>
      <p:sp>
        <p:nvSpPr>
          <p:cNvPr id="9" name="Text 7"/>
          <p:cNvSpPr/>
          <p:nvPr/>
        </p:nvSpPr>
        <p:spPr>
          <a:xfrm>
            <a:off x="4754880" y="1188720"/>
            <a:ext cx="365760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BENEFITS of steel tariffs</a:t>
            </a:r>
            <a:endParaRPr lang="en-US" sz="1600" dirty="0"/>
          </a:p>
        </p:txBody>
      </p:sp>
      <p:sp>
        <p:nvSpPr>
          <p:cNvPr id="10" name="Shape 8"/>
          <p:cNvSpPr/>
          <p:nvPr/>
        </p:nvSpPr>
        <p:spPr>
          <a:xfrm>
            <a:off x="4754880" y="1737360"/>
            <a:ext cx="3657600" cy="2377440"/>
          </a:xfrm>
          <a:prstGeom prst="rect">
            <a:avLst/>
          </a:prstGeom>
          <a:solidFill>
            <a:srgbClr val="2C3E6B"/>
          </a:solidFill>
          <a:ln/>
        </p:spPr>
        <p:txBody>
          <a:bodyPr/>
          <a:lstStyle/>
          <a:p>
            <a:endParaRPr lang="en-US"/>
          </a:p>
        </p:txBody>
      </p:sp>
      <p:sp>
        <p:nvSpPr>
          <p:cNvPr id="11" name="Text 9"/>
          <p:cNvSpPr/>
          <p:nvPr/>
        </p:nvSpPr>
        <p:spPr>
          <a:xfrm>
            <a:off x="4754880" y="1737360"/>
            <a:ext cx="3657600" cy="2377440"/>
          </a:xfrm>
          <a:prstGeom prst="rect">
            <a:avLst/>
          </a:prstGeom>
          <a:noFill/>
          <a:ln/>
        </p:spPr>
        <p:txBody>
          <a:bodyPr wrap="square" rtlCol="0" anchor="ctr"/>
          <a:lstStyle/>
          <a:p>
            <a:pPr marL="0" indent="0" algn="ctr">
              <a:buNone/>
            </a:pPr>
            <a:r>
              <a:rPr lang="en-US" sz="1400" i="1" dirty="0">
                <a:solidFill>
                  <a:srgbClr val="B0C4DE"/>
                </a:solidFill>
                <a:latin typeface="Calibri" pitchFamily="34" charset="0"/>
                <a:ea typeface="Calibri" pitchFamily="34" charset="-122"/>
                <a:cs typeface="Calibri" pitchFamily="34" charset="-120"/>
              </a:rPr>
              <a:t>(fill this in with your group)</a:t>
            </a:r>
            <a:endParaRPr lang="en-US" sz="1400" dirty="0"/>
          </a:p>
        </p:txBody>
      </p:sp>
      <p:sp>
        <p:nvSpPr>
          <p:cNvPr id="12" name="Text 10"/>
          <p:cNvSpPr/>
          <p:nvPr/>
        </p:nvSpPr>
        <p:spPr>
          <a:xfrm>
            <a:off x="640080" y="4297680"/>
            <a:ext cx="7772400" cy="548640"/>
          </a:xfrm>
          <a:prstGeom prst="rect">
            <a:avLst/>
          </a:prstGeom>
          <a:noFill/>
          <a:ln/>
        </p:spPr>
        <p:txBody>
          <a:bodyPr wrap="square" rtlCol="0" anchor="ctr"/>
          <a:lstStyle/>
          <a:p>
            <a:pPr marL="0" indent="0" algn="ctr">
              <a:buNone/>
            </a:pPr>
            <a:r>
              <a:rPr lang="en-US" sz="1600" i="1" dirty="0">
                <a:solidFill>
                  <a:srgbClr val="FFD700"/>
                </a:solidFill>
                <a:latin typeface="Calibri" pitchFamily="34" charset="0"/>
                <a:ea typeface="Calibri" pitchFamily="34" charset="-122"/>
                <a:cs typeface="Calibri" pitchFamily="34" charset="-120"/>
              </a:rPr>
              <a:t>Use your handout to organize your thinking — consider: who wins, who loses, and what's the tradeoff?</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Discussion questions</a:t>
            </a:r>
            <a:endParaRPr lang="en-US" sz="3600" dirty="0"/>
          </a:p>
        </p:txBody>
      </p:sp>
      <p:sp>
        <p:nvSpPr>
          <p:cNvPr id="4" name="Text 2"/>
          <p:cNvSpPr/>
          <p:nvPr/>
        </p:nvSpPr>
        <p:spPr>
          <a:xfrm>
            <a:off x="640080" y="1188720"/>
            <a:ext cx="7772400" cy="3474720"/>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1. If tariffs protect 140,000 steel jobs but raise costs for 6.5 million workers in other industries, is it worth it?</a:t>
            </a:r>
            <a:endParaRPr lang="en-US" sz="1800" dirty="0"/>
          </a:p>
          <a:p>
            <a:pPr marL="0" indent="0">
              <a:buNone/>
            </a:pPr>
            <a:endParaRPr lang="en-US" sz="1800" dirty="0"/>
          </a:p>
          <a:p>
            <a:pPr marL="0" indent="0">
              <a:buNone/>
            </a:pPr>
            <a:r>
              <a:rPr lang="en-US" sz="1800" dirty="0">
                <a:solidFill>
                  <a:srgbClr val="FFFFFF"/>
                </a:solidFill>
                <a:latin typeface="Calibri" pitchFamily="34" charset="0"/>
                <a:ea typeface="Calibri" pitchFamily="34" charset="-122"/>
                <a:cs typeface="Calibri" pitchFamily="34" charset="-120"/>
              </a:rPr>
              <a:t>2. Should the government protect an industry even if it makes things more expensive for everyone?</a:t>
            </a:r>
            <a:endParaRPr lang="en-US" sz="1800" dirty="0"/>
          </a:p>
          <a:p>
            <a:pPr marL="0" indent="0">
              <a:buNone/>
            </a:pPr>
            <a:endParaRPr lang="en-US" sz="1800" dirty="0"/>
          </a:p>
          <a:p>
            <a:pPr marL="0" indent="0">
              <a:buNone/>
            </a:pPr>
            <a:r>
              <a:rPr lang="en-US" sz="1800" dirty="0">
                <a:solidFill>
                  <a:srgbClr val="FFFFFF"/>
                </a:solidFill>
                <a:latin typeface="Calibri" pitchFamily="34" charset="0"/>
                <a:ea typeface="Calibri" pitchFamily="34" charset="-122"/>
                <a:cs typeface="Calibri" pitchFamily="34" charset="-120"/>
              </a:rPr>
              <a:t>3. What if steel is needed for tanks and warships — does national security change the calculation?</a:t>
            </a:r>
            <a:endParaRPr lang="en-US" sz="1800" dirty="0"/>
          </a:p>
          <a:p>
            <a:pPr marL="0" indent="0">
              <a:buNone/>
            </a:pPr>
            <a:endParaRPr lang="en-US" sz="1800" dirty="0"/>
          </a:p>
          <a:p>
            <a:pPr marL="0" indent="0">
              <a:buNone/>
            </a:pPr>
            <a:r>
              <a:rPr lang="en-US" sz="1800" i="1" dirty="0">
                <a:solidFill>
                  <a:srgbClr val="FFD700"/>
                </a:solidFill>
                <a:latin typeface="Calibri" pitchFamily="34" charset="0"/>
                <a:ea typeface="Calibri" pitchFamily="34" charset="-122"/>
                <a:cs typeface="Calibri" pitchFamily="34" charset="-120"/>
              </a:rPr>
              <a:t>4. Connect to the candy game: what if I had charged a "fee" for every Round 3 trade — who would have been worse off?</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Debrief</a:t>
            </a:r>
            <a:endParaRPr lang="en-US" sz="3600" dirty="0"/>
          </a:p>
        </p:txBody>
      </p:sp>
      <p:sp>
        <p:nvSpPr>
          <p:cNvPr id="4" name="Text 2"/>
          <p:cNvSpPr/>
          <p:nvPr/>
        </p:nvSpPr>
        <p:spPr>
          <a:xfrm>
            <a:off x="640080" y="1371600"/>
            <a:ext cx="7772400" cy="22860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What economic concept was most useful in thinking through the tariff debate?</a:t>
            </a:r>
            <a:endParaRPr lang="en-US" sz="2000" dirty="0"/>
          </a:p>
          <a:p>
            <a:pPr marL="0" indent="0">
              <a:buNone/>
            </a:pP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Did anyone change their mind? What argument moved you?</a:t>
            </a:r>
            <a:endParaRPr lang="en-US" sz="2000" dirty="0"/>
          </a:p>
          <a:p>
            <a:pPr marL="0" indent="0">
              <a:buNone/>
            </a:pPr>
            <a:endParaRPr lang="en-US" sz="2000" dirty="0"/>
          </a:p>
          <a:p>
            <a:pPr marL="0" indent="0">
              <a:buNone/>
            </a:pPr>
            <a:r>
              <a:rPr lang="en-US" sz="2000" i="1" dirty="0">
                <a:solidFill>
                  <a:srgbClr val="FFD700"/>
                </a:solidFill>
                <a:latin typeface="Calibri" pitchFamily="34" charset="0"/>
                <a:ea typeface="Calibri" pitchFamily="34" charset="-122"/>
                <a:cs typeface="Calibri" pitchFamily="34" charset="-120"/>
              </a:rPr>
              <a:t>Let's revisit our opening polls...</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640080" y="274320"/>
            <a:ext cx="7772400" cy="731520"/>
          </a:xfrm>
          <a:prstGeom prst="rect">
            <a:avLst/>
          </a:prstGeom>
          <a:noFill/>
          <a:ln/>
        </p:spPr>
        <p:txBody>
          <a:bodyPr wrap="square" rtlCol="0" anchor="ctr"/>
          <a:lstStyle/>
          <a:p>
            <a:pPr marL="0" indent="0">
              <a:buNone/>
            </a:pPr>
            <a:r>
              <a:rPr lang="en-US" sz="3600" i="1" dirty="0">
                <a:solidFill>
                  <a:srgbClr val="FFFFFF"/>
                </a:solidFill>
                <a:latin typeface="Calibri" pitchFamily="34" charset="0"/>
                <a:ea typeface="Calibri" pitchFamily="34" charset="-122"/>
                <a:cs typeface="Calibri" pitchFamily="34" charset="-120"/>
              </a:rPr>
              <a:t>Key takeaways</a:t>
            </a:r>
            <a:endParaRPr lang="en-US" sz="3600" dirty="0"/>
          </a:p>
        </p:txBody>
      </p:sp>
      <p:sp>
        <p:nvSpPr>
          <p:cNvPr id="4" name="Text 2"/>
          <p:cNvSpPr/>
          <p:nvPr/>
        </p:nvSpPr>
        <p:spPr>
          <a:xfrm>
            <a:off x="640080" y="1188720"/>
            <a:ext cx="7772400" cy="3200400"/>
          </a:xfrm>
          <a:prstGeom prst="rect">
            <a:avLst/>
          </a:prstGeom>
          <a:noFill/>
          <a:ln/>
        </p:spPr>
        <p:txBody>
          <a:bodyPr wrap="square" rtlCol="0" anchor="ctr"/>
          <a:lstStyle/>
          <a:p>
            <a:pPr marL="0" indent="0">
              <a:buNone/>
            </a:pPr>
            <a:r>
              <a:rPr lang="en-US" sz="2000" b="1" dirty="0">
                <a:solidFill>
                  <a:srgbClr val="FFD700"/>
                </a:solidFill>
                <a:latin typeface="Calibri" pitchFamily="34" charset="0"/>
                <a:ea typeface="Calibri" pitchFamily="34" charset="-122"/>
                <a:cs typeface="Calibri" pitchFamily="34" charset="-120"/>
              </a:rPr>
              <a:t>1. </a:t>
            </a:r>
            <a:r>
              <a:rPr lang="en-US" sz="2000" dirty="0">
                <a:solidFill>
                  <a:srgbClr val="FFFFFF"/>
                </a:solidFill>
                <a:latin typeface="Calibri" pitchFamily="34" charset="0"/>
                <a:ea typeface="Calibri" pitchFamily="34" charset="-122"/>
                <a:cs typeface="Calibri" pitchFamily="34" charset="-120"/>
              </a:rPr>
              <a:t>Trade is voluntary exchange — both sides benefit (gains from trade)</a:t>
            </a:r>
            <a:endParaRPr lang="en-US" sz="2000" dirty="0"/>
          </a:p>
          <a:p>
            <a:pPr marL="0" indent="0">
              <a:buNone/>
            </a:pPr>
            <a:endParaRPr lang="en-US" sz="2000" dirty="0"/>
          </a:p>
          <a:p>
            <a:pPr marL="0" indent="0">
              <a:buNone/>
            </a:pPr>
            <a:r>
              <a:rPr lang="en-US" sz="2000" b="1" dirty="0">
                <a:solidFill>
                  <a:srgbClr val="FFD700"/>
                </a:solidFill>
                <a:latin typeface="Calibri" pitchFamily="34" charset="0"/>
                <a:ea typeface="Calibri" pitchFamily="34" charset="-122"/>
                <a:cs typeface="Calibri" pitchFamily="34" charset="-120"/>
              </a:rPr>
              <a:t>2. </a:t>
            </a:r>
            <a:r>
              <a:rPr lang="en-US" sz="2000" dirty="0">
                <a:solidFill>
                  <a:srgbClr val="FFFFFF"/>
                </a:solidFill>
                <a:latin typeface="Calibri" pitchFamily="34" charset="0"/>
                <a:ea typeface="Calibri" pitchFamily="34" charset="-122"/>
                <a:cs typeface="Calibri" pitchFamily="34" charset="-120"/>
              </a:rPr>
              <a:t>Imports come IN, exports go OUT — your stuff comes from all over the world</a:t>
            </a:r>
            <a:endParaRPr lang="en-US" sz="2000" dirty="0"/>
          </a:p>
          <a:p>
            <a:pPr marL="0" indent="0">
              <a:buNone/>
            </a:pPr>
            <a:endParaRPr lang="en-US" sz="2000" dirty="0"/>
          </a:p>
          <a:p>
            <a:pPr marL="0" indent="0">
              <a:buNone/>
            </a:pPr>
            <a:r>
              <a:rPr lang="en-US" sz="2000" b="1" dirty="0">
                <a:solidFill>
                  <a:srgbClr val="FFD700"/>
                </a:solidFill>
                <a:latin typeface="Calibri" pitchFamily="34" charset="0"/>
                <a:ea typeface="Calibri" pitchFamily="34" charset="-122"/>
                <a:cs typeface="Calibri" pitchFamily="34" charset="-120"/>
              </a:rPr>
              <a:t>3. </a:t>
            </a:r>
            <a:r>
              <a:rPr lang="en-US" sz="2000" dirty="0">
                <a:solidFill>
                  <a:srgbClr val="FFFFFF"/>
                </a:solidFill>
                <a:latin typeface="Calibri" pitchFamily="34" charset="0"/>
                <a:ea typeface="Calibri" pitchFamily="34" charset="-122"/>
                <a:cs typeface="Calibri" pitchFamily="34" charset="-120"/>
              </a:rPr>
              <a:t>A tariff is a tax on imports — paid by the importer (and ultimately consumers)</a:t>
            </a:r>
            <a:endParaRPr lang="en-US" sz="2000" dirty="0"/>
          </a:p>
          <a:p>
            <a:pPr marL="0" indent="0">
              <a:buNone/>
            </a:pPr>
            <a:endParaRPr lang="en-US" sz="2000" dirty="0"/>
          </a:p>
          <a:p>
            <a:pPr marL="0" indent="0">
              <a:buNone/>
            </a:pPr>
            <a:r>
              <a:rPr lang="en-US" sz="2000" b="1" dirty="0">
                <a:solidFill>
                  <a:srgbClr val="FFD700"/>
                </a:solidFill>
                <a:latin typeface="Calibri" pitchFamily="34" charset="0"/>
                <a:ea typeface="Calibri" pitchFamily="34" charset="-122"/>
                <a:cs typeface="Calibri" pitchFamily="34" charset="-120"/>
              </a:rPr>
              <a:t>4. </a:t>
            </a:r>
            <a:r>
              <a:rPr lang="en-US" sz="2000" dirty="0">
                <a:solidFill>
                  <a:srgbClr val="FFFFFF"/>
                </a:solidFill>
                <a:latin typeface="Calibri" pitchFamily="34" charset="0"/>
                <a:ea typeface="Calibri" pitchFamily="34" charset="-122"/>
                <a:cs typeface="Calibri" pitchFamily="34" charset="-120"/>
              </a:rPr>
              <a:t>Tariffs create winners and losers — evaluating them requires thinking about tradeoffs</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229600" y="3931920"/>
            <a:ext cx="1280160" cy="1645920"/>
          </a:xfrm>
          <a:prstGeom prst="ellipse">
            <a:avLst/>
          </a:prstGeom>
          <a:solidFill>
            <a:srgbClr val="2C3E6B">
              <a:alpha val="60000"/>
            </a:srgbClr>
          </a:solidFill>
          <a:ln/>
        </p:spPr>
        <p:txBody>
          <a:bodyPr/>
          <a:lstStyle/>
          <a:p>
            <a:endParaRPr lang="en-US"/>
          </a:p>
        </p:txBody>
      </p:sp>
      <p:sp>
        <p:nvSpPr>
          <p:cNvPr id="3" name="Text 1"/>
          <p:cNvSpPr/>
          <p:nvPr/>
        </p:nvSpPr>
        <p:spPr>
          <a:xfrm>
            <a:off x="1371600" y="1371600"/>
            <a:ext cx="6400800" cy="2286000"/>
          </a:xfrm>
          <a:prstGeom prst="rect">
            <a:avLst/>
          </a:prstGeom>
          <a:noFill/>
          <a:ln/>
        </p:spPr>
        <p:txBody>
          <a:bodyPr wrap="square" rtlCol="0" anchor="ctr"/>
          <a:lstStyle/>
          <a:p>
            <a:pPr marL="0" indent="0" algn="ctr">
              <a:buNone/>
            </a:pPr>
            <a:r>
              <a:rPr lang="en-US" sz="4800" i="1" dirty="0">
                <a:solidFill>
                  <a:srgbClr val="FFFFFF"/>
                </a:solidFill>
                <a:latin typeface="Calibri" pitchFamily="34" charset="0"/>
                <a:ea typeface="Calibri" pitchFamily="34" charset="-122"/>
                <a:cs typeface="Calibri" pitchFamily="34" charset="-120"/>
              </a:rPr>
              <a:t>Thank you!</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518A77E0904A4AA2385D6D5CC91772" ma:contentTypeVersion="3" ma:contentTypeDescription="Create a new document." ma:contentTypeScope="" ma:versionID="193435620c9c278ff94ac46fe0f58be8">
  <xsd:schema xmlns:xsd="http://www.w3.org/2001/XMLSchema" xmlns:xs="http://www.w3.org/2001/XMLSchema" xmlns:p="http://schemas.microsoft.com/office/2006/metadata/properties" xmlns:ns2="b6ce657c-e071-4850-bb9e-22f9b7568e9e" targetNamespace="http://schemas.microsoft.com/office/2006/metadata/properties" ma:root="true" ma:fieldsID="4cd2c8c9c91d4eba02fbb70750c064fd" ns2:_="">
    <xsd:import namespace="b6ce657c-e071-4850-bb9e-22f9b7568e9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ce657c-e071-4850-bb9e-22f9b7568e9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7C6F5A4-508E-4ECB-A4F4-2F0B8AEC86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ce657c-e071-4850-bb9e-22f9b7568e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0E06807-04C5-4EEA-BC3F-08D82826DD61}">
  <ds:schemaRefs>
    <ds:schemaRef ds:uri="http://schemas.microsoft.com/sharepoint/v3/contenttype/forms"/>
  </ds:schemaRefs>
</ds:datastoreItem>
</file>

<file path=customXml/itemProps3.xml><?xml version="1.0" encoding="utf-8"?>
<ds:datastoreItem xmlns:ds="http://schemas.openxmlformats.org/officeDocument/2006/customXml" ds:itemID="{A76DFBF4-F20C-4F8D-B081-A5F046D922E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930</TotalTime>
  <Words>2620</Words>
  <Application>Microsoft Office PowerPoint</Application>
  <PresentationFormat>On-screen Show (16:9)</PresentationFormat>
  <Paragraphs>196</Paragraphs>
  <Slides>28</Slides>
  <Notes>28</Notes>
  <HiddenSlides>1</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Trade and Tariffs</dc:title>
  <dc:subject>PptxGenJS Presentation</dc:subject>
  <dc:creator>Economics Curriculum</dc:creator>
  <cp:lastModifiedBy>Croley, Anna</cp:lastModifiedBy>
  <cp:revision>42</cp:revision>
  <dcterms:created xsi:type="dcterms:W3CDTF">2026-03-19T02:07:01Z</dcterms:created>
  <dcterms:modified xsi:type="dcterms:W3CDTF">2026-04-28T19:03:51Z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0x01010014518A77E0904A4AA2385D6D5CC91772</vt:lpwstr>
  </property>
</Properties>
</file>